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e9778a4-65d8-43b5-bbd3-e82710a1c615}">
          <p14:sldIdLst>
            <p14:sldId id="256"/>
            <p14:sldId id="257"/>
          </p14:sldIdLst>
        </p14:section>
        <p14:section name="Design" id="{5b79abc7-7d42-2c3e-d608-51082dc5ad84}">
          <p14:sldIdLst>
            <p14:sldId id="258"/>
            <p14:sldId id="259"/>
            <p14:sldId id="260"/>
          </p14:sldIdLst>
        </p14:section>
        <p14:section name="Implementation" id="{a17e698a-1223-f2a5-da7b-668da18f25a9}">
          <p14:sldIdLst>
            <p14:sldId id="261"/>
            <p14:sldId id="262"/>
            <p14:sldId id="263"/>
            <p14:sldId id="264"/>
          </p14:sldIdLst>
        </p14:section>
        <p14:section name="Demo and Review" id="{874c3eb2-3329-33c5-c397-1c8148727280}">
          <p14:sldIdLst>
            <p14:sldId id="265"/>
            <p14:sldId id="266"/>
          </p14:sldIdLst>
        </p14:section>
        <p14:section name="Close" id="{c8aa415f-3989-07b2-902f-f608273525ef}">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and the team. The Cyber-Forensic Integrity Suite is a C++ console application that checks whether digital evidence has been altered, using a checksum. It is also designed to showcase core object-oriented programming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Digital evidence is only useful if it can be proven unaltered. The project models this: fingerprint each artifact with a checksum, keep a trusted baseline, and compare later. The result is an immediate SECURE or CRITICAL verdict plus an audit dossier. The code has 3 classes, 5 menu operations and applies 8 OOP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prints the header, reads the evidence name with getline (an empty entry defaults to system_audit.log), and creates the baseline Artifact. It then loops over the investigation terminal menu until option 5 is selected. Non-numeric input also ends the loop. Each menu option exercises a different OOP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classes and one friend function. ForensicsEngine is an abstract interface with a pure virtual executeScan(). LiveLogAnalyzer inherits from it and contains an Artifact by composition. Artifact stores the filename and checksum privately and grants friend access to generateAuditTrail().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Artifact represents one piece of digital evidence. Its data is private: filename, checksum, and a static totalScanned counter. The constructor stores the name, computes the checksum, increments the counter and prints an ingest message. Public functions provide read-only access, equality comparison and statistics.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computeChecksum() adds the ASCII code of every character in the name, multiplies the sum by 7 and adds 31. Example: log.txt gives 720, then 5040, then 5071. It is deterministic, so a baseline can be compared later. It is also order-insensitive, which is a limitation discussed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menu option 1, main() creates a LiveLogAnalyzer but stores it in a ForensicsEngine pointer. The call to executeScan() is resolved at run time through the virtual table. The virtual destructor ensures delete engine destroys the derived object properly. executeScan() compares the live artifact's checksum with the baseline hash and prints a green or red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features that connect the classes. Operator overloading lets menu option 2 compare two Artifacts with ==. The friend function generateAuditTrail() reads the private filename and checksum; a forward declaration of Artifact at the top of the file makes this possible. The static counter totalScanned is shared by all Artifact objects and is incremented in the constructor.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table for the viva. Encapsulation: private data with const getters. Abstraction: ForensicsEngine. Inheritance: LiveLogAnalyzer derives from ForensicsEngine. Polymorphism: virtual executeScan via a base pointer. Composition: LiveLogAnalyzer owns an Artifact. Operator overloading: operator==. Friend function: generateAuditTrail. Static member: totalScanned. Also used: constructor initializer list, const member functions, new/delete, forward declaration.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run of the compiled program. Baseline: firewall_log.txt (checksum 11714). Scanning the same name gives SECURE. Scanning firewall_log.bak (checksum 11364) gives CRITICAL. The operator comparison matches, the dossier shows the baseline, and the counter reads 4: baseline + 2 scans + 1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honest about scope helps in the viva. The checksum is computed from the filename string, not file contents, and a sum of ASCII codes is order-insensitive, so anagram names collide. The dossier labels it Crypto Hash, but it is not cryptographic. Scans use cin &gt;&gt; so names with spaces are not supported. Future scope: real file hashing (for example SHA-256), writing dossiers to a log file, more scanner classes, and smart pointers instead of raw new/delete.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suite verifies integrity using a baseline checksum and a live comparison, it demonstrates eight OOP concepts in one coherent design, it is extensible through the abstract ForensicsEngine interface, and the natural next step is real file hashing with persistent 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invite questions. Be ready to explain: why the destructor in ForensicsEngine is virtual, how the friend function accesses private data, why totalScanned counts temporary artifacts, and the limits of the checksum.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5760720" cy="2011680"/>
          </a:xfrm>
          <a:prstGeom prst="rect">
            <a:avLst/>
          </a:prstGeom>
          <a:noFill/>
          <a:ln/>
        </p:spPr>
        <p:txBody>
          <a:bodyPr wrap="square" rtlCol="0"/>
          <a:lstStyle>
            <a:lvl1pPr algn="l" indent="0" marL="0">
              <a:buNone/>
              <a:defRPr lang="en-US" sz="5200" b="1" dirty="0">
                <a:solidFill>
                  <a:schemeClr val="bg1"/>
                </a:solidFill>
              </a:defRPr>
            </a:lvl1pPr>
          </a:lstStyle>
          <a:p>
            <a:pPr algn="l" indent="0" marL="0">
              <a:buNone/>
            </a:pPr>
            <a:endParaRPr lang="en-US" sz="5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548640" y="6419088"/>
            <a:ext cx="5486400" cy="256032"/>
          </a:xfrm>
          <a:prstGeom prst="rect">
            <a:avLst/>
          </a:prstGeom>
          <a:noFill/>
          <a:ln/>
        </p:spPr>
        <p:txBody>
          <a:bodyPr wrap="square" lIns="0" tIns="0" rIns="0" bIns="0" rtlCol="0" anchor="ctr"/>
          <a:lstStyle/>
          <a:p>
            <a:pPr indent="0" marL="0">
              <a:buNone/>
            </a:pPr>
            <a:r>
              <a:rPr lang="en-US" sz="1000" dirty="0">
                <a:solidFill>
                  <a:schemeClr val="accent5"/>
                </a:solidFill>
              </a:rPr>
              <a:t>Cyber-Forensic Integrity Suite  ·  C++ OOP Project</a:t>
            </a:r>
            <a:endParaRPr lang="en-US" sz="1000" dirty="0"/>
          </a:p>
        </p:txBody>
      </p:sp>
      <p:sp>
        <p:nvSpPr>
          <p:cNvPr id="3" name="Text 1"/>
          <p:cNvSpPr/>
          <p:nvPr>
            <p:ph idx="101" type="title" hasCustomPrompt="1"/>
          </p:nvPr>
        </p:nvSpPr>
        <p:spPr>
          <a:xfrm>
            <a:off x="548640" y="603504"/>
            <a:ext cx="11091672" cy="68580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0881360" y="6419088"/>
            <a:ext cx="75895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548640" y="6419088"/>
            <a:ext cx="5486400" cy="256032"/>
          </a:xfrm>
          <a:prstGeom prst="rect">
            <a:avLst/>
          </a:prstGeom>
          <a:noFill/>
          <a:ln/>
        </p:spPr>
        <p:txBody>
          <a:bodyPr wrap="square" lIns="0" tIns="0" rIns="0" bIns="0" rtlCol="0" anchor="ctr"/>
          <a:lstStyle/>
          <a:p>
            <a:pPr indent="0" marL="0">
              <a:buNone/>
            </a:pPr>
            <a:r>
              <a:rPr lang="en-US" sz="1000" dirty="0">
                <a:solidFill>
                  <a:schemeClr val="accent6"/>
                </a:solidFill>
              </a:rPr>
              <a:t>Cyber-Forensic Integrity Suite  ·  C++ OOP Project</a:t>
            </a:r>
            <a:endParaRPr lang="en-US" sz="1000" dirty="0"/>
          </a:p>
        </p:txBody>
      </p:sp>
      <p:sp>
        <p:nvSpPr>
          <p:cNvPr id="3" name="Text 1"/>
          <p:cNvSpPr/>
          <p:nvPr>
            <p:ph idx="101" type="title" hasCustomPrompt="1"/>
          </p:nvPr>
        </p:nvSpPr>
        <p:spPr>
          <a:xfrm>
            <a:off x="548640" y="603504"/>
            <a:ext cx="11091672" cy="68580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0881360" y="6419088"/>
            <a:ext cx="75895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11091672" cy="1280160"/>
          </a:xfrm>
          <a:prstGeom prst="rect">
            <a:avLst/>
          </a:prstGeom>
          <a:noFill/>
          <a:ln/>
        </p:spPr>
        <p:txBody>
          <a:bodyPr wrap="square" rtlCol="0"/>
          <a:lstStyle>
            <a:lvl1pPr algn="ctr" indent="0" marL="0">
              <a:buNone/>
              <a:defRPr lang="en-US" sz="6400" b="1" dirty="0">
                <a:solidFill>
                  <a:schemeClr val="bg1"/>
                </a:solidFill>
              </a:defRPr>
            </a:lvl1pPr>
          </a:lstStyle>
          <a:p>
            <a:pPr algn="ctr" indent="0" marL="0">
              <a:buNone/>
            </a:pPr>
            <a:endParaRPr lang="en-US" sz="6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419088"/>
            <a:ext cx="75895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3.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3.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5760720" cy="2011680"/>
          </a:xfrm>
          <a:prstGeom prst="rect">
            <a:avLst/>
          </a:prstGeom>
          <a:noFill/>
          <a:ln/>
        </p:spPr>
        <p:txBody>
          <a:bodyPr wrap="square" lIns="0" tIns="0" rIns="0" bIns="0" rtlCol="0" anchor="t"/>
          <a:lstStyle/>
          <a:p>
            <a:pPr algn="l" indent="0" marL="0">
              <a:buNone/>
            </a:pPr>
            <a:r>
              <a:rPr lang="en-US" sz="5200" b="1" dirty="0">
                <a:solidFill>
                  <a:schemeClr val="bg1"/>
                </a:solidFill>
              </a:rPr>
              <a:t>Cyber-Forensic</a:t>
            </a:r>
            <a:endParaRPr lang="en-US" sz="5200" dirty="0"/>
          </a:p>
          <a:p>
            <a:pPr algn="l" indent="0" marL="0">
              <a:buNone/>
            </a:pPr>
            <a:r>
              <a:rPr lang="en-US" sz="5200" b="1" dirty="0">
                <a:solidFill>
                  <a:schemeClr val="bg1"/>
                </a:solidFill>
              </a:rPr>
              <a:t>Integrity Suite</a:t>
            </a:r>
            <a:endParaRPr lang="en-US" sz="5200" dirty="0"/>
          </a:p>
        </p:txBody>
      </p:sp>
      <p:sp>
        <p:nvSpPr>
          <p:cNvPr id="3" name="Text 1"/>
          <p:cNvSpPr txBox="1"/>
          <p:nvPr/>
        </p:nvSpPr>
        <p:spPr>
          <a:xfrm>
            <a:off x="640080" y="914400"/>
            <a:ext cx="5852160" cy="274320"/>
          </a:xfrm>
          <a:prstGeom prst="rect">
            <a:avLst/>
          </a:prstGeom>
          <a:noFill/>
          <a:ln/>
        </p:spPr>
        <p:txBody>
          <a:bodyPr wrap="square" lIns="0" tIns="0" rIns="0" bIns="0" rtlCol="0" anchor="t"/>
          <a:lstStyle/>
          <a:p>
            <a:pPr indent="0" marL="0">
              <a:buNone/>
            </a:pPr>
            <a:r>
              <a:rPr lang="en-US" sz="1300" b="1" spc="300" kern="0" dirty="0">
                <a:solidFill>
                  <a:schemeClr val="accent1"/>
                </a:solidFill>
              </a:rPr>
              <a:t>OBJECT-ORIENTED PROGRAMMING PROJECT  ·  C++</a:t>
            </a:r>
            <a:endParaRPr lang="en-US" sz="1300" dirty="0"/>
          </a:p>
        </p:txBody>
      </p:sp>
      <p:sp>
        <p:nvSpPr>
          <p:cNvPr id="4" name="Text 2"/>
          <p:cNvSpPr txBox="1"/>
          <p:nvPr/>
        </p:nvSpPr>
        <p:spPr>
          <a:xfrm>
            <a:off x="640080" y="3520440"/>
            <a:ext cx="5577840" cy="1097280"/>
          </a:xfrm>
          <a:prstGeom prst="rect">
            <a:avLst/>
          </a:prstGeom>
          <a:noFill/>
          <a:ln/>
        </p:spPr>
        <p:txBody>
          <a:bodyPr wrap="square" lIns="0" tIns="0" rIns="0" bIns="0" rtlCol="0" anchor="t"/>
          <a:lstStyle/>
          <a:p>
            <a:pPr indent="0" marL="0">
              <a:buNone/>
            </a:pPr>
            <a:r>
              <a:rPr lang="en-US" sz="2000" dirty="0">
                <a:solidFill>
                  <a:schemeClr val="accent6"/>
                </a:solidFill>
              </a:rPr>
              <a:t>A console application that verifies digital evidence integrity with checksums, built on core object-oriented principles.</a:t>
            </a:r>
            <a:endParaRPr lang="en-US" sz="2000" dirty="0"/>
          </a:p>
        </p:txBody>
      </p:sp>
      <p:sp>
        <p:nvSpPr>
          <p:cNvPr id="5" name="Terminal window"/>
          <p:cNvSpPr/>
          <p:nvPr/>
        </p:nvSpPr>
        <p:spPr>
          <a:xfrm>
            <a:off x="6903720" y="1005840"/>
            <a:ext cx="4736592" cy="2834640"/>
          </a:xfrm>
          <a:prstGeom prst="roundRect">
            <a:avLst>
              <a:gd name="adj" fmla="val 4516"/>
            </a:avLst>
          </a:prstGeom>
          <a:solidFill>
            <a:schemeClr val="tx2"/>
          </a:solidFill>
          <a:ln/>
        </p:spPr>
      </p:sp>
      <p:sp>
        <p:nvSpPr>
          <p:cNvPr id="6" name="Window dot"/>
          <p:cNvSpPr/>
          <p:nvPr/>
        </p:nvSpPr>
        <p:spPr>
          <a:xfrm>
            <a:off x="7132320" y="1207008"/>
            <a:ext cx="128016" cy="128016"/>
          </a:xfrm>
          <a:prstGeom prst="ellipse">
            <a:avLst/>
          </a:prstGeom>
          <a:solidFill>
            <a:schemeClr val="accent3"/>
          </a:solidFill>
          <a:ln/>
        </p:spPr>
      </p:sp>
      <p:sp>
        <p:nvSpPr>
          <p:cNvPr id="7" name="Window dot"/>
          <p:cNvSpPr/>
          <p:nvPr/>
        </p:nvSpPr>
        <p:spPr>
          <a:xfrm>
            <a:off x="7360920" y="1207008"/>
            <a:ext cx="128016" cy="128016"/>
          </a:xfrm>
          <a:prstGeom prst="ellipse">
            <a:avLst/>
          </a:prstGeom>
          <a:solidFill>
            <a:schemeClr val="accent2"/>
          </a:solidFill>
          <a:ln/>
        </p:spPr>
      </p:sp>
      <p:sp>
        <p:nvSpPr>
          <p:cNvPr id="8" name="Window dot"/>
          <p:cNvSpPr/>
          <p:nvPr/>
        </p:nvSpPr>
        <p:spPr>
          <a:xfrm>
            <a:off x="7589520" y="1207008"/>
            <a:ext cx="128016" cy="128016"/>
          </a:xfrm>
          <a:prstGeom prst="ellipse">
            <a:avLst/>
          </a:prstGeom>
          <a:solidFill>
            <a:schemeClr val="accent4"/>
          </a:solidFill>
          <a:ln/>
        </p:spPr>
      </p:sp>
      <p:sp>
        <p:nvSpPr>
          <p:cNvPr id="9" name="Text 7"/>
          <p:cNvSpPr txBox="1"/>
          <p:nvPr/>
        </p:nvSpPr>
        <p:spPr>
          <a:xfrm>
            <a:off x="7909560" y="1152144"/>
            <a:ext cx="3547872" cy="237744"/>
          </a:xfrm>
          <a:prstGeom prst="rect">
            <a:avLst/>
          </a:prstGeom>
          <a:noFill/>
          <a:ln/>
        </p:spPr>
        <p:txBody>
          <a:bodyPr wrap="square" lIns="0" tIns="0" rIns="0" bIns="0" rtlCol="0" anchor="t"/>
          <a:lstStyle/>
          <a:p>
            <a:pPr indent="0" marL="0">
              <a:buNone/>
            </a:pPr>
            <a:r>
              <a:rPr lang="en-US" sz="1100" dirty="0">
                <a:solidFill>
                  <a:schemeClr val="accent6"/>
                </a:solidFill>
                <a:latin typeface="Courier New" pitchFamily="34" charset="0"/>
                <a:ea typeface="Courier New" pitchFamily="34" charset="-122"/>
                <a:cs typeface="Courier New" pitchFamily="34" charset="-120"/>
              </a:rPr>
              <a:t>forensic_suite</a:t>
            </a:r>
            <a:endParaRPr lang="en-US" sz="1100" dirty="0"/>
          </a:p>
        </p:txBody>
      </p:sp>
      <p:sp>
        <p:nvSpPr>
          <p:cNvPr id="10" name="Text 8"/>
          <p:cNvSpPr txBox="1"/>
          <p:nvPr/>
        </p:nvSpPr>
        <p:spPr>
          <a:xfrm>
            <a:off x="7178040" y="1600200"/>
            <a:ext cx="4279392" cy="2103120"/>
          </a:xfrm>
          <a:prstGeom prst="rect">
            <a:avLst/>
          </a:prstGeom>
          <a:noFill/>
          <a:ln/>
        </p:spPr>
        <p:txBody>
          <a:bodyPr wrap="square" lIns="0" tIns="0" rIns="0" bIns="0" rtlCol="0" anchor="t"/>
          <a:lstStyle/>
          <a:p>
            <a:pPr indent="0" marL="0">
              <a:buNone/>
            </a:pPr>
            <a:r>
              <a:rPr lang="en-US" sz="1200" dirty="0">
                <a:solidFill>
                  <a:schemeClr val="accent1"/>
                </a:solidFill>
                <a:latin typeface="Courier New" pitchFamily="34" charset="0"/>
                <a:ea typeface="Courier New" pitchFamily="34" charset="-122"/>
                <a:cs typeface="Courier New" pitchFamily="34" charset="-120"/>
              </a:rPr>
              <a:t>Select option: 3</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chemeClr val="accent6"/>
                </a:solidFill>
                <a:latin typeface="Courier New" pitchFamily="34" charset="0"/>
                <a:ea typeface="Courier New" pitchFamily="34" charset="-122"/>
                <a:cs typeface="Courier New" pitchFamily="34" charset="-120"/>
              </a:rPr>
              <a:t>==========================================</a:t>
            </a:r>
            <a:endParaRPr lang="en-US" sz="1200" dirty="0"/>
          </a:p>
          <a:p>
            <a:pPr indent="0" marL="0">
              <a:buNone/>
            </a:pPr>
            <a:r>
              <a:rPr lang="en-US" sz="1200" b="1" dirty="0">
                <a:solidFill>
                  <a:schemeClr val="bg1"/>
                </a:solidFill>
                <a:latin typeface="Courier New" pitchFamily="34" charset="0"/>
                <a:ea typeface="Courier New" pitchFamily="34" charset="-122"/>
                <a:cs typeface="Courier New" pitchFamily="34" charset="-120"/>
              </a:rPr>
              <a:t>          FORENSIC AUDIT DOSSIER          </a:t>
            </a:r>
            <a:endParaRPr lang="en-US" sz="1200" dirty="0"/>
          </a:p>
          <a:p>
            <a:pPr indent="0" marL="0">
              <a:buNone/>
            </a:pPr>
            <a:r>
              <a:rPr lang="en-US" sz="1200" dirty="0">
                <a:solidFill>
                  <a:schemeClr val="accent6"/>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Target Asset : firewall_log.txt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Crypto Hash  : [ 11714 ]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Clearance    : Verified via Privileged Friend</a:t>
            </a:r>
            <a:endParaRPr lang="en-US" sz="1200" dirty="0"/>
          </a:p>
          <a:p>
            <a:pPr indent="0" marL="0">
              <a:buNone/>
            </a:pPr>
            <a:r>
              <a:rPr lang="en-US" sz="1200" dirty="0">
                <a:solidFill>
                  <a:schemeClr val="accent6"/>
                </a:solidFill>
                <a:latin typeface="Courier New" pitchFamily="34" charset="0"/>
                <a:ea typeface="Courier New" pitchFamily="34" charset="-122"/>
                <a:cs typeface="Courier New" pitchFamily="34" charset="-120"/>
              </a:rPr>
              <a:t>==========================================</a:t>
            </a:r>
            <a:endParaRPr lang="en-US" sz="1200" dirty="0"/>
          </a:p>
        </p:txBody>
      </p:sp>
      <p:sp>
        <p:nvSpPr>
          <p:cNvPr id="11" name="Text 9"/>
          <p:cNvSpPr txBox="1"/>
          <p:nvPr/>
        </p:nvSpPr>
        <p:spPr>
          <a:xfrm>
            <a:off x="640080" y="4892040"/>
            <a:ext cx="27432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TEAM</a:t>
            </a:r>
            <a:endParaRPr lang="en-US" sz="1200" dirty="0"/>
          </a:p>
        </p:txBody>
      </p:sp>
      <p:sp>
        <p:nvSpPr>
          <p:cNvPr id="12" name="Team card Pranav Sahoo"/>
          <p:cNvSpPr/>
          <p:nvPr/>
        </p:nvSpPr>
        <p:spPr>
          <a:xfrm>
            <a:off x="640080" y="5257800"/>
            <a:ext cx="2606040" cy="960120"/>
          </a:xfrm>
          <a:prstGeom prst="roundRect">
            <a:avLst>
              <a:gd name="adj" fmla="val 11429"/>
            </a:avLst>
          </a:prstGeom>
          <a:solidFill>
            <a:schemeClr val="tx2"/>
          </a:solidFill>
          <a:ln/>
        </p:spPr>
      </p:sp>
      <p:sp>
        <p:nvSpPr>
          <p:cNvPr id="13" name="Text 11"/>
          <p:cNvSpPr txBox="1"/>
          <p:nvPr/>
        </p:nvSpPr>
        <p:spPr>
          <a:xfrm>
            <a:off x="868680" y="5440680"/>
            <a:ext cx="2194560" cy="274320"/>
          </a:xfrm>
          <a:prstGeom prst="rect">
            <a:avLst/>
          </a:prstGeom>
          <a:noFill/>
          <a:ln/>
        </p:spPr>
        <p:txBody>
          <a:bodyPr wrap="square" lIns="0" tIns="0" rIns="0" bIns="0" rtlCol="0" anchor="t"/>
          <a:lstStyle/>
          <a:p>
            <a:pPr indent="0" marL="0">
              <a:buNone/>
            </a:pPr>
            <a:r>
              <a:rPr lang="en-US" sz="1800" b="1" dirty="0">
                <a:solidFill>
                  <a:schemeClr val="bg1"/>
                </a:solidFill>
              </a:rPr>
              <a:t>Pranav Sahoo</a:t>
            </a:r>
            <a:endParaRPr lang="en-US" sz="1800" dirty="0"/>
          </a:p>
        </p:txBody>
      </p:sp>
      <p:sp>
        <p:nvSpPr>
          <p:cNvPr id="14" name="Text 12"/>
          <p:cNvSpPr txBox="1"/>
          <p:nvPr/>
        </p:nvSpPr>
        <p:spPr>
          <a:xfrm>
            <a:off x="868680" y="5779008"/>
            <a:ext cx="2194560" cy="256032"/>
          </a:xfrm>
          <a:prstGeom prst="rect">
            <a:avLst/>
          </a:prstGeom>
          <a:noFill/>
          <a:ln/>
        </p:spPr>
        <p:txBody>
          <a:bodyPr wrap="square" lIns="0" tIns="0" rIns="0" bIns="0" rtlCol="0" anchor="t"/>
          <a:lstStyle/>
          <a:p>
            <a:pPr indent="0" marL="0">
              <a:buNone/>
            </a:pPr>
            <a:r>
              <a:rPr lang="en-US" sz="1400" dirty="0">
                <a:solidFill>
                  <a:schemeClr val="accent6"/>
                </a:solidFill>
              </a:rPr>
              <a:t>1262250194</a:t>
            </a:r>
            <a:endParaRPr lang="en-US" sz="1400" dirty="0"/>
          </a:p>
        </p:txBody>
      </p:sp>
      <p:sp>
        <p:nvSpPr>
          <p:cNvPr id="15" name="Team card Tanushree Bali"/>
          <p:cNvSpPr/>
          <p:nvPr/>
        </p:nvSpPr>
        <p:spPr>
          <a:xfrm>
            <a:off x="3429000" y="5257800"/>
            <a:ext cx="2606040" cy="960120"/>
          </a:xfrm>
          <a:prstGeom prst="roundRect">
            <a:avLst>
              <a:gd name="adj" fmla="val 11429"/>
            </a:avLst>
          </a:prstGeom>
          <a:solidFill>
            <a:schemeClr val="tx2"/>
          </a:solidFill>
          <a:ln/>
        </p:spPr>
      </p:sp>
      <p:sp>
        <p:nvSpPr>
          <p:cNvPr id="16" name="Text 14"/>
          <p:cNvSpPr txBox="1"/>
          <p:nvPr/>
        </p:nvSpPr>
        <p:spPr>
          <a:xfrm>
            <a:off x="3657600" y="5440680"/>
            <a:ext cx="2194560" cy="274320"/>
          </a:xfrm>
          <a:prstGeom prst="rect">
            <a:avLst/>
          </a:prstGeom>
          <a:noFill/>
          <a:ln/>
        </p:spPr>
        <p:txBody>
          <a:bodyPr wrap="square" lIns="0" tIns="0" rIns="0" bIns="0" rtlCol="0" anchor="t"/>
          <a:lstStyle/>
          <a:p>
            <a:pPr indent="0" marL="0">
              <a:buNone/>
            </a:pPr>
            <a:r>
              <a:rPr lang="en-US" sz="1800" b="1" dirty="0">
                <a:solidFill>
                  <a:schemeClr val="bg1"/>
                </a:solidFill>
              </a:rPr>
              <a:t>Tanushree Bali</a:t>
            </a:r>
            <a:endParaRPr lang="en-US" sz="1800" dirty="0"/>
          </a:p>
        </p:txBody>
      </p:sp>
      <p:sp>
        <p:nvSpPr>
          <p:cNvPr id="17" name="Text 15"/>
          <p:cNvSpPr txBox="1"/>
          <p:nvPr/>
        </p:nvSpPr>
        <p:spPr>
          <a:xfrm>
            <a:off x="3657600" y="5779008"/>
            <a:ext cx="2194560" cy="256032"/>
          </a:xfrm>
          <a:prstGeom prst="rect">
            <a:avLst/>
          </a:prstGeom>
          <a:noFill/>
          <a:ln/>
        </p:spPr>
        <p:txBody>
          <a:bodyPr wrap="square" lIns="0" tIns="0" rIns="0" bIns="0" rtlCol="0" anchor="t"/>
          <a:lstStyle/>
          <a:p>
            <a:pPr indent="0" marL="0">
              <a:buNone/>
            </a:pPr>
            <a:r>
              <a:rPr lang="en-US" sz="1400" dirty="0">
                <a:solidFill>
                  <a:schemeClr val="accent6"/>
                </a:solidFill>
              </a:rPr>
              <a:t>1262251830</a:t>
            </a:r>
            <a:endParaRPr lang="en-US" sz="1400" dirty="0"/>
          </a:p>
        </p:txBody>
      </p:sp>
      <p:sp>
        <p:nvSpPr>
          <p:cNvPr id="18" name="Team card Arun S"/>
          <p:cNvSpPr/>
          <p:nvPr/>
        </p:nvSpPr>
        <p:spPr>
          <a:xfrm>
            <a:off x="6217920" y="5257800"/>
            <a:ext cx="2606040" cy="960120"/>
          </a:xfrm>
          <a:prstGeom prst="roundRect">
            <a:avLst>
              <a:gd name="adj" fmla="val 11429"/>
            </a:avLst>
          </a:prstGeom>
          <a:solidFill>
            <a:schemeClr val="tx2"/>
          </a:solidFill>
          <a:ln/>
        </p:spPr>
      </p:sp>
      <p:sp>
        <p:nvSpPr>
          <p:cNvPr id="19" name="Text 17"/>
          <p:cNvSpPr txBox="1"/>
          <p:nvPr/>
        </p:nvSpPr>
        <p:spPr>
          <a:xfrm>
            <a:off x="6446520" y="5440680"/>
            <a:ext cx="2194560" cy="274320"/>
          </a:xfrm>
          <a:prstGeom prst="rect">
            <a:avLst/>
          </a:prstGeom>
          <a:noFill/>
          <a:ln/>
        </p:spPr>
        <p:txBody>
          <a:bodyPr wrap="square" lIns="0" tIns="0" rIns="0" bIns="0" rtlCol="0" anchor="t"/>
          <a:lstStyle/>
          <a:p>
            <a:pPr indent="0" marL="0">
              <a:buNone/>
            </a:pPr>
            <a:r>
              <a:rPr lang="en-US" sz="1800" b="1" dirty="0">
                <a:solidFill>
                  <a:schemeClr val="bg1"/>
                </a:solidFill>
              </a:rPr>
              <a:t>Arun S</a:t>
            </a:r>
            <a:endParaRPr lang="en-US" sz="1800" dirty="0"/>
          </a:p>
        </p:txBody>
      </p:sp>
      <p:sp>
        <p:nvSpPr>
          <p:cNvPr id="20" name="Text 18"/>
          <p:cNvSpPr txBox="1"/>
          <p:nvPr/>
        </p:nvSpPr>
        <p:spPr>
          <a:xfrm>
            <a:off x="6446520" y="5779008"/>
            <a:ext cx="2194560" cy="256032"/>
          </a:xfrm>
          <a:prstGeom prst="rect">
            <a:avLst/>
          </a:prstGeom>
          <a:noFill/>
          <a:ln/>
        </p:spPr>
        <p:txBody>
          <a:bodyPr wrap="square" lIns="0" tIns="0" rIns="0" bIns="0" rtlCol="0" anchor="t"/>
          <a:lstStyle/>
          <a:p>
            <a:pPr indent="0" marL="0">
              <a:buNone/>
            </a:pPr>
            <a:r>
              <a:rPr lang="en-US" sz="1400" dirty="0">
                <a:solidFill>
                  <a:schemeClr val="accent6"/>
                </a:solidFill>
              </a:rPr>
              <a:t>1262250907</a:t>
            </a:r>
            <a:endParaRPr lang="en-US" sz="1400" dirty="0"/>
          </a:p>
        </p:txBody>
      </p:sp>
      <p:sp>
        <p:nvSpPr>
          <p:cNvPr id="21" name="Team card Neel Mehta"/>
          <p:cNvSpPr/>
          <p:nvPr/>
        </p:nvSpPr>
        <p:spPr>
          <a:xfrm>
            <a:off x="9006840" y="5257800"/>
            <a:ext cx="2606040" cy="960120"/>
          </a:xfrm>
          <a:prstGeom prst="roundRect">
            <a:avLst>
              <a:gd name="adj" fmla="val 11429"/>
            </a:avLst>
          </a:prstGeom>
          <a:solidFill>
            <a:schemeClr val="tx2"/>
          </a:solidFill>
          <a:ln/>
        </p:spPr>
      </p:sp>
      <p:sp>
        <p:nvSpPr>
          <p:cNvPr id="22" name="Text 20"/>
          <p:cNvSpPr txBox="1"/>
          <p:nvPr/>
        </p:nvSpPr>
        <p:spPr>
          <a:xfrm>
            <a:off x="9235440" y="5440680"/>
            <a:ext cx="2194560" cy="274320"/>
          </a:xfrm>
          <a:prstGeom prst="rect">
            <a:avLst/>
          </a:prstGeom>
          <a:noFill/>
          <a:ln/>
        </p:spPr>
        <p:txBody>
          <a:bodyPr wrap="square" lIns="0" tIns="0" rIns="0" bIns="0" rtlCol="0" anchor="t"/>
          <a:lstStyle/>
          <a:p>
            <a:pPr indent="0" marL="0">
              <a:buNone/>
            </a:pPr>
            <a:r>
              <a:rPr lang="en-US" sz="1800" b="1" dirty="0">
                <a:solidFill>
                  <a:schemeClr val="bg1"/>
                </a:solidFill>
              </a:rPr>
              <a:t>Neel Mehta</a:t>
            </a:r>
            <a:endParaRPr lang="en-US" sz="1800" dirty="0"/>
          </a:p>
        </p:txBody>
      </p:sp>
      <p:sp>
        <p:nvSpPr>
          <p:cNvPr id="23" name="Text 21"/>
          <p:cNvSpPr txBox="1"/>
          <p:nvPr/>
        </p:nvSpPr>
        <p:spPr>
          <a:xfrm>
            <a:off x="9235440" y="5779008"/>
            <a:ext cx="2194560" cy="256032"/>
          </a:xfrm>
          <a:prstGeom prst="rect">
            <a:avLst/>
          </a:prstGeom>
          <a:noFill/>
          <a:ln/>
        </p:spPr>
        <p:txBody>
          <a:bodyPr wrap="square" lIns="0" tIns="0" rIns="0" bIns="0" rtlCol="0" anchor="t"/>
          <a:lstStyle/>
          <a:p>
            <a:pPr indent="0" marL="0">
              <a:buNone/>
            </a:pPr>
            <a:r>
              <a:rPr lang="en-US" sz="1400" dirty="0">
                <a:solidFill>
                  <a:schemeClr val="accent6"/>
                </a:solidFill>
              </a:rPr>
              <a:t>1262251697</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603504"/>
            <a:ext cx="11091672" cy="685800"/>
          </a:xfrm>
          <a:prstGeom prst="rect">
            <a:avLst/>
          </a:prstGeom>
          <a:noFill/>
          <a:ln/>
        </p:spPr>
        <p:txBody>
          <a:bodyPr wrap="square" lIns="0" tIns="0" rIns="0" bIns="0" rtlCol="0" anchor="ctr"/>
          <a:lstStyle/>
          <a:p>
            <a:pPr algn="l" indent="0" marL="0">
              <a:buNone/>
            </a:pPr>
            <a:r>
              <a:rPr lang="en-US" sz="3400" b="1" dirty="0">
                <a:solidFill>
                  <a:schemeClr val="tx1"/>
                </a:solidFill>
              </a:rPr>
              <a:t>Why Evidence Integrity Matters</a:t>
            </a:r>
            <a:endParaRPr lang="en-US" sz="3400" dirty="0"/>
          </a:p>
        </p:txBody>
      </p:sp>
      <p:sp>
        <p:nvSpPr>
          <p:cNvPr id="3" name="Text 1"/>
          <p:cNvSpPr txBox="1"/>
          <p:nvPr/>
        </p:nvSpPr>
        <p:spPr>
          <a:xfrm>
            <a:off x="548640" y="329184"/>
            <a:ext cx="7315200" cy="237744"/>
          </a:xfrm>
          <a:prstGeom prst="rect">
            <a:avLst/>
          </a:prstGeom>
          <a:noFill/>
          <a:ln/>
        </p:spPr>
        <p:txBody>
          <a:bodyPr wrap="square" lIns="0" tIns="0" rIns="0" bIns="0" rtlCol="0" anchor="t"/>
          <a:lstStyle/>
          <a:p>
            <a:pPr indent="0" marL="0">
              <a:buNone/>
            </a:pPr>
            <a:r>
              <a:rPr lang="en-US" sz="1200" b="1" spc="300" kern="0" dirty="0">
                <a:solidFill>
                  <a:schemeClr val="accent5"/>
                </a:solidFill>
              </a:rPr>
              <a:t>INTRODUCTION</a:t>
            </a:r>
            <a:endParaRPr lang="en-US" sz="1200" dirty="0"/>
          </a:p>
        </p:txBody>
      </p:sp>
      <p:sp>
        <p:nvSpPr>
          <p:cNvPr id="5" name="THE PROBLEM card"/>
          <p:cNvSpPr/>
          <p:nvPr/>
        </p:nvSpPr>
        <p:spPr>
          <a:xfrm>
            <a:off x="548640" y="1691640"/>
            <a:ext cx="7040880" cy="1325880"/>
          </a:xfrm>
          <a:prstGeom prst="roundRect">
            <a:avLst>
              <a:gd name="adj" fmla="val 8276"/>
            </a:avLst>
          </a:prstGeom>
          <a:solidFill>
            <a:schemeClr val="bg1"/>
          </a:solidFill>
          <a:ln/>
          <a:effectLst>
            <a:outerShdw sx="100000" sy="100000" kx="0" ky="0" algn="bl" rotWithShape="0" blurRad="127000" dist="25400" dir="5400000">
              <a:srgbClr val="0B1320">
                <a:alpha val="10000"/>
              </a:srgbClr>
            </a:outerShdw>
          </a:effectLst>
        </p:spPr>
      </p:sp>
      <p:sp>
        <p:nvSpPr>
          <p:cNvPr id="6" name="THE PROBLEM badge"/>
          <p:cNvSpPr/>
          <p:nvPr/>
        </p:nvSpPr>
        <p:spPr>
          <a:xfrm>
            <a:off x="822960" y="1965960"/>
            <a:ext cx="777240" cy="777240"/>
          </a:xfrm>
          <a:prstGeom prst="ellipse">
            <a:avLst/>
          </a:prstGeom>
          <a:solidFill>
            <a:schemeClr val="tx1"/>
          </a:solidFill>
          <a:ln/>
        </p:spPr>
      </p:sp>
      <p:pic>
        <p:nvPicPr>
          <p:cNvPr id="7" name="THE PROBLEM icon" descr="THE PROBLEM">    </p:cNvPr>
          <p:cNvPicPr>
            <a:picLocks noChangeAspect="1"/>
          </p:cNvPicPr>
          <p:nvPr/>
        </p:nvPicPr>
        <p:blipFill>
          <a:blip r:embed="rId1"/>
          <a:stretch>
            <a:fillRect/>
          </a:stretch>
        </p:blipFill>
        <p:spPr>
          <a:xfrm>
            <a:off x="1017270" y="2160270"/>
            <a:ext cx="388620" cy="388620"/>
          </a:xfrm>
          <a:prstGeom prst="rect">
            <a:avLst/>
          </a:prstGeom>
        </p:spPr>
      </p:pic>
      <p:sp>
        <p:nvSpPr>
          <p:cNvPr id="8" name="Text 4"/>
          <p:cNvSpPr txBox="1"/>
          <p:nvPr/>
        </p:nvSpPr>
        <p:spPr>
          <a:xfrm>
            <a:off x="1920240" y="1965960"/>
            <a:ext cx="5394960" cy="228600"/>
          </a:xfrm>
          <a:prstGeom prst="rect">
            <a:avLst/>
          </a:prstGeom>
          <a:noFill/>
          <a:ln/>
        </p:spPr>
        <p:txBody>
          <a:bodyPr wrap="square" lIns="0" tIns="0" rIns="0" bIns="0" rtlCol="0" anchor="t"/>
          <a:lstStyle/>
          <a:p>
            <a:pPr indent="0" marL="0">
              <a:buNone/>
            </a:pPr>
            <a:r>
              <a:rPr lang="en-US" sz="1200" b="1" spc="200" kern="0" dirty="0">
                <a:solidFill>
                  <a:schemeClr val="accent5"/>
                </a:solidFill>
              </a:rPr>
              <a:t>THE PROBLEM</a:t>
            </a:r>
            <a:endParaRPr lang="en-US" sz="1200" dirty="0"/>
          </a:p>
        </p:txBody>
      </p:sp>
      <p:sp>
        <p:nvSpPr>
          <p:cNvPr id="9" name="Text 5"/>
          <p:cNvSpPr txBox="1"/>
          <p:nvPr/>
        </p:nvSpPr>
        <p:spPr>
          <a:xfrm>
            <a:off x="1920240" y="2258568"/>
            <a:ext cx="5394960" cy="640080"/>
          </a:xfrm>
          <a:prstGeom prst="rect">
            <a:avLst/>
          </a:prstGeom>
          <a:noFill/>
          <a:ln/>
        </p:spPr>
        <p:txBody>
          <a:bodyPr wrap="square" lIns="0" tIns="0" rIns="0" bIns="0" rtlCol="0" anchor="t"/>
          <a:lstStyle/>
          <a:p>
            <a:pPr indent="0" marL="0">
              <a:buNone/>
            </a:pPr>
            <a:r>
              <a:rPr lang="en-US" sz="1700" dirty="0">
                <a:solidFill>
                  <a:schemeClr val="tx1"/>
                </a:solidFill>
              </a:rPr>
              <a:t>Evidence files can be altered, swapped or corrupted without any visible sign.</a:t>
            </a:r>
            <a:endParaRPr lang="en-US" sz="1700" dirty="0"/>
          </a:p>
        </p:txBody>
      </p:sp>
      <p:sp>
        <p:nvSpPr>
          <p:cNvPr id="10" name="THE APPROACH card"/>
          <p:cNvSpPr/>
          <p:nvPr/>
        </p:nvSpPr>
        <p:spPr>
          <a:xfrm>
            <a:off x="548640" y="3246120"/>
            <a:ext cx="7040880" cy="1325880"/>
          </a:xfrm>
          <a:prstGeom prst="roundRect">
            <a:avLst>
              <a:gd name="adj" fmla="val 8276"/>
            </a:avLst>
          </a:prstGeom>
          <a:solidFill>
            <a:schemeClr val="bg1"/>
          </a:solidFill>
          <a:ln/>
          <a:effectLst>
            <a:outerShdw sx="100000" sy="100000" kx="0" ky="0" algn="bl" rotWithShape="0" blurRad="127000" dist="25400" dir="5400000">
              <a:srgbClr val="0B1320">
                <a:alpha val="10000"/>
              </a:srgbClr>
            </a:outerShdw>
          </a:effectLst>
        </p:spPr>
      </p:sp>
      <p:sp>
        <p:nvSpPr>
          <p:cNvPr id="11" name="THE APPROACH badge"/>
          <p:cNvSpPr/>
          <p:nvPr/>
        </p:nvSpPr>
        <p:spPr>
          <a:xfrm>
            <a:off x="822960" y="3520440"/>
            <a:ext cx="777240" cy="777240"/>
          </a:xfrm>
          <a:prstGeom prst="ellipse">
            <a:avLst/>
          </a:prstGeom>
          <a:solidFill>
            <a:schemeClr val="tx1"/>
          </a:solidFill>
          <a:ln/>
        </p:spPr>
      </p:sp>
      <p:pic>
        <p:nvPicPr>
          <p:cNvPr id="12" name="THE APPROACH icon" descr="THE APPROACH">    </p:cNvPr>
          <p:cNvPicPr>
            <a:picLocks noChangeAspect="1"/>
          </p:cNvPicPr>
          <p:nvPr/>
        </p:nvPicPr>
        <p:blipFill>
          <a:blip r:embed="rId2"/>
          <a:stretch>
            <a:fillRect/>
          </a:stretch>
        </p:blipFill>
        <p:spPr>
          <a:xfrm>
            <a:off x="1017270" y="3714750"/>
            <a:ext cx="388620" cy="388620"/>
          </a:xfrm>
          <a:prstGeom prst="rect">
            <a:avLst/>
          </a:prstGeom>
        </p:spPr>
      </p:pic>
      <p:sp>
        <p:nvSpPr>
          <p:cNvPr id="13" name="Text 8"/>
          <p:cNvSpPr txBox="1"/>
          <p:nvPr/>
        </p:nvSpPr>
        <p:spPr>
          <a:xfrm>
            <a:off x="1920240" y="3520440"/>
            <a:ext cx="5394960" cy="228600"/>
          </a:xfrm>
          <a:prstGeom prst="rect">
            <a:avLst/>
          </a:prstGeom>
          <a:noFill/>
          <a:ln/>
        </p:spPr>
        <p:txBody>
          <a:bodyPr wrap="square" lIns="0" tIns="0" rIns="0" bIns="0" rtlCol="0" anchor="t"/>
          <a:lstStyle/>
          <a:p>
            <a:pPr indent="0" marL="0">
              <a:buNone/>
            </a:pPr>
            <a:r>
              <a:rPr lang="en-US" sz="1200" b="1" spc="200" kern="0" dirty="0">
                <a:solidFill>
                  <a:schemeClr val="accent5"/>
                </a:solidFill>
              </a:rPr>
              <a:t>THE APPROACH</a:t>
            </a:r>
            <a:endParaRPr lang="en-US" sz="1200" dirty="0"/>
          </a:p>
        </p:txBody>
      </p:sp>
      <p:sp>
        <p:nvSpPr>
          <p:cNvPr id="14" name="Text 9"/>
          <p:cNvSpPr txBox="1"/>
          <p:nvPr/>
        </p:nvSpPr>
        <p:spPr>
          <a:xfrm>
            <a:off x="1920240" y="3813048"/>
            <a:ext cx="5394960" cy="640080"/>
          </a:xfrm>
          <a:prstGeom prst="rect">
            <a:avLst/>
          </a:prstGeom>
          <a:noFill/>
          <a:ln/>
        </p:spPr>
        <p:txBody>
          <a:bodyPr wrap="square" lIns="0" tIns="0" rIns="0" bIns="0" rtlCol="0" anchor="t"/>
          <a:lstStyle/>
          <a:p>
            <a:pPr indent="0" marL="0">
              <a:buNone/>
            </a:pPr>
            <a:r>
              <a:rPr lang="en-US" sz="1700" dirty="0">
                <a:solidFill>
                  <a:schemeClr val="tx1"/>
                </a:solidFill>
              </a:rPr>
              <a:t>Fingerprint every artifact with a checksum, then compare it with a trusted baseline.</a:t>
            </a:r>
            <a:endParaRPr lang="en-US" sz="1700" dirty="0"/>
          </a:p>
        </p:txBody>
      </p:sp>
      <p:sp>
        <p:nvSpPr>
          <p:cNvPr id="15" name="THE OUTCOME card"/>
          <p:cNvSpPr/>
          <p:nvPr/>
        </p:nvSpPr>
        <p:spPr>
          <a:xfrm>
            <a:off x="548640" y="4800600"/>
            <a:ext cx="7040880" cy="1325880"/>
          </a:xfrm>
          <a:prstGeom prst="roundRect">
            <a:avLst>
              <a:gd name="adj" fmla="val 8276"/>
            </a:avLst>
          </a:prstGeom>
          <a:solidFill>
            <a:schemeClr val="bg1"/>
          </a:solidFill>
          <a:ln/>
          <a:effectLst>
            <a:outerShdw sx="100000" sy="100000" kx="0" ky="0" algn="bl" rotWithShape="0" blurRad="127000" dist="25400" dir="5400000">
              <a:srgbClr val="0B1320">
                <a:alpha val="10000"/>
              </a:srgbClr>
            </a:outerShdw>
          </a:effectLst>
        </p:spPr>
      </p:sp>
      <p:sp>
        <p:nvSpPr>
          <p:cNvPr id="16" name="THE OUTCOME badge"/>
          <p:cNvSpPr/>
          <p:nvPr/>
        </p:nvSpPr>
        <p:spPr>
          <a:xfrm>
            <a:off x="822960" y="5074920"/>
            <a:ext cx="777240" cy="777240"/>
          </a:xfrm>
          <a:prstGeom prst="ellipse">
            <a:avLst/>
          </a:prstGeom>
          <a:solidFill>
            <a:schemeClr val="tx1"/>
          </a:solidFill>
          <a:ln/>
        </p:spPr>
      </p:sp>
      <p:pic>
        <p:nvPicPr>
          <p:cNvPr id="17" name="THE OUTCOME icon" descr="THE OUTCOME">    </p:cNvPr>
          <p:cNvPicPr>
            <a:picLocks noChangeAspect="1"/>
          </p:cNvPicPr>
          <p:nvPr/>
        </p:nvPicPr>
        <p:blipFill>
          <a:blip r:embed="rId3"/>
          <a:stretch>
            <a:fillRect/>
          </a:stretch>
        </p:blipFill>
        <p:spPr>
          <a:xfrm>
            <a:off x="1017270" y="5269230"/>
            <a:ext cx="388620" cy="388620"/>
          </a:xfrm>
          <a:prstGeom prst="rect">
            <a:avLst/>
          </a:prstGeom>
        </p:spPr>
      </p:pic>
      <p:sp>
        <p:nvSpPr>
          <p:cNvPr id="18" name="Text 12"/>
          <p:cNvSpPr txBox="1"/>
          <p:nvPr/>
        </p:nvSpPr>
        <p:spPr>
          <a:xfrm>
            <a:off x="1920240" y="5074920"/>
            <a:ext cx="5394960" cy="228600"/>
          </a:xfrm>
          <a:prstGeom prst="rect">
            <a:avLst/>
          </a:prstGeom>
          <a:noFill/>
          <a:ln/>
        </p:spPr>
        <p:txBody>
          <a:bodyPr wrap="square" lIns="0" tIns="0" rIns="0" bIns="0" rtlCol="0" anchor="t"/>
          <a:lstStyle/>
          <a:p>
            <a:pPr indent="0" marL="0">
              <a:buNone/>
            </a:pPr>
            <a:r>
              <a:rPr lang="en-US" sz="1200" b="1" spc="200" kern="0" dirty="0">
                <a:solidFill>
                  <a:schemeClr val="accent5"/>
                </a:solidFill>
              </a:rPr>
              <a:t>THE OUTCOME</a:t>
            </a:r>
            <a:endParaRPr lang="en-US" sz="1200" dirty="0"/>
          </a:p>
        </p:txBody>
      </p:sp>
      <p:sp>
        <p:nvSpPr>
          <p:cNvPr id="19" name="Text 13"/>
          <p:cNvSpPr txBox="1"/>
          <p:nvPr/>
        </p:nvSpPr>
        <p:spPr>
          <a:xfrm>
            <a:off x="1920240" y="5367528"/>
            <a:ext cx="5394960" cy="640080"/>
          </a:xfrm>
          <a:prstGeom prst="rect">
            <a:avLst/>
          </a:prstGeom>
          <a:noFill/>
          <a:ln/>
        </p:spPr>
        <p:txBody>
          <a:bodyPr wrap="square" lIns="0" tIns="0" rIns="0" bIns="0" rtlCol="0" anchor="t"/>
          <a:lstStyle/>
          <a:p>
            <a:pPr indent="0" marL="0">
              <a:buNone/>
            </a:pPr>
            <a:r>
              <a:rPr lang="en-US" sz="1700" dirty="0">
                <a:solidFill>
                  <a:schemeClr val="tx1"/>
                </a:solidFill>
              </a:rPr>
              <a:t>An instant SECURE or CRITICAL verdict, plus a forensic audit dossier.</a:t>
            </a:r>
            <a:endParaRPr lang="en-US" sz="1700" dirty="0"/>
          </a:p>
        </p:txBody>
      </p:sp>
      <p:sp>
        <p:nvSpPr>
          <p:cNvPr id="20" name="Stats panel"/>
          <p:cNvSpPr/>
          <p:nvPr/>
        </p:nvSpPr>
        <p:spPr>
          <a:xfrm>
            <a:off x="7863840" y="1691640"/>
            <a:ext cx="3776472" cy="4434840"/>
          </a:xfrm>
          <a:prstGeom prst="roundRect">
            <a:avLst>
              <a:gd name="adj" fmla="val 3390"/>
            </a:avLst>
          </a:prstGeom>
          <a:solidFill>
            <a:schemeClr val="tx1"/>
          </a:solidFill>
          <a:ln/>
        </p:spPr>
      </p:sp>
      <p:sp>
        <p:nvSpPr>
          <p:cNvPr id="21" name="Text 15"/>
          <p:cNvSpPr txBox="1"/>
          <p:nvPr/>
        </p:nvSpPr>
        <p:spPr>
          <a:xfrm>
            <a:off x="8229600" y="1874520"/>
            <a:ext cx="1188720" cy="1097280"/>
          </a:xfrm>
          <a:prstGeom prst="rect">
            <a:avLst/>
          </a:prstGeom>
          <a:noFill/>
          <a:ln/>
        </p:spPr>
        <p:txBody>
          <a:bodyPr wrap="square" lIns="0" tIns="0" rIns="0" bIns="0" rtlCol="0" anchor="ctr"/>
          <a:lstStyle/>
          <a:p>
            <a:pPr indent="0" marL="0">
              <a:buNone/>
            </a:pPr>
            <a:r>
              <a:rPr lang="en-US" sz="6000" b="1" dirty="0">
                <a:solidFill>
                  <a:schemeClr val="accent1"/>
                </a:solidFill>
                <a:latin typeface="+mj-lt" pitchFamily="34" charset="0"/>
                <a:ea typeface="+mj-lt" pitchFamily="34" charset="-122"/>
                <a:cs typeface="+mj-lt" pitchFamily="34" charset="-120"/>
              </a:rPr>
              <a:t>3</a:t>
            </a:r>
            <a:endParaRPr lang="en-US" sz="6000" dirty="0"/>
          </a:p>
        </p:txBody>
      </p:sp>
      <p:sp>
        <p:nvSpPr>
          <p:cNvPr id="22" name="Text 16"/>
          <p:cNvSpPr txBox="1"/>
          <p:nvPr/>
        </p:nvSpPr>
        <p:spPr>
          <a:xfrm>
            <a:off x="9144000" y="1874520"/>
            <a:ext cx="2286000" cy="1097280"/>
          </a:xfrm>
          <a:prstGeom prst="rect">
            <a:avLst/>
          </a:prstGeom>
          <a:noFill/>
          <a:ln/>
        </p:spPr>
        <p:txBody>
          <a:bodyPr wrap="square" lIns="0" tIns="0" rIns="0" bIns="0" rtlCol="0" anchor="ctr"/>
          <a:lstStyle/>
          <a:p>
            <a:pPr indent="0" marL="0">
              <a:buNone/>
            </a:pPr>
            <a:r>
              <a:rPr lang="en-US" sz="1800" dirty="0">
                <a:solidFill>
                  <a:schemeClr val="bg1"/>
                </a:solidFill>
              </a:rPr>
              <a:t>Classes</a:t>
            </a:r>
            <a:endParaRPr lang="en-US" sz="1800" dirty="0"/>
          </a:p>
        </p:txBody>
      </p:sp>
      <p:sp>
        <p:nvSpPr>
          <p:cNvPr id="23" name="Shape 17"/>
          <p:cNvSpPr/>
          <p:nvPr/>
        </p:nvSpPr>
        <p:spPr>
          <a:xfrm>
            <a:off x="8229600" y="3136392"/>
            <a:ext cx="3063240" cy="0"/>
          </a:xfrm>
          <a:prstGeom prst="line">
            <a:avLst/>
          </a:prstGeom>
          <a:noFill/>
          <a:ln w="12700">
            <a:solidFill>
              <a:schemeClr val="tx2"/>
            </a:solidFill>
            <a:prstDash val="solid"/>
          </a:ln>
        </p:spPr>
      </p:sp>
      <p:sp>
        <p:nvSpPr>
          <p:cNvPr id="24" name="Text 18"/>
          <p:cNvSpPr txBox="1"/>
          <p:nvPr/>
        </p:nvSpPr>
        <p:spPr>
          <a:xfrm>
            <a:off x="8229600" y="3291840"/>
            <a:ext cx="1188720" cy="1097280"/>
          </a:xfrm>
          <a:prstGeom prst="rect">
            <a:avLst/>
          </a:prstGeom>
          <a:noFill/>
          <a:ln/>
        </p:spPr>
        <p:txBody>
          <a:bodyPr wrap="square" lIns="0" tIns="0" rIns="0" bIns="0" rtlCol="0" anchor="ctr"/>
          <a:lstStyle/>
          <a:p>
            <a:pPr indent="0" marL="0">
              <a:buNone/>
            </a:pPr>
            <a:r>
              <a:rPr lang="en-US" sz="6000" b="1" dirty="0">
                <a:solidFill>
                  <a:schemeClr val="accent1"/>
                </a:solidFill>
                <a:latin typeface="+mj-lt" pitchFamily="34" charset="0"/>
                <a:ea typeface="+mj-lt" pitchFamily="34" charset="-122"/>
                <a:cs typeface="+mj-lt" pitchFamily="34" charset="-120"/>
              </a:rPr>
              <a:t>5</a:t>
            </a:r>
            <a:endParaRPr lang="en-US" sz="6000" dirty="0"/>
          </a:p>
        </p:txBody>
      </p:sp>
      <p:sp>
        <p:nvSpPr>
          <p:cNvPr id="25" name="Text 19"/>
          <p:cNvSpPr txBox="1"/>
          <p:nvPr/>
        </p:nvSpPr>
        <p:spPr>
          <a:xfrm>
            <a:off x="9144000" y="3291840"/>
            <a:ext cx="2286000" cy="1097280"/>
          </a:xfrm>
          <a:prstGeom prst="rect">
            <a:avLst/>
          </a:prstGeom>
          <a:noFill/>
          <a:ln/>
        </p:spPr>
        <p:txBody>
          <a:bodyPr wrap="square" lIns="0" tIns="0" rIns="0" bIns="0" rtlCol="0" anchor="ctr"/>
          <a:lstStyle/>
          <a:p>
            <a:pPr indent="0" marL="0">
              <a:buNone/>
            </a:pPr>
            <a:r>
              <a:rPr lang="en-US" sz="1800" dirty="0">
                <a:solidFill>
                  <a:schemeClr val="bg1"/>
                </a:solidFill>
              </a:rPr>
              <a:t>Menu operations</a:t>
            </a:r>
            <a:endParaRPr lang="en-US" sz="1800" dirty="0"/>
          </a:p>
        </p:txBody>
      </p:sp>
      <p:sp>
        <p:nvSpPr>
          <p:cNvPr id="26" name="Shape 20"/>
          <p:cNvSpPr/>
          <p:nvPr/>
        </p:nvSpPr>
        <p:spPr>
          <a:xfrm>
            <a:off x="8229600" y="4553712"/>
            <a:ext cx="3063240" cy="0"/>
          </a:xfrm>
          <a:prstGeom prst="line">
            <a:avLst/>
          </a:prstGeom>
          <a:noFill/>
          <a:ln w="12700">
            <a:solidFill>
              <a:schemeClr val="tx2"/>
            </a:solidFill>
            <a:prstDash val="solid"/>
          </a:ln>
        </p:spPr>
      </p:sp>
      <p:sp>
        <p:nvSpPr>
          <p:cNvPr id="27" name="Text 21"/>
          <p:cNvSpPr txBox="1"/>
          <p:nvPr/>
        </p:nvSpPr>
        <p:spPr>
          <a:xfrm>
            <a:off x="8229600" y="4709160"/>
            <a:ext cx="1188720" cy="1097280"/>
          </a:xfrm>
          <a:prstGeom prst="rect">
            <a:avLst/>
          </a:prstGeom>
          <a:noFill/>
          <a:ln/>
        </p:spPr>
        <p:txBody>
          <a:bodyPr wrap="square" lIns="0" tIns="0" rIns="0" bIns="0" rtlCol="0" anchor="ctr"/>
          <a:lstStyle/>
          <a:p>
            <a:pPr indent="0" marL="0">
              <a:buNone/>
            </a:pPr>
            <a:r>
              <a:rPr lang="en-US" sz="6000" b="1" dirty="0">
                <a:solidFill>
                  <a:schemeClr val="accent1"/>
                </a:solidFill>
                <a:latin typeface="+mj-lt" pitchFamily="34" charset="0"/>
                <a:ea typeface="+mj-lt" pitchFamily="34" charset="-122"/>
                <a:cs typeface="+mj-lt" pitchFamily="34" charset="-120"/>
              </a:rPr>
              <a:t>8</a:t>
            </a:r>
            <a:endParaRPr lang="en-US" sz="6000" dirty="0"/>
          </a:p>
        </p:txBody>
      </p:sp>
      <p:sp>
        <p:nvSpPr>
          <p:cNvPr id="28" name="Text 22"/>
          <p:cNvSpPr txBox="1"/>
          <p:nvPr/>
        </p:nvSpPr>
        <p:spPr>
          <a:xfrm>
            <a:off x="9144000" y="4709160"/>
            <a:ext cx="2286000" cy="1097280"/>
          </a:xfrm>
          <a:prstGeom prst="rect">
            <a:avLst/>
          </a:prstGeom>
          <a:noFill/>
          <a:ln/>
        </p:spPr>
        <p:txBody>
          <a:bodyPr wrap="square" lIns="0" tIns="0" rIns="0" bIns="0" rtlCol="0" anchor="ctr"/>
          <a:lstStyle/>
          <a:p>
            <a:pPr indent="0" marL="0">
              <a:buNone/>
            </a:pPr>
            <a:r>
              <a:rPr lang="en-US" sz="1800" dirty="0">
                <a:solidFill>
                  <a:schemeClr val="bg1"/>
                </a:solidFill>
              </a:rPr>
              <a:t>OOP concepts applied</a:t>
            </a:r>
            <a:endParaRPr lang="en-US" sz="1800" dirty="0"/>
          </a:p>
        </p:txBody>
      </p:sp>
      <p:sp>
        <p:nvSpPr>
          <p:cNvPr id="25" name="Slide Number Placeholder 0"/>
          <p:cNvSpPr>
            <a:spLocks noGrp="1"/>
          </p:cNvSpPr>
          <p:nvPr>
            <p:ph type="sldNum" sz="quarter" idx="4294967295"/>
          </p:nvPr>
        </p:nvSpPr>
        <p:spPr>
          <a:xfrm>
            <a:off x="10881360" y="6419088"/>
            <a:ext cx="75895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603504"/>
            <a:ext cx="11091672" cy="685800"/>
          </a:xfrm>
          <a:prstGeom prst="rect">
            <a:avLst/>
          </a:prstGeom>
          <a:noFill/>
          <a:ln/>
        </p:spPr>
        <p:txBody>
          <a:bodyPr wrap="square" lIns="0" tIns="0" rIns="0" bIns="0" rtlCol="0" anchor="ctr"/>
          <a:lstStyle/>
          <a:p>
            <a:pPr algn="l" indent="0" marL="0">
              <a:buNone/>
            </a:pPr>
            <a:r>
              <a:rPr lang="en-US" sz="3400" b="1" dirty="0">
                <a:solidFill>
                  <a:schemeClr val="tx1"/>
                </a:solidFill>
              </a:rPr>
              <a:t>How the Program Works</a:t>
            </a:r>
            <a:endParaRPr lang="en-US" sz="3400" dirty="0"/>
          </a:p>
        </p:txBody>
      </p:sp>
      <p:sp>
        <p:nvSpPr>
          <p:cNvPr id="3" name="Text 1"/>
          <p:cNvSpPr txBox="1"/>
          <p:nvPr/>
        </p:nvSpPr>
        <p:spPr>
          <a:xfrm>
            <a:off x="548640" y="329184"/>
            <a:ext cx="7315200" cy="237744"/>
          </a:xfrm>
          <a:prstGeom prst="rect">
            <a:avLst/>
          </a:prstGeom>
          <a:noFill/>
          <a:ln/>
        </p:spPr>
        <p:txBody>
          <a:bodyPr wrap="square" lIns="0" tIns="0" rIns="0" bIns="0" rtlCol="0" anchor="t"/>
          <a:lstStyle/>
          <a:p>
            <a:pPr indent="0" marL="0">
              <a:buNone/>
            </a:pPr>
            <a:r>
              <a:rPr lang="en-US" sz="1200" b="1" spc="300" kern="0" dirty="0">
                <a:solidFill>
                  <a:schemeClr val="accent5"/>
                </a:solidFill>
              </a:rPr>
              <a:t>WORKFLOW</a:t>
            </a:r>
            <a:endParaRPr lang="en-US" sz="1200" dirty="0"/>
          </a:p>
        </p:txBody>
      </p:sp>
      <p:sp>
        <p:nvSpPr>
          <p:cNvPr id="5" name="Step 1"/>
          <p:cNvSpPr/>
          <p:nvPr/>
        </p:nvSpPr>
        <p:spPr>
          <a:xfrm>
            <a:off x="548640" y="1691640"/>
            <a:ext cx="3291840" cy="1325880"/>
          </a:xfrm>
          <a:prstGeom prst="roundRect">
            <a:avLst>
              <a:gd name="adj" fmla="val 8276"/>
            </a:avLst>
          </a:prstGeom>
          <a:solidFill>
            <a:schemeClr val="bg1"/>
          </a:solidFill>
          <a:ln/>
          <a:effectLst>
            <a:outerShdw sx="100000" sy="100000" kx="0" ky="0" algn="bl" rotWithShape="0" blurRad="127000" dist="25400" dir="5400000">
              <a:srgbClr val="0B1320">
                <a:alpha val="10000"/>
              </a:srgbClr>
            </a:outerShdw>
          </a:effectLst>
        </p:spPr>
      </p:sp>
      <p:sp>
        <p:nvSpPr>
          <p:cNvPr id="6" name="Text 3"/>
          <p:cNvSpPr txBox="1"/>
          <p:nvPr/>
        </p:nvSpPr>
        <p:spPr>
          <a:xfrm>
            <a:off x="777240" y="1847088"/>
            <a:ext cx="2834640" cy="201168"/>
          </a:xfrm>
          <a:prstGeom prst="rect">
            <a:avLst/>
          </a:prstGeom>
          <a:noFill/>
          <a:ln/>
        </p:spPr>
        <p:txBody>
          <a:bodyPr wrap="square" lIns="0" tIns="0" rIns="0" bIns="0" rtlCol="0" anchor="t"/>
          <a:lstStyle/>
          <a:p>
            <a:pPr indent="0" marL="0">
              <a:buNone/>
            </a:pPr>
            <a:r>
              <a:rPr lang="en-US" sz="1200" b="1" spc="200" kern="0" dirty="0">
                <a:solidFill>
                  <a:schemeClr val="accent5"/>
                </a:solidFill>
              </a:rPr>
              <a:t>START</a:t>
            </a:r>
            <a:endParaRPr lang="en-US" sz="1200" dirty="0"/>
          </a:p>
        </p:txBody>
      </p:sp>
      <p:sp>
        <p:nvSpPr>
          <p:cNvPr id="7" name="Text 4"/>
          <p:cNvSpPr txBox="1"/>
          <p:nvPr/>
        </p:nvSpPr>
        <p:spPr>
          <a:xfrm>
            <a:off x="777240" y="2084832"/>
            <a:ext cx="2834640" cy="27432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Launch the suite</a:t>
            </a:r>
            <a:endParaRPr lang="en-US" sz="1700" dirty="0"/>
          </a:p>
        </p:txBody>
      </p:sp>
      <p:sp>
        <p:nvSpPr>
          <p:cNvPr id="8" name="Text 5"/>
          <p:cNvSpPr txBox="1"/>
          <p:nvPr/>
        </p:nvSpPr>
        <p:spPr>
          <a:xfrm>
            <a:off x="777240" y="2423160"/>
            <a:ext cx="2834640" cy="502920"/>
          </a:xfrm>
          <a:prstGeom prst="rect">
            <a:avLst/>
          </a:prstGeom>
          <a:noFill/>
          <a:ln/>
        </p:spPr>
        <p:txBody>
          <a:bodyPr wrap="square" lIns="0" tIns="0" rIns="0" bIns="0" rtlCol="0" anchor="t"/>
          <a:lstStyle/>
          <a:p>
            <a:pPr indent="0" marL="0">
              <a:buNone/>
            </a:pPr>
            <a:r>
              <a:rPr lang="en-US" sz="1400" dirty="0">
                <a:solidFill>
                  <a:schemeClr val="accent5"/>
                </a:solidFill>
              </a:rPr>
              <a:t>showHeader() prints the banner</a:t>
            </a:r>
            <a:endParaRPr lang="en-US" sz="1400" dirty="0"/>
          </a:p>
        </p:txBody>
      </p:sp>
      <p:sp>
        <p:nvSpPr>
          <p:cNvPr id="9" name="Shape 6"/>
          <p:cNvSpPr/>
          <p:nvPr/>
        </p:nvSpPr>
        <p:spPr>
          <a:xfrm>
            <a:off x="3840480" y="2354580"/>
            <a:ext cx="594360" cy="0"/>
          </a:xfrm>
          <a:prstGeom prst="line">
            <a:avLst/>
          </a:prstGeom>
          <a:noFill/>
          <a:ln w="25400">
            <a:solidFill>
              <a:schemeClr val="tx1"/>
            </a:solidFill>
            <a:prstDash val="solid"/>
            <a:tailEnd type="triangle"/>
          </a:ln>
        </p:spPr>
      </p:sp>
      <p:sp>
        <p:nvSpPr>
          <p:cNvPr id="10" name="Step 2"/>
          <p:cNvSpPr/>
          <p:nvPr/>
        </p:nvSpPr>
        <p:spPr>
          <a:xfrm>
            <a:off x="4434840" y="1691640"/>
            <a:ext cx="3291840" cy="1325880"/>
          </a:xfrm>
          <a:prstGeom prst="roundRect">
            <a:avLst>
              <a:gd name="adj" fmla="val 8276"/>
            </a:avLst>
          </a:prstGeom>
          <a:solidFill>
            <a:schemeClr val="bg1"/>
          </a:solidFill>
          <a:ln/>
          <a:effectLst>
            <a:outerShdw sx="100000" sy="100000" kx="0" ky="0" algn="bl" rotWithShape="0" blurRad="127000" dist="25400" dir="5400000">
              <a:srgbClr val="0B1320">
                <a:alpha val="10000"/>
              </a:srgbClr>
            </a:outerShdw>
          </a:effectLst>
        </p:spPr>
      </p:sp>
      <p:sp>
        <p:nvSpPr>
          <p:cNvPr id="11" name="Text 8"/>
          <p:cNvSpPr txBox="1"/>
          <p:nvPr/>
        </p:nvSpPr>
        <p:spPr>
          <a:xfrm>
            <a:off x="4663440" y="1847088"/>
            <a:ext cx="2834640" cy="201168"/>
          </a:xfrm>
          <a:prstGeom prst="rect">
            <a:avLst/>
          </a:prstGeom>
          <a:noFill/>
          <a:ln/>
        </p:spPr>
        <p:txBody>
          <a:bodyPr wrap="square" lIns="0" tIns="0" rIns="0" bIns="0" rtlCol="0" anchor="t"/>
          <a:lstStyle/>
          <a:p>
            <a:pPr indent="0" marL="0">
              <a:buNone/>
            </a:pPr>
            <a:r>
              <a:rPr lang="en-US" sz="1200" b="1" spc="200" kern="0" dirty="0">
                <a:solidFill>
                  <a:schemeClr val="accent5"/>
                </a:solidFill>
              </a:rPr>
              <a:t>INPUT</a:t>
            </a:r>
            <a:endParaRPr lang="en-US" sz="1200" dirty="0"/>
          </a:p>
        </p:txBody>
      </p:sp>
      <p:sp>
        <p:nvSpPr>
          <p:cNvPr id="12" name="Text 9"/>
          <p:cNvSpPr txBox="1"/>
          <p:nvPr/>
        </p:nvSpPr>
        <p:spPr>
          <a:xfrm>
            <a:off x="4663440" y="2084832"/>
            <a:ext cx="2834640" cy="27432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Name the evidence</a:t>
            </a:r>
            <a:endParaRPr lang="en-US" sz="1700" dirty="0"/>
          </a:p>
        </p:txBody>
      </p:sp>
      <p:sp>
        <p:nvSpPr>
          <p:cNvPr id="13" name="Text 10"/>
          <p:cNvSpPr txBox="1"/>
          <p:nvPr/>
        </p:nvSpPr>
        <p:spPr>
          <a:xfrm>
            <a:off x="4663440" y="2423160"/>
            <a:ext cx="2834640" cy="502920"/>
          </a:xfrm>
          <a:prstGeom prst="rect">
            <a:avLst/>
          </a:prstGeom>
          <a:noFill/>
          <a:ln/>
        </p:spPr>
        <p:txBody>
          <a:bodyPr wrap="square" lIns="0" tIns="0" rIns="0" bIns="0" rtlCol="0" anchor="t"/>
          <a:lstStyle/>
          <a:p>
            <a:pPr indent="0" marL="0">
              <a:buNone/>
            </a:pPr>
            <a:r>
              <a:rPr lang="en-US" sz="1400" dirty="0">
                <a:solidFill>
                  <a:schemeClr val="accent5"/>
                </a:solidFill>
              </a:rPr>
              <a:t>getline(); empty input falls back to system_audit.log</a:t>
            </a:r>
            <a:endParaRPr lang="en-US" sz="1400" dirty="0"/>
          </a:p>
        </p:txBody>
      </p:sp>
      <p:sp>
        <p:nvSpPr>
          <p:cNvPr id="14" name="Shape 11"/>
          <p:cNvSpPr/>
          <p:nvPr/>
        </p:nvSpPr>
        <p:spPr>
          <a:xfrm>
            <a:off x="7726680" y="2354580"/>
            <a:ext cx="594360" cy="0"/>
          </a:xfrm>
          <a:prstGeom prst="line">
            <a:avLst/>
          </a:prstGeom>
          <a:noFill/>
          <a:ln w="25400">
            <a:solidFill>
              <a:schemeClr val="tx1"/>
            </a:solidFill>
            <a:prstDash val="solid"/>
            <a:tailEnd type="triangle"/>
          </a:ln>
        </p:spPr>
      </p:sp>
      <p:sp>
        <p:nvSpPr>
          <p:cNvPr id="15" name="Step 3"/>
          <p:cNvSpPr/>
          <p:nvPr/>
        </p:nvSpPr>
        <p:spPr>
          <a:xfrm>
            <a:off x="8321040" y="1691640"/>
            <a:ext cx="3291840" cy="1325880"/>
          </a:xfrm>
          <a:prstGeom prst="roundRect">
            <a:avLst>
              <a:gd name="adj" fmla="val 8276"/>
            </a:avLst>
          </a:prstGeom>
          <a:solidFill>
            <a:schemeClr val="bg1"/>
          </a:solidFill>
          <a:ln/>
          <a:effectLst>
            <a:outerShdw sx="100000" sy="100000" kx="0" ky="0" algn="bl" rotWithShape="0" blurRad="127000" dist="25400" dir="5400000">
              <a:srgbClr val="0B1320">
                <a:alpha val="10000"/>
              </a:srgbClr>
            </a:outerShdw>
          </a:effectLst>
        </p:spPr>
      </p:sp>
      <p:sp>
        <p:nvSpPr>
          <p:cNvPr id="16" name="Text 13"/>
          <p:cNvSpPr txBox="1"/>
          <p:nvPr/>
        </p:nvSpPr>
        <p:spPr>
          <a:xfrm>
            <a:off x="8549640" y="1847088"/>
            <a:ext cx="2834640" cy="201168"/>
          </a:xfrm>
          <a:prstGeom prst="rect">
            <a:avLst/>
          </a:prstGeom>
          <a:noFill/>
          <a:ln/>
        </p:spPr>
        <p:txBody>
          <a:bodyPr wrap="square" lIns="0" tIns="0" rIns="0" bIns="0" rtlCol="0" anchor="t"/>
          <a:lstStyle/>
          <a:p>
            <a:pPr indent="0" marL="0">
              <a:buNone/>
            </a:pPr>
            <a:r>
              <a:rPr lang="en-US" sz="1200" b="1" spc="200" kern="0" dirty="0">
                <a:solidFill>
                  <a:schemeClr val="accent5"/>
                </a:solidFill>
              </a:rPr>
              <a:t>BASELINE</a:t>
            </a:r>
            <a:endParaRPr lang="en-US" sz="1200" dirty="0"/>
          </a:p>
        </p:txBody>
      </p:sp>
      <p:sp>
        <p:nvSpPr>
          <p:cNvPr id="17" name="Text 14"/>
          <p:cNvSpPr txBox="1"/>
          <p:nvPr/>
        </p:nvSpPr>
        <p:spPr>
          <a:xfrm>
            <a:off x="8549640" y="2084832"/>
            <a:ext cx="2834640" cy="27432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Create baseline Artifact</a:t>
            </a:r>
            <a:endParaRPr lang="en-US" sz="1700" dirty="0"/>
          </a:p>
        </p:txBody>
      </p:sp>
      <p:sp>
        <p:nvSpPr>
          <p:cNvPr id="18" name="Text 15"/>
          <p:cNvSpPr txBox="1"/>
          <p:nvPr/>
        </p:nvSpPr>
        <p:spPr>
          <a:xfrm>
            <a:off x="8549640" y="2423160"/>
            <a:ext cx="2834640" cy="502920"/>
          </a:xfrm>
          <a:prstGeom prst="rect">
            <a:avLst/>
          </a:prstGeom>
          <a:noFill/>
          <a:ln/>
        </p:spPr>
        <p:txBody>
          <a:bodyPr wrap="square" lIns="0" tIns="0" rIns="0" bIns="0" rtlCol="0" anchor="t"/>
          <a:lstStyle/>
          <a:p>
            <a:pPr indent="0" marL="0">
              <a:buNone/>
            </a:pPr>
            <a:r>
              <a:rPr lang="en-US" sz="1400" dirty="0">
                <a:solidFill>
                  <a:schemeClr val="accent5"/>
                </a:solidFill>
              </a:rPr>
              <a:t>Its checksum is computed and kept for comparison</a:t>
            </a:r>
            <a:endParaRPr lang="en-US" sz="1400" dirty="0"/>
          </a:p>
        </p:txBody>
      </p:sp>
      <p:sp>
        <p:nvSpPr>
          <p:cNvPr id="19" name="Shape 16"/>
          <p:cNvSpPr/>
          <p:nvPr/>
        </p:nvSpPr>
        <p:spPr>
          <a:xfrm>
            <a:off x="9966960" y="3017520"/>
            <a:ext cx="0" cy="320040"/>
          </a:xfrm>
          <a:prstGeom prst="line">
            <a:avLst/>
          </a:prstGeom>
          <a:noFill/>
          <a:ln w="25400">
            <a:solidFill>
              <a:schemeClr val="tx1"/>
            </a:solidFill>
            <a:prstDash val="solid"/>
            <a:tailEnd type="triangle"/>
          </a:ln>
        </p:spPr>
      </p:sp>
      <p:sp>
        <p:nvSpPr>
          <p:cNvPr id="20" name="Menu loop bar"/>
          <p:cNvSpPr/>
          <p:nvPr/>
        </p:nvSpPr>
        <p:spPr>
          <a:xfrm>
            <a:off x="548640" y="3337560"/>
            <a:ext cx="11091672" cy="457200"/>
          </a:xfrm>
          <a:prstGeom prst="roundRect">
            <a:avLst>
              <a:gd name="adj" fmla="val 16000"/>
            </a:avLst>
          </a:prstGeom>
          <a:solidFill>
            <a:schemeClr val="tx1"/>
          </a:solidFill>
          <a:ln/>
        </p:spPr>
      </p:sp>
      <p:sp>
        <p:nvSpPr>
          <p:cNvPr id="21" name="Text 18"/>
          <p:cNvSpPr txBox="1"/>
          <p:nvPr/>
        </p:nvSpPr>
        <p:spPr>
          <a:xfrm>
            <a:off x="822960" y="3337560"/>
            <a:ext cx="10515600" cy="457200"/>
          </a:xfrm>
          <a:prstGeom prst="rect">
            <a:avLst/>
          </a:prstGeom>
          <a:noFill/>
          <a:ln/>
        </p:spPr>
        <p:txBody>
          <a:bodyPr wrap="square" lIns="0" tIns="0" rIns="0" bIns="0" rtlCol="0" anchor="ctr"/>
          <a:lstStyle/>
          <a:p>
            <a:pPr indent="0" marL="0">
              <a:buNone/>
            </a:pPr>
            <a:r>
              <a:rPr lang="en-US" sz="1400" b="1" spc="100" kern="0" dirty="0">
                <a:solidFill>
                  <a:schemeClr val="bg1"/>
                </a:solidFill>
              </a:rPr>
              <a:t>INVESTIGATION TERMINAL  ·  the menu loop repeats until option 5 is chosen</a:t>
            </a:r>
            <a:endParaRPr lang="en-US" sz="1400" dirty="0"/>
          </a:p>
        </p:txBody>
      </p:sp>
      <p:sp>
        <p:nvSpPr>
          <p:cNvPr id="22" name="Shape 19"/>
          <p:cNvSpPr/>
          <p:nvPr/>
        </p:nvSpPr>
        <p:spPr>
          <a:xfrm>
            <a:off x="1584655" y="3794760"/>
            <a:ext cx="0" cy="274320"/>
          </a:xfrm>
          <a:prstGeom prst="line">
            <a:avLst/>
          </a:prstGeom>
          <a:noFill/>
          <a:ln w="19050">
            <a:solidFill>
              <a:schemeClr val="tx1"/>
            </a:solidFill>
            <a:prstDash val="solid"/>
          </a:ln>
        </p:spPr>
      </p:sp>
      <p:sp>
        <p:nvSpPr>
          <p:cNvPr id="23" name="Option 1"/>
          <p:cNvSpPr/>
          <p:nvPr/>
        </p:nvSpPr>
        <p:spPr>
          <a:xfrm>
            <a:off x="548640" y="4069080"/>
            <a:ext cx="2072030" cy="2103120"/>
          </a:xfrm>
          <a:prstGeom prst="roundRect">
            <a:avLst>
              <a:gd name="adj" fmla="val 5296"/>
            </a:avLst>
          </a:prstGeom>
          <a:solidFill>
            <a:schemeClr val="bg1"/>
          </a:solidFill>
          <a:ln/>
          <a:effectLst>
            <a:outerShdw sx="100000" sy="100000" kx="0" ky="0" algn="bl" rotWithShape="0" blurRad="127000" dist="25400" dir="5400000">
              <a:srgbClr val="0B1320">
                <a:alpha val="10000"/>
              </a:srgbClr>
            </a:outerShdw>
          </a:effectLst>
        </p:spPr>
      </p:sp>
      <p:sp>
        <p:nvSpPr>
          <p:cNvPr id="24" name="Option number badge"/>
          <p:cNvSpPr/>
          <p:nvPr/>
        </p:nvSpPr>
        <p:spPr>
          <a:xfrm>
            <a:off x="731520" y="4251960"/>
            <a:ext cx="457200" cy="457200"/>
          </a:xfrm>
          <a:prstGeom prst="ellipse">
            <a:avLst/>
          </a:prstGeom>
          <a:solidFill>
            <a:schemeClr val="tx1"/>
          </a:solidFill>
          <a:ln/>
        </p:spPr>
      </p:sp>
      <p:sp>
        <p:nvSpPr>
          <p:cNvPr id="25" name="Text 22"/>
          <p:cNvSpPr txBox="1"/>
          <p:nvPr/>
        </p:nvSpPr>
        <p:spPr>
          <a:xfrm>
            <a:off x="731520" y="4251960"/>
            <a:ext cx="457200" cy="457200"/>
          </a:xfrm>
          <a:prstGeom prst="rect">
            <a:avLst/>
          </a:prstGeom>
          <a:noFill/>
          <a:ln/>
        </p:spPr>
        <p:txBody>
          <a:bodyPr wrap="square" lIns="0" tIns="0" rIns="0" bIns="0" rtlCol="0" anchor="ctr"/>
          <a:lstStyle/>
          <a:p>
            <a:pPr algn="ctr" indent="0" marL="0">
              <a:buNone/>
            </a:pPr>
            <a:r>
              <a:rPr lang="en-US" sz="1600" b="1" dirty="0">
                <a:solidFill>
                  <a:schemeClr val="accent1"/>
                </a:solidFill>
              </a:rPr>
              <a:t>1</a:t>
            </a:r>
            <a:endParaRPr lang="en-US" sz="1600" dirty="0"/>
          </a:p>
        </p:txBody>
      </p:sp>
      <p:sp>
        <p:nvSpPr>
          <p:cNvPr id="26" name="Text 23"/>
          <p:cNvSpPr txBox="1"/>
          <p:nvPr/>
        </p:nvSpPr>
        <p:spPr>
          <a:xfrm>
            <a:off x="731520" y="4846320"/>
            <a:ext cx="1751990" cy="50292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Live Integrity Scan</a:t>
            </a:r>
            <a:endParaRPr lang="en-US" sz="1600" dirty="0"/>
          </a:p>
        </p:txBody>
      </p:sp>
      <p:sp>
        <p:nvSpPr>
          <p:cNvPr id="27" name="Text 24"/>
          <p:cNvSpPr txBox="1"/>
          <p:nvPr/>
        </p:nvSpPr>
        <p:spPr>
          <a:xfrm>
            <a:off x="731520" y="5303520"/>
            <a:ext cx="1751990" cy="822960"/>
          </a:xfrm>
          <a:prstGeom prst="rect">
            <a:avLst/>
          </a:prstGeom>
          <a:noFill/>
          <a:ln/>
        </p:spPr>
        <p:txBody>
          <a:bodyPr wrap="square" lIns="0" tIns="0" rIns="0" bIns="0" rtlCol="0" anchor="t"/>
          <a:lstStyle/>
          <a:p>
            <a:pPr indent="0" marL="0">
              <a:buNone/>
            </a:pPr>
            <a:r>
              <a:rPr lang="en-US" sz="1400" dirty="0">
                <a:solidFill>
                  <a:schemeClr val="accent5"/>
                </a:solidFill>
              </a:rPr>
              <a:t>Checks a LiveLogAnalyzer against the baseline</a:t>
            </a:r>
            <a:endParaRPr lang="en-US" sz="1400" dirty="0"/>
          </a:p>
        </p:txBody>
      </p:sp>
      <p:sp>
        <p:nvSpPr>
          <p:cNvPr id="28" name="Shape 25"/>
          <p:cNvSpPr/>
          <p:nvPr/>
        </p:nvSpPr>
        <p:spPr>
          <a:xfrm>
            <a:off x="3839566" y="3794760"/>
            <a:ext cx="0" cy="274320"/>
          </a:xfrm>
          <a:prstGeom prst="line">
            <a:avLst/>
          </a:prstGeom>
          <a:noFill/>
          <a:ln w="19050">
            <a:solidFill>
              <a:schemeClr val="tx1"/>
            </a:solidFill>
            <a:prstDash val="solid"/>
          </a:ln>
        </p:spPr>
      </p:sp>
      <p:sp>
        <p:nvSpPr>
          <p:cNvPr id="29" name="Option 2"/>
          <p:cNvSpPr/>
          <p:nvPr/>
        </p:nvSpPr>
        <p:spPr>
          <a:xfrm>
            <a:off x="2803550" y="4069080"/>
            <a:ext cx="2072030" cy="2103120"/>
          </a:xfrm>
          <a:prstGeom prst="roundRect">
            <a:avLst>
              <a:gd name="adj" fmla="val 5296"/>
            </a:avLst>
          </a:prstGeom>
          <a:solidFill>
            <a:schemeClr val="bg1"/>
          </a:solidFill>
          <a:ln/>
          <a:effectLst>
            <a:outerShdw sx="100000" sy="100000" kx="0" ky="0" algn="bl" rotWithShape="0" blurRad="127000" dist="25400" dir="5400000">
              <a:srgbClr val="0B1320">
                <a:alpha val="10000"/>
              </a:srgbClr>
            </a:outerShdw>
          </a:effectLst>
        </p:spPr>
      </p:sp>
      <p:sp>
        <p:nvSpPr>
          <p:cNvPr id="30" name="Option number badge"/>
          <p:cNvSpPr/>
          <p:nvPr/>
        </p:nvSpPr>
        <p:spPr>
          <a:xfrm>
            <a:off x="2986430" y="4251960"/>
            <a:ext cx="457200" cy="457200"/>
          </a:xfrm>
          <a:prstGeom prst="ellipse">
            <a:avLst/>
          </a:prstGeom>
          <a:solidFill>
            <a:schemeClr val="tx1"/>
          </a:solidFill>
          <a:ln/>
        </p:spPr>
      </p:sp>
      <p:sp>
        <p:nvSpPr>
          <p:cNvPr id="31" name="Text 28"/>
          <p:cNvSpPr txBox="1"/>
          <p:nvPr/>
        </p:nvSpPr>
        <p:spPr>
          <a:xfrm>
            <a:off x="2986430" y="4251960"/>
            <a:ext cx="457200" cy="457200"/>
          </a:xfrm>
          <a:prstGeom prst="rect">
            <a:avLst/>
          </a:prstGeom>
          <a:noFill/>
          <a:ln/>
        </p:spPr>
        <p:txBody>
          <a:bodyPr wrap="square" lIns="0" tIns="0" rIns="0" bIns="0" rtlCol="0" anchor="ctr"/>
          <a:lstStyle/>
          <a:p>
            <a:pPr algn="ctr" indent="0" marL="0">
              <a:buNone/>
            </a:pPr>
            <a:r>
              <a:rPr lang="en-US" sz="1600" b="1" dirty="0">
                <a:solidFill>
                  <a:schemeClr val="accent1"/>
                </a:solidFill>
              </a:rPr>
              <a:t>2</a:t>
            </a:r>
            <a:endParaRPr lang="en-US" sz="1600" dirty="0"/>
          </a:p>
        </p:txBody>
      </p:sp>
      <p:sp>
        <p:nvSpPr>
          <p:cNvPr id="32" name="Text 29"/>
          <p:cNvSpPr txBox="1"/>
          <p:nvPr/>
        </p:nvSpPr>
        <p:spPr>
          <a:xfrm>
            <a:off x="2986430" y="4846320"/>
            <a:ext cx="1751990" cy="50292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Hash Compare</a:t>
            </a:r>
            <a:endParaRPr lang="en-US" sz="1600" dirty="0"/>
          </a:p>
        </p:txBody>
      </p:sp>
      <p:sp>
        <p:nvSpPr>
          <p:cNvPr id="33" name="Text 30"/>
          <p:cNvSpPr txBox="1"/>
          <p:nvPr/>
        </p:nvSpPr>
        <p:spPr>
          <a:xfrm>
            <a:off x="2986430" y="5303520"/>
            <a:ext cx="1751990" cy="822960"/>
          </a:xfrm>
          <a:prstGeom prst="rect">
            <a:avLst/>
          </a:prstGeom>
          <a:noFill/>
          <a:ln/>
        </p:spPr>
        <p:txBody>
          <a:bodyPr wrap="square" lIns="0" tIns="0" rIns="0" bIns="0" rtlCol="0" anchor="t"/>
          <a:lstStyle/>
          <a:p>
            <a:pPr indent="0" marL="0">
              <a:buNone/>
            </a:pPr>
            <a:r>
              <a:rPr lang="en-US" sz="1400" dirty="0">
                <a:solidFill>
                  <a:schemeClr val="accent5"/>
                </a:solidFill>
              </a:rPr>
              <a:t>Tests the overloaded == operator on two artifacts</a:t>
            </a:r>
            <a:endParaRPr lang="en-US" sz="1400" dirty="0"/>
          </a:p>
        </p:txBody>
      </p:sp>
      <p:sp>
        <p:nvSpPr>
          <p:cNvPr id="34" name="Shape 31"/>
          <p:cNvSpPr/>
          <p:nvPr/>
        </p:nvSpPr>
        <p:spPr>
          <a:xfrm>
            <a:off x="6094476" y="3794760"/>
            <a:ext cx="0" cy="274320"/>
          </a:xfrm>
          <a:prstGeom prst="line">
            <a:avLst/>
          </a:prstGeom>
          <a:noFill/>
          <a:ln w="19050">
            <a:solidFill>
              <a:schemeClr val="tx1"/>
            </a:solidFill>
            <a:prstDash val="solid"/>
          </a:ln>
        </p:spPr>
      </p:sp>
      <p:sp>
        <p:nvSpPr>
          <p:cNvPr id="35" name="Option 3"/>
          <p:cNvSpPr/>
          <p:nvPr/>
        </p:nvSpPr>
        <p:spPr>
          <a:xfrm>
            <a:off x="5058461" y="4069080"/>
            <a:ext cx="2072030" cy="2103120"/>
          </a:xfrm>
          <a:prstGeom prst="roundRect">
            <a:avLst>
              <a:gd name="adj" fmla="val 5296"/>
            </a:avLst>
          </a:prstGeom>
          <a:solidFill>
            <a:schemeClr val="bg1"/>
          </a:solidFill>
          <a:ln/>
          <a:effectLst>
            <a:outerShdw sx="100000" sy="100000" kx="0" ky="0" algn="bl" rotWithShape="0" blurRad="127000" dist="25400" dir="5400000">
              <a:srgbClr val="0B1320">
                <a:alpha val="10000"/>
              </a:srgbClr>
            </a:outerShdw>
          </a:effectLst>
        </p:spPr>
      </p:sp>
      <p:sp>
        <p:nvSpPr>
          <p:cNvPr id="36" name="Option number badge"/>
          <p:cNvSpPr/>
          <p:nvPr/>
        </p:nvSpPr>
        <p:spPr>
          <a:xfrm>
            <a:off x="5241341" y="4251960"/>
            <a:ext cx="457200" cy="457200"/>
          </a:xfrm>
          <a:prstGeom prst="ellipse">
            <a:avLst/>
          </a:prstGeom>
          <a:solidFill>
            <a:schemeClr val="tx1"/>
          </a:solidFill>
          <a:ln/>
        </p:spPr>
      </p:sp>
      <p:sp>
        <p:nvSpPr>
          <p:cNvPr id="37" name="Text 34"/>
          <p:cNvSpPr txBox="1"/>
          <p:nvPr/>
        </p:nvSpPr>
        <p:spPr>
          <a:xfrm>
            <a:off x="5241341" y="4251960"/>
            <a:ext cx="457200" cy="457200"/>
          </a:xfrm>
          <a:prstGeom prst="rect">
            <a:avLst/>
          </a:prstGeom>
          <a:noFill/>
          <a:ln/>
        </p:spPr>
        <p:txBody>
          <a:bodyPr wrap="square" lIns="0" tIns="0" rIns="0" bIns="0" rtlCol="0" anchor="ctr"/>
          <a:lstStyle/>
          <a:p>
            <a:pPr algn="ctr" indent="0" marL="0">
              <a:buNone/>
            </a:pPr>
            <a:r>
              <a:rPr lang="en-US" sz="1600" b="1" dirty="0">
                <a:solidFill>
                  <a:schemeClr val="accent1"/>
                </a:solidFill>
              </a:rPr>
              <a:t>3</a:t>
            </a:r>
            <a:endParaRPr lang="en-US" sz="1600" dirty="0"/>
          </a:p>
        </p:txBody>
      </p:sp>
      <p:sp>
        <p:nvSpPr>
          <p:cNvPr id="38" name="Text 35"/>
          <p:cNvSpPr txBox="1"/>
          <p:nvPr/>
        </p:nvSpPr>
        <p:spPr>
          <a:xfrm>
            <a:off x="5241341" y="4846320"/>
            <a:ext cx="1751990" cy="50292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Audit Dossier</a:t>
            </a:r>
            <a:endParaRPr lang="en-US" sz="1600" dirty="0"/>
          </a:p>
        </p:txBody>
      </p:sp>
      <p:sp>
        <p:nvSpPr>
          <p:cNvPr id="39" name="Text 36"/>
          <p:cNvSpPr txBox="1"/>
          <p:nvPr/>
        </p:nvSpPr>
        <p:spPr>
          <a:xfrm>
            <a:off x="5241341" y="5303520"/>
            <a:ext cx="1751990" cy="822960"/>
          </a:xfrm>
          <a:prstGeom prst="rect">
            <a:avLst/>
          </a:prstGeom>
          <a:noFill/>
          <a:ln/>
        </p:spPr>
        <p:txBody>
          <a:bodyPr wrap="square" lIns="0" tIns="0" rIns="0" bIns="0" rtlCol="0" anchor="t"/>
          <a:lstStyle/>
          <a:p>
            <a:pPr indent="0" marL="0">
              <a:buNone/>
            </a:pPr>
            <a:r>
              <a:rPr lang="en-US" sz="1400" dirty="0">
                <a:solidFill>
                  <a:schemeClr val="accent5"/>
                </a:solidFill>
              </a:rPr>
              <a:t>Prints the report through a friend function</a:t>
            </a:r>
            <a:endParaRPr lang="en-US" sz="1400" dirty="0"/>
          </a:p>
        </p:txBody>
      </p:sp>
      <p:sp>
        <p:nvSpPr>
          <p:cNvPr id="40" name="Shape 37"/>
          <p:cNvSpPr/>
          <p:nvPr/>
        </p:nvSpPr>
        <p:spPr>
          <a:xfrm>
            <a:off x="8349386" y="3794760"/>
            <a:ext cx="0" cy="274320"/>
          </a:xfrm>
          <a:prstGeom prst="line">
            <a:avLst/>
          </a:prstGeom>
          <a:noFill/>
          <a:ln w="19050">
            <a:solidFill>
              <a:schemeClr val="tx1"/>
            </a:solidFill>
            <a:prstDash val="solid"/>
          </a:ln>
        </p:spPr>
      </p:sp>
      <p:sp>
        <p:nvSpPr>
          <p:cNvPr id="41" name="Option 4"/>
          <p:cNvSpPr/>
          <p:nvPr/>
        </p:nvSpPr>
        <p:spPr>
          <a:xfrm>
            <a:off x="7313371" y="4069080"/>
            <a:ext cx="2072030" cy="2103120"/>
          </a:xfrm>
          <a:prstGeom prst="roundRect">
            <a:avLst>
              <a:gd name="adj" fmla="val 5296"/>
            </a:avLst>
          </a:prstGeom>
          <a:solidFill>
            <a:schemeClr val="bg1"/>
          </a:solidFill>
          <a:ln/>
          <a:effectLst>
            <a:outerShdw sx="100000" sy="100000" kx="0" ky="0" algn="bl" rotWithShape="0" blurRad="127000" dist="25400" dir="5400000">
              <a:srgbClr val="0B1320">
                <a:alpha val="10000"/>
              </a:srgbClr>
            </a:outerShdw>
          </a:effectLst>
        </p:spPr>
      </p:sp>
      <p:sp>
        <p:nvSpPr>
          <p:cNvPr id="42" name="Option number badge"/>
          <p:cNvSpPr/>
          <p:nvPr/>
        </p:nvSpPr>
        <p:spPr>
          <a:xfrm>
            <a:off x="7496251" y="4251960"/>
            <a:ext cx="457200" cy="457200"/>
          </a:xfrm>
          <a:prstGeom prst="ellipse">
            <a:avLst/>
          </a:prstGeom>
          <a:solidFill>
            <a:schemeClr val="tx1"/>
          </a:solidFill>
          <a:ln/>
        </p:spPr>
      </p:sp>
      <p:sp>
        <p:nvSpPr>
          <p:cNvPr id="43" name="Text 40"/>
          <p:cNvSpPr txBox="1"/>
          <p:nvPr/>
        </p:nvSpPr>
        <p:spPr>
          <a:xfrm>
            <a:off x="7496251" y="4251960"/>
            <a:ext cx="457200" cy="457200"/>
          </a:xfrm>
          <a:prstGeom prst="rect">
            <a:avLst/>
          </a:prstGeom>
          <a:noFill/>
          <a:ln/>
        </p:spPr>
        <p:txBody>
          <a:bodyPr wrap="square" lIns="0" tIns="0" rIns="0" bIns="0" rtlCol="0" anchor="ctr"/>
          <a:lstStyle/>
          <a:p>
            <a:pPr algn="ctr" indent="0" marL="0">
              <a:buNone/>
            </a:pPr>
            <a:r>
              <a:rPr lang="en-US" sz="1600" b="1" dirty="0">
                <a:solidFill>
                  <a:schemeClr val="accent1"/>
                </a:solidFill>
              </a:rPr>
              <a:t>4</a:t>
            </a:r>
            <a:endParaRPr lang="en-US" sz="1600" dirty="0"/>
          </a:p>
        </p:txBody>
      </p:sp>
      <p:sp>
        <p:nvSpPr>
          <p:cNvPr id="44" name="Text 41"/>
          <p:cNvSpPr txBox="1"/>
          <p:nvPr/>
        </p:nvSpPr>
        <p:spPr>
          <a:xfrm>
            <a:off x="7496251" y="4846320"/>
            <a:ext cx="1751990" cy="50292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Session Statistics</a:t>
            </a:r>
            <a:endParaRPr lang="en-US" sz="1600" dirty="0"/>
          </a:p>
        </p:txBody>
      </p:sp>
      <p:sp>
        <p:nvSpPr>
          <p:cNvPr id="45" name="Text 42"/>
          <p:cNvSpPr txBox="1"/>
          <p:nvPr/>
        </p:nvSpPr>
        <p:spPr>
          <a:xfrm>
            <a:off x="7496251" y="5303520"/>
            <a:ext cx="1751990" cy="822960"/>
          </a:xfrm>
          <a:prstGeom prst="rect">
            <a:avLst/>
          </a:prstGeom>
          <a:noFill/>
          <a:ln/>
        </p:spPr>
        <p:txBody>
          <a:bodyPr wrap="square" lIns="0" tIns="0" rIns="0" bIns="0" rtlCol="0" anchor="t"/>
          <a:lstStyle/>
          <a:p>
            <a:pPr indent="0" marL="0">
              <a:buNone/>
            </a:pPr>
            <a:r>
              <a:rPr lang="en-US" sz="1400" dirty="0">
                <a:solidFill>
                  <a:schemeClr val="accent5"/>
                </a:solidFill>
              </a:rPr>
              <a:t>Shows how many artifacts were processed</a:t>
            </a:r>
            <a:endParaRPr lang="en-US" sz="1400" dirty="0"/>
          </a:p>
        </p:txBody>
      </p:sp>
      <p:sp>
        <p:nvSpPr>
          <p:cNvPr id="46" name="Shape 43"/>
          <p:cNvSpPr/>
          <p:nvPr/>
        </p:nvSpPr>
        <p:spPr>
          <a:xfrm>
            <a:off x="10604297" y="3794760"/>
            <a:ext cx="0" cy="274320"/>
          </a:xfrm>
          <a:prstGeom prst="line">
            <a:avLst/>
          </a:prstGeom>
          <a:noFill/>
          <a:ln w="19050">
            <a:solidFill>
              <a:schemeClr val="tx1"/>
            </a:solidFill>
            <a:prstDash val="solid"/>
          </a:ln>
        </p:spPr>
      </p:sp>
      <p:sp>
        <p:nvSpPr>
          <p:cNvPr id="47" name="Option 5"/>
          <p:cNvSpPr/>
          <p:nvPr/>
        </p:nvSpPr>
        <p:spPr>
          <a:xfrm>
            <a:off x="9568282" y="4069080"/>
            <a:ext cx="2072030" cy="2103120"/>
          </a:xfrm>
          <a:prstGeom prst="roundRect">
            <a:avLst>
              <a:gd name="adj" fmla="val 5296"/>
            </a:avLst>
          </a:prstGeom>
          <a:solidFill>
            <a:schemeClr val="bg1"/>
          </a:solidFill>
          <a:ln/>
          <a:effectLst>
            <a:outerShdw sx="100000" sy="100000" kx="0" ky="0" algn="bl" rotWithShape="0" blurRad="127000" dist="25400" dir="5400000">
              <a:srgbClr val="0B1320">
                <a:alpha val="10000"/>
              </a:srgbClr>
            </a:outerShdw>
          </a:effectLst>
        </p:spPr>
      </p:sp>
      <p:sp>
        <p:nvSpPr>
          <p:cNvPr id="48" name="Option number badge"/>
          <p:cNvSpPr/>
          <p:nvPr/>
        </p:nvSpPr>
        <p:spPr>
          <a:xfrm>
            <a:off x="9751162" y="4251960"/>
            <a:ext cx="457200" cy="457200"/>
          </a:xfrm>
          <a:prstGeom prst="ellipse">
            <a:avLst/>
          </a:prstGeom>
          <a:solidFill>
            <a:schemeClr val="tx1"/>
          </a:solidFill>
          <a:ln/>
        </p:spPr>
      </p:sp>
      <p:sp>
        <p:nvSpPr>
          <p:cNvPr id="49" name="Text 46"/>
          <p:cNvSpPr txBox="1"/>
          <p:nvPr/>
        </p:nvSpPr>
        <p:spPr>
          <a:xfrm>
            <a:off x="9751162" y="4251960"/>
            <a:ext cx="457200" cy="457200"/>
          </a:xfrm>
          <a:prstGeom prst="rect">
            <a:avLst/>
          </a:prstGeom>
          <a:noFill/>
          <a:ln/>
        </p:spPr>
        <p:txBody>
          <a:bodyPr wrap="square" lIns="0" tIns="0" rIns="0" bIns="0" rtlCol="0" anchor="ctr"/>
          <a:lstStyle/>
          <a:p>
            <a:pPr algn="ctr" indent="0" marL="0">
              <a:buNone/>
            </a:pPr>
            <a:r>
              <a:rPr lang="en-US" sz="1600" b="1" dirty="0">
                <a:solidFill>
                  <a:schemeClr val="accent1"/>
                </a:solidFill>
              </a:rPr>
              <a:t>5</a:t>
            </a:r>
            <a:endParaRPr lang="en-US" sz="1600" dirty="0"/>
          </a:p>
        </p:txBody>
      </p:sp>
      <p:sp>
        <p:nvSpPr>
          <p:cNvPr id="50" name="Text 47"/>
          <p:cNvSpPr txBox="1"/>
          <p:nvPr/>
        </p:nvSpPr>
        <p:spPr>
          <a:xfrm>
            <a:off x="9751162" y="4846320"/>
            <a:ext cx="1751990" cy="50292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Terminate</a:t>
            </a:r>
            <a:endParaRPr lang="en-US" sz="1600" dirty="0"/>
          </a:p>
        </p:txBody>
      </p:sp>
      <p:sp>
        <p:nvSpPr>
          <p:cNvPr id="51" name="Text 48"/>
          <p:cNvSpPr txBox="1"/>
          <p:nvPr/>
        </p:nvSpPr>
        <p:spPr>
          <a:xfrm>
            <a:off x="9751162" y="5303520"/>
            <a:ext cx="1751990" cy="822960"/>
          </a:xfrm>
          <a:prstGeom prst="rect">
            <a:avLst/>
          </a:prstGeom>
          <a:noFill/>
          <a:ln/>
        </p:spPr>
        <p:txBody>
          <a:bodyPr wrap="square" lIns="0" tIns="0" rIns="0" bIns="0" rtlCol="0" anchor="t"/>
          <a:lstStyle/>
          <a:p>
            <a:pPr indent="0" marL="0">
              <a:buNone/>
            </a:pPr>
            <a:r>
              <a:rPr lang="en-US" sz="1400" dirty="0">
                <a:solidFill>
                  <a:schemeClr val="accent5"/>
                </a:solidFill>
              </a:rPr>
              <a:t>Exits the loop and shuts the suite down</a:t>
            </a:r>
            <a:endParaRPr lang="en-US" sz="1400" dirty="0"/>
          </a:p>
        </p:txBody>
      </p:sp>
      <p:sp>
        <p:nvSpPr>
          <p:cNvPr id="25" name="Slide Number Placeholder 0"/>
          <p:cNvSpPr>
            <a:spLocks noGrp="1"/>
          </p:cNvSpPr>
          <p:nvPr>
            <p:ph type="sldNum" sz="quarter" idx="4294967295"/>
          </p:nvPr>
        </p:nvSpPr>
        <p:spPr>
          <a:xfrm>
            <a:off x="10881360" y="6419088"/>
            <a:ext cx="75895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603504"/>
            <a:ext cx="11091672" cy="685800"/>
          </a:xfrm>
          <a:prstGeom prst="rect">
            <a:avLst/>
          </a:prstGeom>
          <a:noFill/>
          <a:ln/>
        </p:spPr>
        <p:txBody>
          <a:bodyPr wrap="square" lIns="0" tIns="0" rIns="0" bIns="0" rtlCol="0" anchor="ctr"/>
          <a:lstStyle/>
          <a:p>
            <a:pPr algn="l" indent="0" marL="0">
              <a:buNone/>
            </a:pPr>
            <a:r>
              <a:rPr lang="en-US" sz="3400" b="1" dirty="0">
                <a:solidFill>
                  <a:schemeClr val="tx1"/>
                </a:solidFill>
              </a:rPr>
              <a:t>System Architecture</a:t>
            </a:r>
            <a:endParaRPr lang="en-US" sz="3400" dirty="0"/>
          </a:p>
        </p:txBody>
      </p:sp>
      <p:sp>
        <p:nvSpPr>
          <p:cNvPr id="3" name="Text 1"/>
          <p:cNvSpPr txBox="1"/>
          <p:nvPr/>
        </p:nvSpPr>
        <p:spPr>
          <a:xfrm>
            <a:off x="548640" y="329184"/>
            <a:ext cx="7315200" cy="237744"/>
          </a:xfrm>
          <a:prstGeom prst="rect">
            <a:avLst/>
          </a:prstGeom>
          <a:noFill/>
          <a:ln/>
        </p:spPr>
        <p:txBody>
          <a:bodyPr wrap="square" lIns="0" tIns="0" rIns="0" bIns="0" rtlCol="0" anchor="t"/>
          <a:lstStyle/>
          <a:p>
            <a:pPr indent="0" marL="0">
              <a:buNone/>
            </a:pPr>
            <a:r>
              <a:rPr lang="en-US" sz="1200" b="1" spc="300" kern="0" dirty="0">
                <a:solidFill>
                  <a:schemeClr val="accent5"/>
                </a:solidFill>
              </a:rPr>
              <a:t>SYSTEM DESIGN</a:t>
            </a:r>
            <a:endParaRPr lang="en-US" sz="1200" dirty="0"/>
          </a:p>
        </p:txBody>
      </p:sp>
      <p:sp>
        <p:nvSpPr>
          <p:cNvPr id="5" name="Artifact class box"/>
          <p:cNvSpPr/>
          <p:nvPr/>
        </p:nvSpPr>
        <p:spPr>
          <a:xfrm>
            <a:off x="548640" y="1691640"/>
            <a:ext cx="4297680" cy="2971800"/>
          </a:xfrm>
          <a:prstGeom prst="rect">
            <a:avLst/>
          </a:prstGeom>
          <a:solidFill>
            <a:schemeClr val="bg1"/>
          </a:solidFill>
          <a:ln w="19050">
            <a:solidFill>
              <a:schemeClr val="tx1"/>
            </a:solidFill>
            <a:prstDash val="solid"/>
          </a:ln>
          <a:effectLst>
            <a:outerShdw sx="100000" sy="100000" kx="0" ky="0" algn="bl" rotWithShape="0" blurRad="127000" dist="25400" dir="5400000">
              <a:srgbClr val="0B1320">
                <a:alpha val="10000"/>
              </a:srgbClr>
            </a:outerShdw>
          </a:effectLst>
        </p:spPr>
      </p:sp>
      <p:sp>
        <p:nvSpPr>
          <p:cNvPr id="6" name="Artifact header"/>
          <p:cNvSpPr/>
          <p:nvPr/>
        </p:nvSpPr>
        <p:spPr>
          <a:xfrm>
            <a:off x="548640" y="1691640"/>
            <a:ext cx="4297680" cy="457200"/>
          </a:xfrm>
          <a:prstGeom prst="rect">
            <a:avLst/>
          </a:prstGeom>
          <a:solidFill>
            <a:schemeClr val="tx1"/>
          </a:solidFill>
          <a:ln/>
        </p:spPr>
      </p:sp>
      <p:sp>
        <p:nvSpPr>
          <p:cNvPr id="7" name="Text 4"/>
          <p:cNvSpPr txBox="1"/>
          <p:nvPr/>
        </p:nvSpPr>
        <p:spPr>
          <a:xfrm>
            <a:off x="548640" y="1691640"/>
            <a:ext cx="4297680" cy="457200"/>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Artifact</a:t>
            </a:r>
            <a:endParaRPr lang="en-US" sz="1400" dirty="0"/>
          </a:p>
        </p:txBody>
      </p:sp>
      <p:sp>
        <p:nvSpPr>
          <p:cNvPr id="8" name="Text 5"/>
          <p:cNvSpPr txBox="1"/>
          <p:nvPr/>
        </p:nvSpPr>
        <p:spPr>
          <a:xfrm>
            <a:off x="713232" y="2240280"/>
            <a:ext cx="4023360" cy="736092"/>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 filename : string</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checksum : int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static totalScanned : int</a:t>
            </a:r>
            <a:endParaRPr lang="en-US" sz="1200" dirty="0"/>
          </a:p>
        </p:txBody>
      </p:sp>
      <p:sp>
        <p:nvSpPr>
          <p:cNvPr id="9" name="Shape 6"/>
          <p:cNvSpPr/>
          <p:nvPr/>
        </p:nvSpPr>
        <p:spPr>
          <a:xfrm>
            <a:off x="548640" y="2976372"/>
            <a:ext cx="4297680" cy="0"/>
          </a:xfrm>
          <a:prstGeom prst="line">
            <a:avLst/>
          </a:prstGeom>
          <a:noFill/>
          <a:ln w="12700">
            <a:solidFill>
              <a:schemeClr val="tx1"/>
            </a:solidFill>
            <a:prstDash val="solid"/>
          </a:ln>
        </p:spPr>
      </p:sp>
      <p:sp>
        <p:nvSpPr>
          <p:cNvPr id="10" name="Text 7"/>
          <p:cNvSpPr txBox="1"/>
          <p:nvPr/>
        </p:nvSpPr>
        <p:spPr>
          <a:xfrm>
            <a:off x="713232" y="3067812"/>
            <a:ext cx="4023360" cy="1595628"/>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 Artifact(string name)</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~Artifact()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computeChecksum(const string&amp;) : int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getChecksum() const : int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getFilename() const : string</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operator==(const Artifact&amp;) const : bool</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static displayTotalScans() : void</a:t>
            </a:r>
            <a:endParaRPr lang="en-US" sz="1200" dirty="0"/>
          </a:p>
        </p:txBody>
      </p:sp>
      <p:sp>
        <p:nvSpPr>
          <p:cNvPr id="11" name="ForensicsEngine class box"/>
          <p:cNvSpPr/>
          <p:nvPr/>
        </p:nvSpPr>
        <p:spPr>
          <a:xfrm>
            <a:off x="6309360" y="1691640"/>
            <a:ext cx="5330952" cy="1344168"/>
          </a:xfrm>
          <a:prstGeom prst="rect">
            <a:avLst/>
          </a:prstGeom>
          <a:solidFill>
            <a:schemeClr val="bg1"/>
          </a:solidFill>
          <a:ln w="19050">
            <a:solidFill>
              <a:schemeClr val="tx1"/>
            </a:solidFill>
            <a:prstDash val="solid"/>
          </a:ln>
          <a:effectLst>
            <a:outerShdw sx="100000" sy="100000" kx="0" ky="0" algn="bl" rotWithShape="0" blurRad="127000" dist="25400" dir="5400000">
              <a:srgbClr val="0B1320">
                <a:alpha val="10000"/>
              </a:srgbClr>
            </a:outerShdw>
          </a:effectLst>
        </p:spPr>
      </p:sp>
      <p:sp>
        <p:nvSpPr>
          <p:cNvPr id="12" name="ForensicsEngine header"/>
          <p:cNvSpPr/>
          <p:nvPr/>
        </p:nvSpPr>
        <p:spPr>
          <a:xfrm>
            <a:off x="6309360" y="1691640"/>
            <a:ext cx="5330952" cy="731520"/>
          </a:xfrm>
          <a:prstGeom prst="rect">
            <a:avLst/>
          </a:prstGeom>
          <a:solidFill>
            <a:schemeClr val="tx1"/>
          </a:solidFill>
          <a:ln/>
        </p:spPr>
      </p:sp>
      <p:sp>
        <p:nvSpPr>
          <p:cNvPr id="13" name="Text 10"/>
          <p:cNvSpPr txBox="1"/>
          <p:nvPr/>
        </p:nvSpPr>
        <p:spPr>
          <a:xfrm>
            <a:off x="6309360" y="1691640"/>
            <a:ext cx="5330952" cy="731520"/>
          </a:xfrm>
          <a:prstGeom prst="rect">
            <a:avLst/>
          </a:prstGeom>
          <a:noFill/>
          <a:ln/>
        </p:spPr>
        <p:txBody>
          <a:bodyPr wrap="square" lIns="0" tIns="0" rIns="0" bIns="0" rtlCol="0" anchor="ctr"/>
          <a:lstStyle/>
          <a:p>
            <a:pPr algn="ctr" indent="0" marL="0">
              <a:buNone/>
            </a:pPr>
            <a:r>
              <a:rPr lang="en-US" sz="1200" dirty="0">
                <a:solidFill>
                  <a:schemeClr val="accent1"/>
                </a:solidFill>
              </a:rPr>
              <a:t>«abstract class»</a:t>
            </a:r>
            <a:endParaRPr lang="en-US" sz="1400" dirty="0"/>
          </a:p>
          <a:p>
            <a:pPr algn="ctr" indent="0" marL="0">
              <a:buNone/>
            </a:pPr>
            <a:r>
              <a:rPr lang="en-US" sz="2000" b="1" dirty="0">
                <a:solidFill>
                  <a:schemeClr val="bg1"/>
                </a:solidFill>
                <a:latin typeface="+mj-lt" pitchFamily="34" charset="0"/>
                <a:ea typeface="+mj-lt" pitchFamily="34" charset="-122"/>
                <a:cs typeface="+mj-lt" pitchFamily="34" charset="-120"/>
              </a:rPr>
              <a:t>ForensicsEngine</a:t>
            </a:r>
            <a:endParaRPr lang="en-US" sz="1400" dirty="0"/>
          </a:p>
        </p:txBody>
      </p:sp>
      <p:sp>
        <p:nvSpPr>
          <p:cNvPr id="14" name="Text 11"/>
          <p:cNvSpPr txBox="1"/>
          <p:nvPr/>
        </p:nvSpPr>
        <p:spPr>
          <a:xfrm>
            <a:off x="6473952" y="2514600"/>
            <a:ext cx="5056632" cy="521208"/>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 virtual executeScan() = 0</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virtual ~ForensicsEngine()</a:t>
            </a:r>
            <a:endParaRPr lang="en-US" sz="1200" dirty="0"/>
          </a:p>
        </p:txBody>
      </p:sp>
      <p:sp>
        <p:nvSpPr>
          <p:cNvPr id="15" name="LiveLogAnalyzer class box"/>
          <p:cNvSpPr/>
          <p:nvPr/>
        </p:nvSpPr>
        <p:spPr>
          <a:xfrm>
            <a:off x="6309360" y="3840480"/>
            <a:ext cx="5330952" cy="1682496"/>
          </a:xfrm>
          <a:prstGeom prst="rect">
            <a:avLst/>
          </a:prstGeom>
          <a:solidFill>
            <a:schemeClr val="bg1"/>
          </a:solidFill>
          <a:ln w="19050">
            <a:solidFill>
              <a:schemeClr val="tx1"/>
            </a:solidFill>
            <a:prstDash val="solid"/>
          </a:ln>
          <a:effectLst>
            <a:outerShdw sx="100000" sy="100000" kx="0" ky="0" algn="bl" rotWithShape="0" blurRad="127000" dist="25400" dir="5400000">
              <a:srgbClr val="0B1320">
                <a:alpha val="10000"/>
              </a:srgbClr>
            </a:outerShdw>
          </a:effectLst>
        </p:spPr>
      </p:sp>
      <p:sp>
        <p:nvSpPr>
          <p:cNvPr id="16" name="LiveLogAnalyzer header"/>
          <p:cNvSpPr/>
          <p:nvPr/>
        </p:nvSpPr>
        <p:spPr>
          <a:xfrm>
            <a:off x="6309360" y="3840480"/>
            <a:ext cx="5330952" cy="457200"/>
          </a:xfrm>
          <a:prstGeom prst="rect">
            <a:avLst/>
          </a:prstGeom>
          <a:solidFill>
            <a:schemeClr val="tx1"/>
          </a:solidFill>
          <a:ln/>
        </p:spPr>
      </p:sp>
      <p:sp>
        <p:nvSpPr>
          <p:cNvPr id="17" name="Text 14"/>
          <p:cNvSpPr txBox="1"/>
          <p:nvPr/>
        </p:nvSpPr>
        <p:spPr>
          <a:xfrm>
            <a:off x="6309360" y="3840480"/>
            <a:ext cx="5330952" cy="457200"/>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LiveLogAnalyzer</a:t>
            </a:r>
            <a:endParaRPr lang="en-US" sz="1400" dirty="0"/>
          </a:p>
        </p:txBody>
      </p:sp>
      <p:sp>
        <p:nvSpPr>
          <p:cNvPr id="18" name="Text 15"/>
          <p:cNvSpPr txBox="1"/>
          <p:nvPr/>
        </p:nvSpPr>
        <p:spPr>
          <a:xfrm>
            <a:off x="6473952" y="4389120"/>
            <a:ext cx="5056632" cy="521208"/>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 targetEvidence : Artifact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baselineHash : int</a:t>
            </a:r>
            <a:endParaRPr lang="en-US" sz="1200" dirty="0"/>
          </a:p>
        </p:txBody>
      </p:sp>
      <p:sp>
        <p:nvSpPr>
          <p:cNvPr id="19" name="Shape 16"/>
          <p:cNvSpPr/>
          <p:nvPr/>
        </p:nvSpPr>
        <p:spPr>
          <a:xfrm>
            <a:off x="6309360" y="4910328"/>
            <a:ext cx="5330952" cy="0"/>
          </a:xfrm>
          <a:prstGeom prst="line">
            <a:avLst/>
          </a:prstGeom>
          <a:noFill/>
          <a:ln w="12700">
            <a:solidFill>
              <a:schemeClr val="tx1"/>
            </a:solidFill>
            <a:prstDash val="solid"/>
          </a:ln>
        </p:spPr>
      </p:sp>
      <p:sp>
        <p:nvSpPr>
          <p:cNvPr id="20" name="Text 17"/>
          <p:cNvSpPr txBox="1"/>
          <p:nvPr/>
        </p:nvSpPr>
        <p:spPr>
          <a:xfrm>
            <a:off x="6473952" y="5001768"/>
            <a:ext cx="5056632" cy="521208"/>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 LiveLogAnalyzer(string, int)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executeScan() override</a:t>
            </a:r>
            <a:endParaRPr lang="en-US" sz="1200" dirty="0"/>
          </a:p>
        </p:txBody>
      </p:sp>
      <p:sp>
        <p:nvSpPr>
          <p:cNvPr id="21" name="Shape 18"/>
          <p:cNvSpPr/>
          <p:nvPr/>
        </p:nvSpPr>
        <p:spPr>
          <a:xfrm>
            <a:off x="8974836" y="3291840"/>
            <a:ext cx="0" cy="548640"/>
          </a:xfrm>
          <a:prstGeom prst="line">
            <a:avLst/>
          </a:prstGeom>
          <a:noFill/>
          <a:ln w="19050">
            <a:solidFill>
              <a:schemeClr val="tx1"/>
            </a:solidFill>
            <a:prstDash val="solid"/>
          </a:ln>
        </p:spPr>
      </p:sp>
      <p:sp>
        <p:nvSpPr>
          <p:cNvPr id="22" name="Inheritance arrowhead"/>
          <p:cNvSpPr/>
          <p:nvPr/>
        </p:nvSpPr>
        <p:spPr>
          <a:xfrm>
            <a:off x="8819388" y="3035808"/>
            <a:ext cx="310896" cy="256032"/>
          </a:xfrm>
          <a:prstGeom prst="triangle">
            <a:avLst/>
          </a:prstGeom>
          <a:solidFill>
            <a:schemeClr val="bg1"/>
          </a:solidFill>
          <a:ln w="19050">
            <a:solidFill>
              <a:schemeClr val="tx1"/>
            </a:solidFill>
            <a:prstDash val="solid"/>
          </a:ln>
        </p:spPr>
      </p:sp>
      <p:sp>
        <p:nvSpPr>
          <p:cNvPr id="23" name="Text 20"/>
          <p:cNvSpPr txBox="1"/>
          <p:nvPr/>
        </p:nvSpPr>
        <p:spPr>
          <a:xfrm>
            <a:off x="9249156" y="3355848"/>
            <a:ext cx="2011680" cy="274320"/>
          </a:xfrm>
          <a:prstGeom prst="rect">
            <a:avLst/>
          </a:prstGeom>
          <a:noFill/>
          <a:ln/>
        </p:spPr>
        <p:txBody>
          <a:bodyPr wrap="square" lIns="0" tIns="0" rIns="0" bIns="0" rtlCol="0" anchor="t"/>
          <a:lstStyle/>
          <a:p>
            <a:pPr indent="0" marL="0">
              <a:buNone/>
            </a:pPr>
            <a:r>
              <a:rPr lang="en-US" sz="1200" dirty="0">
                <a:solidFill>
                  <a:schemeClr val="accent5"/>
                </a:solidFill>
              </a:rPr>
              <a:t>inherits (is-a)</a:t>
            </a:r>
            <a:endParaRPr lang="en-US" sz="1200" dirty="0"/>
          </a:p>
        </p:txBody>
      </p:sp>
      <p:sp>
        <p:nvSpPr>
          <p:cNvPr id="24" name="Shape 21"/>
          <p:cNvSpPr/>
          <p:nvPr/>
        </p:nvSpPr>
        <p:spPr>
          <a:xfrm>
            <a:off x="4846320" y="4480560"/>
            <a:ext cx="1188720" cy="0"/>
          </a:xfrm>
          <a:prstGeom prst="line">
            <a:avLst/>
          </a:prstGeom>
          <a:noFill/>
          <a:ln w="19050">
            <a:solidFill>
              <a:schemeClr val="tx1"/>
            </a:solidFill>
            <a:prstDash val="solid"/>
          </a:ln>
        </p:spPr>
      </p:sp>
      <p:sp>
        <p:nvSpPr>
          <p:cNvPr id="25" name="Composition diamond"/>
          <p:cNvSpPr/>
          <p:nvPr/>
        </p:nvSpPr>
        <p:spPr>
          <a:xfrm>
            <a:off x="6035040" y="4343400"/>
            <a:ext cx="274320" cy="274320"/>
          </a:xfrm>
          <a:prstGeom prst="diamond">
            <a:avLst/>
          </a:prstGeom>
          <a:solidFill>
            <a:schemeClr val="tx1"/>
          </a:solidFill>
          <a:ln/>
        </p:spPr>
      </p:sp>
      <p:sp>
        <p:nvSpPr>
          <p:cNvPr id="26" name="Text 23"/>
          <p:cNvSpPr txBox="1"/>
          <p:nvPr/>
        </p:nvSpPr>
        <p:spPr>
          <a:xfrm>
            <a:off x="4892040" y="4114800"/>
            <a:ext cx="1417320" cy="274320"/>
          </a:xfrm>
          <a:prstGeom prst="rect">
            <a:avLst/>
          </a:prstGeom>
          <a:noFill/>
          <a:ln/>
        </p:spPr>
        <p:txBody>
          <a:bodyPr wrap="square" lIns="0" tIns="0" rIns="0" bIns="0" rtlCol="0" anchor="t"/>
          <a:lstStyle/>
          <a:p>
            <a:pPr indent="0" marL="0">
              <a:buNone/>
            </a:pPr>
            <a:r>
              <a:rPr lang="en-US" sz="1200" dirty="0">
                <a:solidFill>
                  <a:schemeClr val="accent5"/>
                </a:solidFill>
              </a:rPr>
              <a:t>composition (has-a)</a:t>
            </a:r>
            <a:endParaRPr lang="en-US" sz="1200" dirty="0"/>
          </a:p>
        </p:txBody>
      </p:sp>
      <p:sp>
        <p:nvSpPr>
          <p:cNvPr id="27" name="Friend function box"/>
          <p:cNvSpPr/>
          <p:nvPr/>
        </p:nvSpPr>
        <p:spPr>
          <a:xfrm>
            <a:off x="548640" y="5166360"/>
            <a:ext cx="4297680" cy="731520"/>
          </a:xfrm>
          <a:prstGeom prst="roundRect">
            <a:avLst>
              <a:gd name="adj" fmla="val 7500"/>
            </a:avLst>
          </a:prstGeom>
          <a:solidFill>
            <a:schemeClr val="bg1"/>
          </a:solidFill>
          <a:ln/>
          <a:effectLst>
            <a:outerShdw sx="100000" sy="100000" kx="0" ky="0" algn="bl" rotWithShape="0" blurRad="127000" dist="25400" dir="5400000">
              <a:srgbClr val="0B1320">
                <a:alpha val="10000"/>
              </a:srgbClr>
            </a:outerShdw>
          </a:effectLst>
        </p:spPr>
      </p:sp>
      <p:sp>
        <p:nvSpPr>
          <p:cNvPr id="28" name="Text 25"/>
          <p:cNvSpPr txBox="1"/>
          <p:nvPr/>
        </p:nvSpPr>
        <p:spPr>
          <a:xfrm>
            <a:off x="731520" y="5257800"/>
            <a:ext cx="4023360" cy="548640"/>
          </a:xfrm>
          <a:prstGeom prst="rect">
            <a:avLst/>
          </a:prstGeom>
          <a:noFill/>
          <a:ln/>
        </p:spPr>
        <p:txBody>
          <a:bodyPr wrap="square" lIns="0" tIns="0" rIns="0" bIns="0" rtlCol="0" anchor="ctr"/>
          <a:lstStyle/>
          <a:p>
            <a:pPr indent="0" marL="0">
              <a:buNone/>
            </a:pPr>
            <a:r>
              <a:rPr lang="en-US" sz="1200" dirty="0">
                <a:solidFill>
                  <a:schemeClr val="accent5"/>
                </a:solidFill>
              </a:rPr>
              <a:t>«friend function»</a:t>
            </a:r>
            <a:endParaRPr lang="en-US" sz="1400" dirty="0"/>
          </a:p>
          <a:p>
            <a:pPr indent="0" marL="0">
              <a:buNone/>
            </a:pPr>
            <a:r>
              <a:rPr lang="en-US" sz="1200" b="1" dirty="0">
                <a:solidFill>
                  <a:schemeClr val="tx1"/>
                </a:solidFill>
                <a:latin typeface="Courier New" pitchFamily="34" charset="0"/>
                <a:ea typeface="Courier New" pitchFamily="34" charset="-122"/>
                <a:cs typeface="Courier New" pitchFamily="34" charset="-120"/>
              </a:rPr>
              <a:t>generateAuditTrail(const Artifact&amp;)</a:t>
            </a:r>
            <a:endParaRPr lang="en-US" sz="1400" dirty="0"/>
          </a:p>
        </p:txBody>
      </p:sp>
      <p:sp>
        <p:nvSpPr>
          <p:cNvPr id="29" name="Shape 26"/>
          <p:cNvSpPr/>
          <p:nvPr/>
        </p:nvSpPr>
        <p:spPr>
          <a:xfrm>
            <a:off x="2697480" y="4663440"/>
            <a:ext cx="0" cy="502920"/>
          </a:xfrm>
          <a:prstGeom prst="line">
            <a:avLst/>
          </a:prstGeom>
          <a:noFill/>
          <a:ln w="19050">
            <a:solidFill>
              <a:schemeClr val="tx1"/>
            </a:solidFill>
            <a:prstDash val="dash"/>
          </a:ln>
        </p:spPr>
      </p:sp>
      <p:sp>
        <p:nvSpPr>
          <p:cNvPr id="30" name="Text 27"/>
          <p:cNvSpPr txBox="1"/>
          <p:nvPr/>
        </p:nvSpPr>
        <p:spPr>
          <a:xfrm>
            <a:off x="2834640" y="4800600"/>
            <a:ext cx="1828800" cy="228600"/>
          </a:xfrm>
          <a:prstGeom prst="rect">
            <a:avLst/>
          </a:prstGeom>
          <a:noFill/>
          <a:ln/>
        </p:spPr>
        <p:txBody>
          <a:bodyPr wrap="square" lIns="0" tIns="0" rIns="0" bIns="0" rtlCol="0" anchor="t"/>
          <a:lstStyle/>
          <a:p>
            <a:pPr indent="0" marL="0">
              <a:buNone/>
            </a:pPr>
            <a:r>
              <a:rPr lang="en-US" sz="1200" dirty="0">
                <a:solidFill>
                  <a:schemeClr val="accent5"/>
                </a:solidFill>
              </a:rPr>
              <a:t>private access</a:t>
            </a:r>
            <a:endParaRPr lang="en-US" sz="1200" dirty="0"/>
          </a:p>
        </p:txBody>
      </p:sp>
      <p:sp>
        <p:nvSpPr>
          <p:cNvPr id="25" name="Slide Number Placeholder 0"/>
          <p:cNvSpPr>
            <a:spLocks noGrp="1"/>
          </p:cNvSpPr>
          <p:nvPr>
            <p:ph type="sldNum" sz="quarter" idx="4294967295"/>
          </p:nvPr>
        </p:nvSpPr>
        <p:spPr>
          <a:xfrm>
            <a:off x="10881360" y="6419088"/>
            <a:ext cx="75895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603504"/>
            <a:ext cx="11091672" cy="685800"/>
          </a:xfrm>
          <a:prstGeom prst="rect">
            <a:avLst/>
          </a:prstGeom>
          <a:noFill/>
          <a:ln/>
        </p:spPr>
        <p:txBody>
          <a:bodyPr wrap="square" lIns="0" tIns="0" rIns="0" bIns="0" rtlCol="0" anchor="ctr"/>
          <a:lstStyle/>
          <a:p>
            <a:pPr algn="l" indent="0" marL="0">
              <a:buNone/>
            </a:pPr>
            <a:r>
              <a:rPr lang="en-US" sz="3400" b="1" dirty="0">
                <a:solidFill>
                  <a:schemeClr val="tx1"/>
                </a:solidFill>
              </a:rPr>
              <a:t>The Artifact Class</a:t>
            </a:r>
            <a:endParaRPr lang="en-US" sz="3400" dirty="0"/>
          </a:p>
        </p:txBody>
      </p:sp>
      <p:sp>
        <p:nvSpPr>
          <p:cNvPr id="3" name="Text 1"/>
          <p:cNvSpPr txBox="1"/>
          <p:nvPr/>
        </p:nvSpPr>
        <p:spPr>
          <a:xfrm>
            <a:off x="548640" y="329184"/>
            <a:ext cx="7315200" cy="237744"/>
          </a:xfrm>
          <a:prstGeom prst="rect">
            <a:avLst/>
          </a:prstGeom>
          <a:noFill/>
          <a:ln/>
        </p:spPr>
        <p:txBody>
          <a:bodyPr wrap="square" lIns="0" tIns="0" rIns="0" bIns="0" rtlCol="0" anchor="t"/>
          <a:lstStyle/>
          <a:p>
            <a:pPr indent="0" marL="0">
              <a:buNone/>
            </a:pPr>
            <a:r>
              <a:rPr lang="en-US" sz="1200" b="1" spc="300" kern="0" dirty="0">
                <a:solidFill>
                  <a:schemeClr val="accent5"/>
                </a:solidFill>
              </a:rPr>
              <a:t>CORE CLASS</a:t>
            </a:r>
            <a:endParaRPr lang="en-US" sz="1200" dirty="0"/>
          </a:p>
        </p:txBody>
      </p:sp>
      <p:sp>
        <p:nvSpPr>
          <p:cNvPr id="5" name="Text 2"/>
          <p:cNvSpPr txBox="1"/>
          <p:nvPr/>
        </p:nvSpPr>
        <p:spPr>
          <a:xfrm>
            <a:off x="548640" y="1691640"/>
            <a:ext cx="3657600" cy="237744"/>
          </a:xfrm>
          <a:prstGeom prst="rect">
            <a:avLst/>
          </a:prstGeom>
          <a:noFill/>
          <a:ln/>
        </p:spPr>
        <p:txBody>
          <a:bodyPr wrap="square" lIns="0" tIns="0" rIns="0" bIns="0" rtlCol="0" anchor="t"/>
          <a:lstStyle/>
          <a:p>
            <a:pPr indent="0" marL="0">
              <a:buNone/>
            </a:pPr>
            <a:r>
              <a:rPr lang="en-US" sz="1200" b="1" spc="200" kern="0" dirty="0">
                <a:solidFill>
                  <a:schemeClr val="accent5"/>
                </a:solidFill>
              </a:rPr>
              <a:t>PRIVATE DATA</a:t>
            </a:r>
            <a:endParaRPr lang="en-US" sz="1200" dirty="0"/>
          </a:p>
        </p:txBody>
      </p:sp>
      <p:sp>
        <p:nvSpPr>
          <p:cNvPr id="6" name="Data member filename"/>
          <p:cNvSpPr/>
          <p:nvPr/>
        </p:nvSpPr>
        <p:spPr>
          <a:xfrm>
            <a:off x="548640" y="2057400"/>
            <a:ext cx="4480560" cy="1005840"/>
          </a:xfrm>
          <a:prstGeom prst="roundRect">
            <a:avLst>
              <a:gd name="adj" fmla="val 10909"/>
            </a:avLst>
          </a:prstGeom>
          <a:solidFill>
            <a:schemeClr val="bg1"/>
          </a:solidFill>
          <a:ln/>
          <a:effectLst>
            <a:outerShdw sx="100000" sy="100000" kx="0" ky="0" algn="bl" rotWithShape="0" blurRad="127000" dist="25400" dir="5400000">
              <a:srgbClr val="0B1320">
                <a:alpha val="10000"/>
              </a:srgbClr>
            </a:outerShdw>
          </a:effectLst>
        </p:spPr>
      </p:sp>
      <p:sp>
        <p:nvSpPr>
          <p:cNvPr id="7" name="Text 4"/>
          <p:cNvSpPr txBox="1"/>
          <p:nvPr/>
        </p:nvSpPr>
        <p:spPr>
          <a:xfrm>
            <a:off x="822960" y="2194560"/>
            <a:ext cx="3931920" cy="274320"/>
          </a:xfrm>
          <a:prstGeom prst="rect">
            <a:avLst/>
          </a:prstGeom>
          <a:noFill/>
          <a:ln/>
        </p:spPr>
        <p:txBody>
          <a:bodyPr wrap="square" lIns="0" tIns="0" rIns="0" bIns="0" rtlCol="0" anchor="t"/>
          <a:lstStyle/>
          <a:p>
            <a:pPr indent="0" marL="0">
              <a:buNone/>
            </a:pPr>
            <a:r>
              <a:rPr lang="en-US" sz="1600" b="1" dirty="0">
                <a:solidFill>
                  <a:schemeClr val="tx1"/>
                </a:solidFill>
                <a:latin typeface="Courier New" pitchFamily="34" charset="0"/>
                <a:ea typeface="Courier New" pitchFamily="34" charset="-122"/>
                <a:cs typeface="Courier New" pitchFamily="34" charset="-120"/>
              </a:rPr>
              <a:t>filename</a:t>
            </a:r>
            <a:endParaRPr lang="en-US" sz="1600" dirty="0"/>
          </a:p>
        </p:txBody>
      </p:sp>
      <p:sp>
        <p:nvSpPr>
          <p:cNvPr id="8" name="Text 5"/>
          <p:cNvSpPr txBox="1"/>
          <p:nvPr/>
        </p:nvSpPr>
        <p:spPr>
          <a:xfrm>
            <a:off x="822960" y="2487168"/>
            <a:ext cx="3931920" cy="201168"/>
          </a:xfrm>
          <a:prstGeom prst="rect">
            <a:avLst/>
          </a:prstGeom>
          <a:noFill/>
          <a:ln/>
        </p:spPr>
        <p:txBody>
          <a:bodyPr wrap="square" lIns="0" tIns="0" rIns="0" bIns="0" rtlCol="0" anchor="t"/>
          <a:lstStyle/>
          <a:p>
            <a:pPr indent="0" marL="0">
              <a:buNone/>
            </a:pPr>
            <a:r>
              <a:rPr lang="en-US" sz="1200" dirty="0">
                <a:solidFill>
                  <a:schemeClr val="accent5"/>
                </a:solidFill>
              </a:rPr>
              <a:t>private  ·  string</a:t>
            </a:r>
            <a:endParaRPr lang="en-US" sz="1200" dirty="0"/>
          </a:p>
        </p:txBody>
      </p:sp>
      <p:sp>
        <p:nvSpPr>
          <p:cNvPr id="9" name="Text 6"/>
          <p:cNvSpPr txBox="1"/>
          <p:nvPr/>
        </p:nvSpPr>
        <p:spPr>
          <a:xfrm>
            <a:off x="822960" y="2715768"/>
            <a:ext cx="3931920" cy="256032"/>
          </a:xfrm>
          <a:prstGeom prst="rect">
            <a:avLst/>
          </a:prstGeom>
          <a:noFill/>
          <a:ln/>
        </p:spPr>
        <p:txBody>
          <a:bodyPr wrap="square" lIns="0" tIns="0" rIns="0" bIns="0" rtlCol="0" anchor="t"/>
          <a:lstStyle/>
          <a:p>
            <a:pPr indent="0" marL="0">
              <a:buNone/>
            </a:pPr>
            <a:r>
              <a:rPr lang="en-US" sz="1400" dirty="0">
                <a:solidFill>
                  <a:schemeClr val="tx1"/>
                </a:solidFill>
              </a:rPr>
              <a:t>Evidence designation (file name)</a:t>
            </a:r>
            <a:endParaRPr lang="en-US" sz="1400" dirty="0"/>
          </a:p>
        </p:txBody>
      </p:sp>
      <p:sp>
        <p:nvSpPr>
          <p:cNvPr id="10" name="Data member checksum"/>
          <p:cNvSpPr/>
          <p:nvPr/>
        </p:nvSpPr>
        <p:spPr>
          <a:xfrm>
            <a:off x="548640" y="3200400"/>
            <a:ext cx="4480560" cy="1005840"/>
          </a:xfrm>
          <a:prstGeom prst="roundRect">
            <a:avLst>
              <a:gd name="adj" fmla="val 10909"/>
            </a:avLst>
          </a:prstGeom>
          <a:solidFill>
            <a:schemeClr val="bg1"/>
          </a:solidFill>
          <a:ln/>
          <a:effectLst>
            <a:outerShdw sx="100000" sy="100000" kx="0" ky="0" algn="bl" rotWithShape="0" blurRad="127000" dist="25400" dir="5400000">
              <a:srgbClr val="0B1320">
                <a:alpha val="10000"/>
              </a:srgbClr>
            </a:outerShdw>
          </a:effectLst>
        </p:spPr>
      </p:sp>
      <p:sp>
        <p:nvSpPr>
          <p:cNvPr id="11" name="Text 8"/>
          <p:cNvSpPr txBox="1"/>
          <p:nvPr/>
        </p:nvSpPr>
        <p:spPr>
          <a:xfrm>
            <a:off x="822960" y="3337560"/>
            <a:ext cx="3931920" cy="274320"/>
          </a:xfrm>
          <a:prstGeom prst="rect">
            <a:avLst/>
          </a:prstGeom>
          <a:noFill/>
          <a:ln/>
        </p:spPr>
        <p:txBody>
          <a:bodyPr wrap="square" lIns="0" tIns="0" rIns="0" bIns="0" rtlCol="0" anchor="t"/>
          <a:lstStyle/>
          <a:p>
            <a:pPr indent="0" marL="0">
              <a:buNone/>
            </a:pPr>
            <a:r>
              <a:rPr lang="en-US" sz="1600" b="1" dirty="0">
                <a:solidFill>
                  <a:schemeClr val="tx1"/>
                </a:solidFill>
                <a:latin typeface="Courier New" pitchFamily="34" charset="0"/>
                <a:ea typeface="Courier New" pitchFamily="34" charset="-122"/>
                <a:cs typeface="Courier New" pitchFamily="34" charset="-120"/>
              </a:rPr>
              <a:t>checksum</a:t>
            </a:r>
            <a:endParaRPr lang="en-US" sz="1600" dirty="0"/>
          </a:p>
        </p:txBody>
      </p:sp>
      <p:sp>
        <p:nvSpPr>
          <p:cNvPr id="12" name="Text 9"/>
          <p:cNvSpPr txBox="1"/>
          <p:nvPr/>
        </p:nvSpPr>
        <p:spPr>
          <a:xfrm>
            <a:off x="822960" y="3630168"/>
            <a:ext cx="3931920" cy="201168"/>
          </a:xfrm>
          <a:prstGeom prst="rect">
            <a:avLst/>
          </a:prstGeom>
          <a:noFill/>
          <a:ln/>
        </p:spPr>
        <p:txBody>
          <a:bodyPr wrap="square" lIns="0" tIns="0" rIns="0" bIns="0" rtlCol="0" anchor="t"/>
          <a:lstStyle/>
          <a:p>
            <a:pPr indent="0" marL="0">
              <a:buNone/>
            </a:pPr>
            <a:r>
              <a:rPr lang="en-US" sz="1200" dirty="0">
                <a:solidFill>
                  <a:schemeClr val="accent5"/>
                </a:solidFill>
              </a:rPr>
              <a:t>private  ·  int</a:t>
            </a:r>
            <a:endParaRPr lang="en-US" sz="1200" dirty="0"/>
          </a:p>
        </p:txBody>
      </p:sp>
      <p:sp>
        <p:nvSpPr>
          <p:cNvPr id="13" name="Text 10"/>
          <p:cNvSpPr txBox="1"/>
          <p:nvPr/>
        </p:nvSpPr>
        <p:spPr>
          <a:xfrm>
            <a:off x="822960" y="3858768"/>
            <a:ext cx="3931920" cy="256032"/>
          </a:xfrm>
          <a:prstGeom prst="rect">
            <a:avLst/>
          </a:prstGeom>
          <a:noFill/>
          <a:ln/>
        </p:spPr>
        <p:txBody>
          <a:bodyPr wrap="square" lIns="0" tIns="0" rIns="0" bIns="0" rtlCol="0" anchor="t"/>
          <a:lstStyle/>
          <a:p>
            <a:pPr indent="0" marL="0">
              <a:buNone/>
            </a:pPr>
            <a:r>
              <a:rPr lang="en-US" sz="1400" dirty="0">
                <a:solidFill>
                  <a:schemeClr val="tx1"/>
                </a:solidFill>
              </a:rPr>
              <a:t>Digital fingerprint of the filename</a:t>
            </a:r>
            <a:endParaRPr lang="en-US" sz="1400" dirty="0"/>
          </a:p>
        </p:txBody>
      </p:sp>
      <p:sp>
        <p:nvSpPr>
          <p:cNvPr id="14" name="Data member totalScanned"/>
          <p:cNvSpPr/>
          <p:nvPr/>
        </p:nvSpPr>
        <p:spPr>
          <a:xfrm>
            <a:off x="548640" y="4343400"/>
            <a:ext cx="4480560" cy="1005840"/>
          </a:xfrm>
          <a:prstGeom prst="roundRect">
            <a:avLst>
              <a:gd name="adj" fmla="val 10909"/>
            </a:avLst>
          </a:prstGeom>
          <a:solidFill>
            <a:schemeClr val="bg1"/>
          </a:solidFill>
          <a:ln/>
          <a:effectLst>
            <a:outerShdw sx="100000" sy="100000" kx="0" ky="0" algn="bl" rotWithShape="0" blurRad="127000" dist="25400" dir="5400000">
              <a:srgbClr val="0B1320">
                <a:alpha val="10000"/>
              </a:srgbClr>
            </a:outerShdw>
          </a:effectLst>
        </p:spPr>
      </p:sp>
      <p:sp>
        <p:nvSpPr>
          <p:cNvPr id="15" name="Text 12"/>
          <p:cNvSpPr txBox="1"/>
          <p:nvPr/>
        </p:nvSpPr>
        <p:spPr>
          <a:xfrm>
            <a:off x="822960" y="4480560"/>
            <a:ext cx="3931920" cy="274320"/>
          </a:xfrm>
          <a:prstGeom prst="rect">
            <a:avLst/>
          </a:prstGeom>
          <a:noFill/>
          <a:ln/>
        </p:spPr>
        <p:txBody>
          <a:bodyPr wrap="square" lIns="0" tIns="0" rIns="0" bIns="0" rtlCol="0" anchor="t"/>
          <a:lstStyle/>
          <a:p>
            <a:pPr indent="0" marL="0">
              <a:buNone/>
            </a:pPr>
            <a:r>
              <a:rPr lang="en-US" sz="1600" b="1" dirty="0">
                <a:solidFill>
                  <a:schemeClr val="tx1"/>
                </a:solidFill>
                <a:latin typeface="Courier New" pitchFamily="34" charset="0"/>
                <a:ea typeface="Courier New" pitchFamily="34" charset="-122"/>
                <a:cs typeface="Courier New" pitchFamily="34" charset="-120"/>
              </a:rPr>
              <a:t>totalScanned</a:t>
            </a:r>
            <a:endParaRPr lang="en-US" sz="1600" dirty="0"/>
          </a:p>
        </p:txBody>
      </p:sp>
      <p:sp>
        <p:nvSpPr>
          <p:cNvPr id="16" name="Text 13"/>
          <p:cNvSpPr txBox="1"/>
          <p:nvPr/>
        </p:nvSpPr>
        <p:spPr>
          <a:xfrm>
            <a:off x="822960" y="4773168"/>
            <a:ext cx="3931920" cy="201168"/>
          </a:xfrm>
          <a:prstGeom prst="rect">
            <a:avLst/>
          </a:prstGeom>
          <a:noFill/>
          <a:ln/>
        </p:spPr>
        <p:txBody>
          <a:bodyPr wrap="square" lIns="0" tIns="0" rIns="0" bIns="0" rtlCol="0" anchor="t"/>
          <a:lstStyle/>
          <a:p>
            <a:pPr indent="0" marL="0">
              <a:buNone/>
            </a:pPr>
            <a:r>
              <a:rPr lang="en-US" sz="1200" dirty="0">
                <a:solidFill>
                  <a:schemeClr val="accent5"/>
                </a:solidFill>
              </a:rPr>
              <a:t>private  ·  static int</a:t>
            </a:r>
            <a:endParaRPr lang="en-US" sz="1200" dirty="0"/>
          </a:p>
        </p:txBody>
      </p:sp>
      <p:sp>
        <p:nvSpPr>
          <p:cNvPr id="17" name="Text 14"/>
          <p:cNvSpPr txBox="1"/>
          <p:nvPr/>
        </p:nvSpPr>
        <p:spPr>
          <a:xfrm>
            <a:off x="822960" y="5001768"/>
            <a:ext cx="3931920" cy="256032"/>
          </a:xfrm>
          <a:prstGeom prst="rect">
            <a:avLst/>
          </a:prstGeom>
          <a:noFill/>
          <a:ln/>
        </p:spPr>
        <p:txBody>
          <a:bodyPr wrap="square" lIns="0" tIns="0" rIns="0" bIns="0" rtlCol="0" anchor="t"/>
          <a:lstStyle/>
          <a:p>
            <a:pPr indent="0" marL="0">
              <a:buNone/>
            </a:pPr>
            <a:r>
              <a:rPr lang="en-US" sz="1400" dirty="0">
                <a:solidFill>
                  <a:schemeClr val="tx1"/>
                </a:solidFill>
              </a:rPr>
              <a:t>Shared counter across all objects</a:t>
            </a:r>
            <a:endParaRPr lang="en-US" sz="1400" dirty="0"/>
          </a:p>
        </p:txBody>
      </p:sp>
      <p:sp>
        <p:nvSpPr>
          <p:cNvPr id="18" name="Text 15"/>
          <p:cNvSpPr txBox="1"/>
          <p:nvPr/>
        </p:nvSpPr>
        <p:spPr>
          <a:xfrm>
            <a:off x="5303520" y="1691640"/>
            <a:ext cx="3657600" cy="237744"/>
          </a:xfrm>
          <a:prstGeom prst="rect">
            <a:avLst/>
          </a:prstGeom>
          <a:noFill/>
          <a:ln/>
        </p:spPr>
        <p:txBody>
          <a:bodyPr wrap="square" lIns="0" tIns="0" rIns="0" bIns="0" rtlCol="0" anchor="t"/>
          <a:lstStyle/>
          <a:p>
            <a:pPr indent="0" marL="0">
              <a:buNone/>
            </a:pPr>
            <a:r>
              <a:rPr lang="en-US" sz="1200" b="1" spc="200" kern="0" dirty="0">
                <a:solidFill>
                  <a:schemeClr val="accent5"/>
                </a:solidFill>
              </a:rPr>
              <a:t>PUBLIC INTERFACE</a:t>
            </a:r>
            <a:endParaRPr lang="en-US" sz="1200" dirty="0"/>
          </a:p>
        </p:txBody>
      </p:sp>
      <p:sp>
        <p:nvSpPr>
          <p:cNvPr id="19" name="Public interface card"/>
          <p:cNvSpPr/>
          <p:nvPr/>
        </p:nvSpPr>
        <p:spPr>
          <a:xfrm>
            <a:off x="5303520" y="2057400"/>
            <a:ext cx="6336792" cy="3291840"/>
          </a:xfrm>
          <a:prstGeom prst="roundRect">
            <a:avLst>
              <a:gd name="adj" fmla="val 3333"/>
            </a:avLst>
          </a:prstGeom>
          <a:solidFill>
            <a:schemeClr val="bg1"/>
          </a:solidFill>
          <a:ln/>
          <a:effectLst>
            <a:outerShdw sx="100000" sy="100000" kx="0" ky="0" algn="bl" rotWithShape="0" blurRad="127000" dist="25400" dir="5400000">
              <a:srgbClr val="0B1320">
                <a:alpha val="10000"/>
              </a:srgbClr>
            </a:outerShdw>
          </a:effectLst>
        </p:spPr>
      </p:sp>
      <p:sp>
        <p:nvSpPr>
          <p:cNvPr id="20" name="Text 17"/>
          <p:cNvSpPr txBox="1"/>
          <p:nvPr/>
        </p:nvSpPr>
        <p:spPr>
          <a:xfrm>
            <a:off x="5532120" y="2057400"/>
            <a:ext cx="2514600" cy="548640"/>
          </a:xfrm>
          <a:prstGeom prst="rect">
            <a:avLst/>
          </a:prstGeom>
          <a:noFill/>
          <a:ln/>
        </p:spPr>
        <p:txBody>
          <a:bodyPr wrap="square" lIns="0" tIns="0" rIns="0" bIns="0" rtlCol="0" anchor="ctr"/>
          <a:lstStyle/>
          <a:p>
            <a:pPr indent="0" marL="0">
              <a:buNone/>
            </a:pPr>
            <a:r>
              <a:rPr lang="en-US" sz="1400" b="1" dirty="0">
                <a:solidFill>
                  <a:schemeClr val="tx1"/>
                </a:solidFill>
                <a:latin typeface="Courier New" pitchFamily="34" charset="0"/>
                <a:ea typeface="Courier New" pitchFamily="34" charset="-122"/>
                <a:cs typeface="Courier New" pitchFamily="34" charset="-120"/>
              </a:rPr>
              <a:t>Artifact(string)</a:t>
            </a:r>
            <a:endParaRPr lang="en-US" sz="1400" dirty="0"/>
          </a:p>
        </p:txBody>
      </p:sp>
      <p:sp>
        <p:nvSpPr>
          <p:cNvPr id="21" name="Text 18"/>
          <p:cNvSpPr txBox="1"/>
          <p:nvPr/>
        </p:nvSpPr>
        <p:spPr>
          <a:xfrm>
            <a:off x="8138160" y="2057400"/>
            <a:ext cx="3337560" cy="548640"/>
          </a:xfrm>
          <a:prstGeom prst="rect">
            <a:avLst/>
          </a:prstGeom>
          <a:noFill/>
          <a:ln/>
        </p:spPr>
        <p:txBody>
          <a:bodyPr wrap="square" lIns="0" tIns="0" rIns="0" bIns="0" rtlCol="0" anchor="ctr"/>
          <a:lstStyle/>
          <a:p>
            <a:pPr indent="0" marL="0">
              <a:buNone/>
            </a:pPr>
            <a:r>
              <a:rPr lang="en-US" sz="1400" dirty="0">
                <a:solidFill>
                  <a:schemeClr val="accent5"/>
                </a:solidFill>
              </a:rPr>
              <a:t>Stores name, computes checksum</a:t>
            </a:r>
            <a:endParaRPr lang="en-US" sz="1400" dirty="0"/>
          </a:p>
        </p:txBody>
      </p:sp>
      <p:sp>
        <p:nvSpPr>
          <p:cNvPr id="22" name="Shape 19"/>
          <p:cNvSpPr/>
          <p:nvPr/>
        </p:nvSpPr>
        <p:spPr>
          <a:xfrm>
            <a:off x="5532120" y="2606040"/>
            <a:ext cx="5897880" cy="0"/>
          </a:xfrm>
          <a:prstGeom prst="line">
            <a:avLst/>
          </a:prstGeom>
          <a:noFill/>
          <a:ln w="12700">
            <a:solidFill>
              <a:schemeClr val="bg2"/>
            </a:solidFill>
            <a:prstDash val="solid"/>
          </a:ln>
        </p:spPr>
      </p:sp>
      <p:sp>
        <p:nvSpPr>
          <p:cNvPr id="23" name="Text 20"/>
          <p:cNvSpPr txBox="1"/>
          <p:nvPr/>
        </p:nvSpPr>
        <p:spPr>
          <a:xfrm>
            <a:off x="5532120" y="2606040"/>
            <a:ext cx="2514600" cy="548640"/>
          </a:xfrm>
          <a:prstGeom prst="rect">
            <a:avLst/>
          </a:prstGeom>
          <a:noFill/>
          <a:ln/>
        </p:spPr>
        <p:txBody>
          <a:bodyPr wrap="square" lIns="0" tIns="0" rIns="0" bIns="0" rtlCol="0" anchor="ctr"/>
          <a:lstStyle/>
          <a:p>
            <a:pPr indent="0" marL="0">
              <a:buNone/>
            </a:pPr>
            <a:r>
              <a:rPr lang="en-US" sz="1400" b="1" dirty="0">
                <a:solidFill>
                  <a:schemeClr val="tx1"/>
                </a:solidFill>
                <a:latin typeface="Courier New" pitchFamily="34" charset="0"/>
                <a:ea typeface="Courier New" pitchFamily="34" charset="-122"/>
                <a:cs typeface="Courier New" pitchFamily="34" charset="-120"/>
              </a:rPr>
              <a:t>computeChecksum()</a:t>
            </a:r>
            <a:endParaRPr lang="en-US" sz="1400" dirty="0"/>
          </a:p>
        </p:txBody>
      </p:sp>
      <p:sp>
        <p:nvSpPr>
          <p:cNvPr id="24" name="Text 21"/>
          <p:cNvSpPr txBox="1"/>
          <p:nvPr/>
        </p:nvSpPr>
        <p:spPr>
          <a:xfrm>
            <a:off x="8138160" y="2606040"/>
            <a:ext cx="3337560" cy="548640"/>
          </a:xfrm>
          <a:prstGeom prst="rect">
            <a:avLst/>
          </a:prstGeom>
          <a:noFill/>
          <a:ln/>
        </p:spPr>
        <p:txBody>
          <a:bodyPr wrap="square" lIns="0" tIns="0" rIns="0" bIns="0" rtlCol="0" anchor="ctr"/>
          <a:lstStyle/>
          <a:p>
            <a:pPr indent="0" marL="0">
              <a:buNone/>
            </a:pPr>
            <a:r>
              <a:rPr lang="en-US" sz="1400" dirty="0">
                <a:solidFill>
                  <a:schemeClr val="accent5"/>
                </a:solidFill>
              </a:rPr>
              <a:t>ASCII sum × 7 + 31</a:t>
            </a:r>
            <a:endParaRPr lang="en-US" sz="1400" dirty="0"/>
          </a:p>
        </p:txBody>
      </p:sp>
      <p:sp>
        <p:nvSpPr>
          <p:cNvPr id="25" name="Shape 22"/>
          <p:cNvSpPr/>
          <p:nvPr/>
        </p:nvSpPr>
        <p:spPr>
          <a:xfrm>
            <a:off x="5532120" y="3154680"/>
            <a:ext cx="5897880" cy="0"/>
          </a:xfrm>
          <a:prstGeom prst="line">
            <a:avLst/>
          </a:prstGeom>
          <a:noFill/>
          <a:ln w="12700">
            <a:solidFill>
              <a:schemeClr val="bg2"/>
            </a:solidFill>
            <a:prstDash val="solid"/>
          </a:ln>
        </p:spPr>
      </p:sp>
      <p:sp>
        <p:nvSpPr>
          <p:cNvPr id="26" name="Text 23"/>
          <p:cNvSpPr txBox="1"/>
          <p:nvPr/>
        </p:nvSpPr>
        <p:spPr>
          <a:xfrm>
            <a:off x="5532120" y="3154680"/>
            <a:ext cx="2514600" cy="548640"/>
          </a:xfrm>
          <a:prstGeom prst="rect">
            <a:avLst/>
          </a:prstGeom>
          <a:noFill/>
          <a:ln/>
        </p:spPr>
        <p:txBody>
          <a:bodyPr wrap="square" lIns="0" tIns="0" rIns="0" bIns="0" rtlCol="0" anchor="ctr"/>
          <a:lstStyle/>
          <a:p>
            <a:pPr indent="0" marL="0">
              <a:buNone/>
            </a:pPr>
            <a:r>
              <a:rPr lang="en-US" sz="1400" b="1" dirty="0">
                <a:solidFill>
                  <a:schemeClr val="tx1"/>
                </a:solidFill>
                <a:latin typeface="Courier New" pitchFamily="34" charset="0"/>
                <a:ea typeface="Courier New" pitchFamily="34" charset="-122"/>
                <a:cs typeface="Courier New" pitchFamily="34" charset="-120"/>
              </a:rPr>
              <a:t>getChecksum()</a:t>
            </a:r>
            <a:endParaRPr lang="en-US" sz="1400" dirty="0"/>
          </a:p>
        </p:txBody>
      </p:sp>
      <p:sp>
        <p:nvSpPr>
          <p:cNvPr id="27" name="Text 24"/>
          <p:cNvSpPr txBox="1"/>
          <p:nvPr/>
        </p:nvSpPr>
        <p:spPr>
          <a:xfrm>
            <a:off x="8138160" y="3154680"/>
            <a:ext cx="3337560" cy="548640"/>
          </a:xfrm>
          <a:prstGeom prst="rect">
            <a:avLst/>
          </a:prstGeom>
          <a:noFill/>
          <a:ln/>
        </p:spPr>
        <p:txBody>
          <a:bodyPr wrap="square" lIns="0" tIns="0" rIns="0" bIns="0" rtlCol="0" anchor="ctr"/>
          <a:lstStyle/>
          <a:p>
            <a:pPr indent="0" marL="0">
              <a:buNone/>
            </a:pPr>
            <a:r>
              <a:rPr lang="en-US" sz="1400" dirty="0">
                <a:solidFill>
                  <a:schemeClr val="accent5"/>
                </a:solidFill>
              </a:rPr>
              <a:t>const getter (getFilename() likewise)</a:t>
            </a:r>
            <a:endParaRPr lang="en-US" sz="1400" dirty="0"/>
          </a:p>
        </p:txBody>
      </p:sp>
      <p:sp>
        <p:nvSpPr>
          <p:cNvPr id="28" name="Shape 25"/>
          <p:cNvSpPr/>
          <p:nvPr/>
        </p:nvSpPr>
        <p:spPr>
          <a:xfrm>
            <a:off x="5532120" y="3703320"/>
            <a:ext cx="5897880" cy="0"/>
          </a:xfrm>
          <a:prstGeom prst="line">
            <a:avLst/>
          </a:prstGeom>
          <a:noFill/>
          <a:ln w="12700">
            <a:solidFill>
              <a:schemeClr val="bg2"/>
            </a:solidFill>
            <a:prstDash val="solid"/>
          </a:ln>
        </p:spPr>
      </p:sp>
      <p:sp>
        <p:nvSpPr>
          <p:cNvPr id="29" name="Text 26"/>
          <p:cNvSpPr txBox="1"/>
          <p:nvPr/>
        </p:nvSpPr>
        <p:spPr>
          <a:xfrm>
            <a:off x="5532120" y="3703320"/>
            <a:ext cx="2514600" cy="548640"/>
          </a:xfrm>
          <a:prstGeom prst="rect">
            <a:avLst/>
          </a:prstGeom>
          <a:noFill/>
          <a:ln/>
        </p:spPr>
        <p:txBody>
          <a:bodyPr wrap="square" lIns="0" tIns="0" rIns="0" bIns="0" rtlCol="0" anchor="ctr"/>
          <a:lstStyle/>
          <a:p>
            <a:pPr indent="0" marL="0">
              <a:buNone/>
            </a:pPr>
            <a:r>
              <a:rPr lang="en-US" sz="1400" b="1" dirty="0">
                <a:solidFill>
                  <a:schemeClr val="tx1"/>
                </a:solidFill>
                <a:latin typeface="Courier New" pitchFamily="34" charset="0"/>
                <a:ea typeface="Courier New" pitchFamily="34" charset="-122"/>
                <a:cs typeface="Courier New" pitchFamily="34" charset="-120"/>
              </a:rPr>
              <a:t>operator==</a:t>
            </a:r>
            <a:endParaRPr lang="en-US" sz="1400" dirty="0"/>
          </a:p>
        </p:txBody>
      </p:sp>
      <p:sp>
        <p:nvSpPr>
          <p:cNvPr id="30" name="Text 27"/>
          <p:cNvSpPr txBox="1"/>
          <p:nvPr/>
        </p:nvSpPr>
        <p:spPr>
          <a:xfrm>
            <a:off x="8138160" y="3703320"/>
            <a:ext cx="3337560" cy="548640"/>
          </a:xfrm>
          <a:prstGeom prst="rect">
            <a:avLst/>
          </a:prstGeom>
          <a:noFill/>
          <a:ln/>
        </p:spPr>
        <p:txBody>
          <a:bodyPr wrap="square" lIns="0" tIns="0" rIns="0" bIns="0" rtlCol="0" anchor="ctr"/>
          <a:lstStyle/>
          <a:p>
            <a:pPr indent="0" marL="0">
              <a:buNone/>
            </a:pPr>
            <a:r>
              <a:rPr lang="en-US" sz="1400" dirty="0">
                <a:solidFill>
                  <a:schemeClr val="accent5"/>
                </a:solidFill>
              </a:rPr>
              <a:t>True when two checksums are equal</a:t>
            </a:r>
            <a:endParaRPr lang="en-US" sz="1400" dirty="0"/>
          </a:p>
        </p:txBody>
      </p:sp>
      <p:sp>
        <p:nvSpPr>
          <p:cNvPr id="31" name="Shape 28"/>
          <p:cNvSpPr/>
          <p:nvPr/>
        </p:nvSpPr>
        <p:spPr>
          <a:xfrm>
            <a:off x="5532120" y="4251960"/>
            <a:ext cx="5897880" cy="0"/>
          </a:xfrm>
          <a:prstGeom prst="line">
            <a:avLst/>
          </a:prstGeom>
          <a:noFill/>
          <a:ln w="12700">
            <a:solidFill>
              <a:schemeClr val="bg2"/>
            </a:solidFill>
            <a:prstDash val="solid"/>
          </a:ln>
        </p:spPr>
      </p:sp>
      <p:sp>
        <p:nvSpPr>
          <p:cNvPr id="32" name="Text 29"/>
          <p:cNvSpPr txBox="1"/>
          <p:nvPr/>
        </p:nvSpPr>
        <p:spPr>
          <a:xfrm>
            <a:off x="5532120" y="4251960"/>
            <a:ext cx="2514600" cy="548640"/>
          </a:xfrm>
          <a:prstGeom prst="rect">
            <a:avLst/>
          </a:prstGeom>
          <a:noFill/>
          <a:ln/>
        </p:spPr>
        <p:txBody>
          <a:bodyPr wrap="square" lIns="0" tIns="0" rIns="0" bIns="0" rtlCol="0" anchor="ctr"/>
          <a:lstStyle/>
          <a:p>
            <a:pPr indent="0" marL="0">
              <a:buNone/>
            </a:pPr>
            <a:r>
              <a:rPr lang="en-US" sz="1400" b="1" dirty="0">
                <a:solidFill>
                  <a:schemeClr val="tx1"/>
                </a:solidFill>
                <a:latin typeface="Courier New" pitchFamily="34" charset="0"/>
                <a:ea typeface="Courier New" pitchFamily="34" charset="-122"/>
                <a:cs typeface="Courier New" pitchFamily="34" charset="-120"/>
              </a:rPr>
              <a:t>displayTotalScans()</a:t>
            </a:r>
            <a:endParaRPr lang="en-US" sz="1400" dirty="0"/>
          </a:p>
        </p:txBody>
      </p:sp>
      <p:sp>
        <p:nvSpPr>
          <p:cNvPr id="33" name="Text 30"/>
          <p:cNvSpPr txBox="1"/>
          <p:nvPr/>
        </p:nvSpPr>
        <p:spPr>
          <a:xfrm>
            <a:off x="8138160" y="4251960"/>
            <a:ext cx="3337560" cy="548640"/>
          </a:xfrm>
          <a:prstGeom prst="rect">
            <a:avLst/>
          </a:prstGeom>
          <a:noFill/>
          <a:ln/>
        </p:spPr>
        <p:txBody>
          <a:bodyPr wrap="square" lIns="0" tIns="0" rIns="0" bIns="0" rtlCol="0" anchor="ctr"/>
          <a:lstStyle/>
          <a:p>
            <a:pPr indent="0" marL="0">
              <a:buNone/>
            </a:pPr>
            <a:r>
              <a:rPr lang="en-US" sz="1400" dirty="0">
                <a:solidFill>
                  <a:schemeClr val="accent5"/>
                </a:solidFill>
              </a:rPr>
              <a:t>static: prints the global artifact counter</a:t>
            </a:r>
            <a:endParaRPr lang="en-US" sz="1400" dirty="0"/>
          </a:p>
        </p:txBody>
      </p:sp>
      <p:sp>
        <p:nvSpPr>
          <p:cNvPr id="34" name="Shape 31"/>
          <p:cNvSpPr/>
          <p:nvPr/>
        </p:nvSpPr>
        <p:spPr>
          <a:xfrm>
            <a:off x="5532120" y="4800600"/>
            <a:ext cx="5897880" cy="0"/>
          </a:xfrm>
          <a:prstGeom prst="line">
            <a:avLst/>
          </a:prstGeom>
          <a:noFill/>
          <a:ln w="12700">
            <a:solidFill>
              <a:schemeClr val="bg2"/>
            </a:solidFill>
            <a:prstDash val="solid"/>
          </a:ln>
        </p:spPr>
      </p:sp>
      <p:sp>
        <p:nvSpPr>
          <p:cNvPr id="35" name="Text 32"/>
          <p:cNvSpPr txBox="1"/>
          <p:nvPr/>
        </p:nvSpPr>
        <p:spPr>
          <a:xfrm>
            <a:off x="5532120" y="4800600"/>
            <a:ext cx="2514600" cy="548640"/>
          </a:xfrm>
          <a:prstGeom prst="rect">
            <a:avLst/>
          </a:prstGeom>
          <a:noFill/>
          <a:ln/>
        </p:spPr>
        <p:txBody>
          <a:bodyPr wrap="square" lIns="0" tIns="0" rIns="0" bIns="0" rtlCol="0" anchor="ctr"/>
          <a:lstStyle/>
          <a:p>
            <a:pPr indent="0" marL="0">
              <a:buNone/>
            </a:pPr>
            <a:r>
              <a:rPr lang="en-US" sz="1400" b="1" dirty="0">
                <a:solidFill>
                  <a:schemeClr val="tx1"/>
                </a:solidFill>
                <a:latin typeface="Courier New" pitchFamily="34" charset="0"/>
                <a:ea typeface="Courier New" pitchFamily="34" charset="-122"/>
                <a:cs typeface="Courier New" pitchFamily="34" charset="-120"/>
              </a:rPr>
              <a:t>generateAuditTrail()</a:t>
            </a:r>
            <a:endParaRPr lang="en-US" sz="1400" dirty="0"/>
          </a:p>
        </p:txBody>
      </p:sp>
      <p:sp>
        <p:nvSpPr>
          <p:cNvPr id="36" name="Text 33"/>
          <p:cNvSpPr txBox="1"/>
          <p:nvPr/>
        </p:nvSpPr>
        <p:spPr>
          <a:xfrm>
            <a:off x="8138160" y="4800600"/>
            <a:ext cx="3337560" cy="548640"/>
          </a:xfrm>
          <a:prstGeom prst="rect">
            <a:avLst/>
          </a:prstGeom>
          <a:noFill/>
          <a:ln/>
        </p:spPr>
        <p:txBody>
          <a:bodyPr wrap="square" lIns="0" tIns="0" rIns="0" bIns="0" rtlCol="0" anchor="ctr"/>
          <a:lstStyle/>
          <a:p>
            <a:pPr indent="0" marL="0">
              <a:buNone/>
            </a:pPr>
            <a:r>
              <a:rPr lang="en-US" sz="1400" dirty="0">
                <a:solidFill>
                  <a:schemeClr val="accent5"/>
                </a:solidFill>
              </a:rPr>
              <a:t>friend: prints the forensic audit dossier</a:t>
            </a:r>
            <a:endParaRPr lang="en-US" sz="1400" dirty="0"/>
          </a:p>
        </p:txBody>
      </p:sp>
      <p:sp>
        <p:nvSpPr>
          <p:cNvPr id="37" name="Constructor banner"/>
          <p:cNvSpPr/>
          <p:nvPr/>
        </p:nvSpPr>
        <p:spPr>
          <a:xfrm>
            <a:off x="548640" y="5532120"/>
            <a:ext cx="11091672" cy="640080"/>
          </a:xfrm>
          <a:prstGeom prst="roundRect">
            <a:avLst>
              <a:gd name="adj" fmla="val 14286"/>
            </a:avLst>
          </a:prstGeom>
          <a:solidFill>
            <a:schemeClr val="tx1"/>
          </a:solidFill>
          <a:ln/>
        </p:spPr>
      </p:sp>
      <p:sp>
        <p:nvSpPr>
          <p:cNvPr id="38" name="Text 35"/>
          <p:cNvSpPr txBox="1"/>
          <p:nvPr/>
        </p:nvSpPr>
        <p:spPr>
          <a:xfrm>
            <a:off x="822960" y="5532120"/>
            <a:ext cx="10607040" cy="640080"/>
          </a:xfrm>
          <a:prstGeom prst="rect">
            <a:avLst/>
          </a:prstGeom>
          <a:noFill/>
          <a:ln/>
        </p:spPr>
        <p:txBody>
          <a:bodyPr wrap="square" lIns="0" tIns="0" rIns="0" bIns="0" rtlCol="0" anchor="ctr"/>
          <a:lstStyle/>
          <a:p>
            <a:pPr indent="0" marL="0">
              <a:buNone/>
            </a:pPr>
            <a:r>
              <a:rPr lang="en-US" sz="1600" b="1" dirty="0">
                <a:solidFill>
                  <a:schemeClr val="accent1"/>
                </a:solidFill>
              </a:rPr>
              <a:t>On every new Artifact:  </a:t>
            </a:r>
            <a:pPr indent="0" marL="0">
              <a:buNone/>
            </a:pPr>
            <a:r>
              <a:rPr lang="en-US" sz="1600" dirty="0">
                <a:solidFill>
                  <a:schemeClr val="bg1"/>
                </a:solidFill>
              </a:rPr>
              <a:t>store name  →  compute checksum  →  totalScanned++  →  print ingest message</a:t>
            </a:r>
            <a:endParaRPr lang="en-US" sz="1600" dirty="0"/>
          </a:p>
        </p:txBody>
      </p:sp>
      <p:sp>
        <p:nvSpPr>
          <p:cNvPr id="25" name="Slide Number Placeholder 0"/>
          <p:cNvSpPr>
            <a:spLocks noGrp="1"/>
          </p:cNvSpPr>
          <p:nvPr>
            <p:ph type="sldNum" sz="quarter" idx="4294967295"/>
          </p:nvPr>
        </p:nvSpPr>
        <p:spPr>
          <a:xfrm>
            <a:off x="10881360" y="6419088"/>
            <a:ext cx="75895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603504"/>
            <a:ext cx="11091672" cy="685800"/>
          </a:xfrm>
          <a:prstGeom prst="rect">
            <a:avLst/>
          </a:prstGeom>
          <a:noFill/>
          <a:ln/>
        </p:spPr>
        <p:txBody>
          <a:bodyPr wrap="square" lIns="0" tIns="0" rIns="0" bIns="0" rtlCol="0" anchor="ctr"/>
          <a:lstStyle/>
          <a:p>
            <a:pPr algn="l" indent="0" marL="0">
              <a:buNone/>
            </a:pPr>
            <a:r>
              <a:rPr lang="en-US" sz="3400" b="1" dirty="0">
                <a:solidFill>
                  <a:schemeClr val="tx1"/>
                </a:solidFill>
              </a:rPr>
              <a:t>How the Checksum Works</a:t>
            </a:r>
            <a:endParaRPr lang="en-US" sz="3400" dirty="0"/>
          </a:p>
        </p:txBody>
      </p:sp>
      <p:sp>
        <p:nvSpPr>
          <p:cNvPr id="3" name="Text 1"/>
          <p:cNvSpPr txBox="1"/>
          <p:nvPr/>
        </p:nvSpPr>
        <p:spPr>
          <a:xfrm>
            <a:off x="548640" y="329184"/>
            <a:ext cx="7315200" cy="237744"/>
          </a:xfrm>
          <a:prstGeom prst="rect">
            <a:avLst/>
          </a:prstGeom>
          <a:noFill/>
          <a:ln/>
        </p:spPr>
        <p:txBody>
          <a:bodyPr wrap="square" lIns="0" tIns="0" rIns="0" bIns="0" rtlCol="0" anchor="t"/>
          <a:lstStyle/>
          <a:p>
            <a:pPr indent="0" marL="0">
              <a:buNone/>
            </a:pPr>
            <a:r>
              <a:rPr lang="en-US" sz="1200" b="1" spc="300" kern="0" dirty="0">
                <a:solidFill>
                  <a:schemeClr val="accent5"/>
                </a:solidFill>
              </a:rPr>
              <a:t>INTEGRITY LOGIC</a:t>
            </a:r>
            <a:endParaRPr lang="en-US" sz="1200" dirty="0"/>
          </a:p>
        </p:txBody>
      </p:sp>
      <p:sp>
        <p:nvSpPr>
          <p:cNvPr id="5" name="Text 2"/>
          <p:cNvSpPr txBox="1"/>
          <p:nvPr/>
        </p:nvSpPr>
        <p:spPr>
          <a:xfrm>
            <a:off x="548640" y="1691640"/>
            <a:ext cx="7315200" cy="274320"/>
          </a:xfrm>
          <a:prstGeom prst="rect">
            <a:avLst/>
          </a:prstGeom>
          <a:noFill/>
          <a:ln/>
        </p:spPr>
        <p:txBody>
          <a:bodyPr wrap="square" lIns="0" tIns="0" rIns="0" bIns="0" rtlCol="0" anchor="t"/>
          <a:lstStyle/>
          <a:p>
            <a:pPr indent="0" marL="0">
              <a:buNone/>
            </a:pPr>
            <a:r>
              <a:rPr lang="en-US" sz="1400" b="1" spc="200" kern="0" dirty="0">
                <a:solidFill>
                  <a:schemeClr val="accent5"/>
                </a:solidFill>
              </a:rPr>
              <a:t>EXAMPLE INPUT:  </a:t>
            </a:r>
            <a:pPr indent="0" marL="0">
              <a:buNone/>
            </a:pPr>
            <a:r>
              <a:rPr lang="en-US" sz="1400" b="1" dirty="0">
                <a:solidFill>
                  <a:schemeClr val="tx1"/>
                </a:solidFill>
                <a:latin typeface="Courier New" pitchFamily="34" charset="0"/>
                <a:ea typeface="Courier New" pitchFamily="34" charset="-122"/>
                <a:cs typeface="Courier New" pitchFamily="34" charset="-120"/>
              </a:rPr>
              <a:t>log.txt</a:t>
            </a:r>
            <a:endParaRPr lang="en-US" sz="1400" dirty="0"/>
          </a:p>
        </p:txBody>
      </p:sp>
      <p:sp>
        <p:nvSpPr>
          <p:cNvPr id="6" name="Char tile l"/>
          <p:cNvSpPr/>
          <p:nvPr/>
        </p:nvSpPr>
        <p:spPr>
          <a:xfrm>
            <a:off x="548640" y="2103120"/>
            <a:ext cx="1371600" cy="777240"/>
          </a:xfrm>
          <a:prstGeom prst="roundRect">
            <a:avLst>
              <a:gd name="adj" fmla="val 14118"/>
            </a:avLst>
          </a:prstGeom>
          <a:solidFill>
            <a:schemeClr val="bg1"/>
          </a:solidFill>
          <a:ln/>
          <a:effectLst>
            <a:outerShdw sx="100000" sy="100000" kx="0" ky="0" algn="bl" rotWithShape="0" blurRad="127000" dist="25400" dir="5400000">
              <a:srgbClr val="0B1320">
                <a:alpha val="10000"/>
              </a:srgbClr>
            </a:outerShdw>
          </a:effectLst>
        </p:spPr>
      </p:sp>
      <p:sp>
        <p:nvSpPr>
          <p:cNvPr id="7" name="Text 4"/>
          <p:cNvSpPr txBox="1"/>
          <p:nvPr/>
        </p:nvSpPr>
        <p:spPr>
          <a:xfrm>
            <a:off x="548640" y="2103120"/>
            <a:ext cx="1371600" cy="777240"/>
          </a:xfrm>
          <a:prstGeom prst="rect">
            <a:avLst/>
          </a:prstGeom>
          <a:noFill/>
          <a:ln/>
        </p:spPr>
        <p:txBody>
          <a:bodyPr wrap="square" lIns="0" tIns="0" rIns="0" bIns="0" rtlCol="0" anchor="ctr"/>
          <a:lstStyle/>
          <a:p>
            <a:pPr algn="ctr" indent="0" marL="0">
              <a:buNone/>
            </a:pPr>
            <a:r>
              <a:rPr lang="en-US" sz="3200" b="1" dirty="0">
                <a:solidFill>
                  <a:schemeClr val="tx1"/>
                </a:solidFill>
                <a:latin typeface="Courier New" pitchFamily="34" charset="0"/>
                <a:ea typeface="Courier New" pitchFamily="34" charset="-122"/>
                <a:cs typeface="Courier New" pitchFamily="34" charset="-120"/>
              </a:rPr>
              <a:t>l</a:t>
            </a:r>
            <a:endParaRPr lang="en-US" sz="3200" dirty="0"/>
          </a:p>
        </p:txBody>
      </p:sp>
      <p:sp>
        <p:nvSpPr>
          <p:cNvPr id="8" name="ASCII tile l"/>
          <p:cNvSpPr/>
          <p:nvPr/>
        </p:nvSpPr>
        <p:spPr>
          <a:xfrm>
            <a:off x="548640" y="2926080"/>
            <a:ext cx="1371600" cy="457200"/>
          </a:xfrm>
          <a:prstGeom prst="roundRect">
            <a:avLst>
              <a:gd name="adj" fmla="val 16000"/>
            </a:avLst>
          </a:prstGeom>
          <a:solidFill>
            <a:schemeClr val="tx1"/>
          </a:solidFill>
          <a:ln/>
        </p:spPr>
      </p:sp>
      <p:sp>
        <p:nvSpPr>
          <p:cNvPr id="9" name="Text 6"/>
          <p:cNvSpPr txBox="1"/>
          <p:nvPr/>
        </p:nvSpPr>
        <p:spPr>
          <a:xfrm>
            <a:off x="548640" y="2926080"/>
            <a:ext cx="1371600" cy="457200"/>
          </a:xfrm>
          <a:prstGeom prst="rect">
            <a:avLst/>
          </a:prstGeom>
          <a:noFill/>
          <a:ln/>
        </p:spPr>
        <p:txBody>
          <a:bodyPr wrap="square" lIns="0" tIns="0" rIns="0" bIns="0" rtlCol="0" anchor="ctr"/>
          <a:lstStyle/>
          <a:p>
            <a:pPr algn="ctr" indent="0" marL="0">
              <a:buNone/>
            </a:pPr>
            <a:r>
              <a:rPr lang="en-US" sz="2000" b="1" dirty="0">
                <a:solidFill>
                  <a:schemeClr val="accent1"/>
                </a:solidFill>
              </a:rPr>
              <a:t>108</a:t>
            </a:r>
            <a:endParaRPr lang="en-US" sz="2000" dirty="0"/>
          </a:p>
        </p:txBody>
      </p:sp>
      <p:sp>
        <p:nvSpPr>
          <p:cNvPr id="10" name="Char tile o"/>
          <p:cNvSpPr/>
          <p:nvPr/>
        </p:nvSpPr>
        <p:spPr>
          <a:xfrm>
            <a:off x="2167128" y="2103120"/>
            <a:ext cx="1371600" cy="777240"/>
          </a:xfrm>
          <a:prstGeom prst="roundRect">
            <a:avLst>
              <a:gd name="adj" fmla="val 14118"/>
            </a:avLst>
          </a:prstGeom>
          <a:solidFill>
            <a:schemeClr val="bg1"/>
          </a:solidFill>
          <a:ln/>
          <a:effectLst>
            <a:outerShdw sx="100000" sy="100000" kx="0" ky="0" algn="bl" rotWithShape="0" blurRad="127000" dist="25400" dir="5400000">
              <a:srgbClr val="0B1320">
                <a:alpha val="10000"/>
              </a:srgbClr>
            </a:outerShdw>
          </a:effectLst>
        </p:spPr>
      </p:sp>
      <p:sp>
        <p:nvSpPr>
          <p:cNvPr id="11" name="Text 8"/>
          <p:cNvSpPr txBox="1"/>
          <p:nvPr/>
        </p:nvSpPr>
        <p:spPr>
          <a:xfrm>
            <a:off x="2167128" y="2103120"/>
            <a:ext cx="1371600" cy="777240"/>
          </a:xfrm>
          <a:prstGeom prst="rect">
            <a:avLst/>
          </a:prstGeom>
          <a:noFill/>
          <a:ln/>
        </p:spPr>
        <p:txBody>
          <a:bodyPr wrap="square" lIns="0" tIns="0" rIns="0" bIns="0" rtlCol="0" anchor="ctr"/>
          <a:lstStyle/>
          <a:p>
            <a:pPr algn="ctr" indent="0" marL="0">
              <a:buNone/>
            </a:pPr>
            <a:r>
              <a:rPr lang="en-US" sz="3200" b="1" dirty="0">
                <a:solidFill>
                  <a:schemeClr val="tx1"/>
                </a:solidFill>
                <a:latin typeface="Courier New" pitchFamily="34" charset="0"/>
                <a:ea typeface="Courier New" pitchFamily="34" charset="-122"/>
                <a:cs typeface="Courier New" pitchFamily="34" charset="-120"/>
              </a:rPr>
              <a:t>o</a:t>
            </a:r>
            <a:endParaRPr lang="en-US" sz="3200" dirty="0"/>
          </a:p>
        </p:txBody>
      </p:sp>
      <p:sp>
        <p:nvSpPr>
          <p:cNvPr id="12" name="ASCII tile o"/>
          <p:cNvSpPr/>
          <p:nvPr/>
        </p:nvSpPr>
        <p:spPr>
          <a:xfrm>
            <a:off x="2167128" y="2926080"/>
            <a:ext cx="1371600" cy="457200"/>
          </a:xfrm>
          <a:prstGeom prst="roundRect">
            <a:avLst>
              <a:gd name="adj" fmla="val 16000"/>
            </a:avLst>
          </a:prstGeom>
          <a:solidFill>
            <a:schemeClr val="tx1"/>
          </a:solidFill>
          <a:ln/>
        </p:spPr>
      </p:sp>
      <p:sp>
        <p:nvSpPr>
          <p:cNvPr id="13" name="Text 10"/>
          <p:cNvSpPr txBox="1"/>
          <p:nvPr/>
        </p:nvSpPr>
        <p:spPr>
          <a:xfrm>
            <a:off x="2167128" y="2926080"/>
            <a:ext cx="1371600" cy="457200"/>
          </a:xfrm>
          <a:prstGeom prst="rect">
            <a:avLst/>
          </a:prstGeom>
          <a:noFill/>
          <a:ln/>
        </p:spPr>
        <p:txBody>
          <a:bodyPr wrap="square" lIns="0" tIns="0" rIns="0" bIns="0" rtlCol="0" anchor="ctr"/>
          <a:lstStyle/>
          <a:p>
            <a:pPr algn="ctr" indent="0" marL="0">
              <a:buNone/>
            </a:pPr>
            <a:r>
              <a:rPr lang="en-US" sz="2000" b="1" dirty="0">
                <a:solidFill>
                  <a:schemeClr val="accent1"/>
                </a:solidFill>
              </a:rPr>
              <a:t>111</a:t>
            </a:r>
            <a:endParaRPr lang="en-US" sz="2000" dirty="0"/>
          </a:p>
        </p:txBody>
      </p:sp>
      <p:sp>
        <p:nvSpPr>
          <p:cNvPr id="14" name="Char tile g"/>
          <p:cNvSpPr/>
          <p:nvPr/>
        </p:nvSpPr>
        <p:spPr>
          <a:xfrm>
            <a:off x="3785616" y="2103120"/>
            <a:ext cx="1371600" cy="777240"/>
          </a:xfrm>
          <a:prstGeom prst="roundRect">
            <a:avLst>
              <a:gd name="adj" fmla="val 14118"/>
            </a:avLst>
          </a:prstGeom>
          <a:solidFill>
            <a:schemeClr val="bg1"/>
          </a:solidFill>
          <a:ln/>
          <a:effectLst>
            <a:outerShdw sx="100000" sy="100000" kx="0" ky="0" algn="bl" rotWithShape="0" blurRad="127000" dist="25400" dir="5400000">
              <a:srgbClr val="0B1320">
                <a:alpha val="10000"/>
              </a:srgbClr>
            </a:outerShdw>
          </a:effectLst>
        </p:spPr>
      </p:sp>
      <p:sp>
        <p:nvSpPr>
          <p:cNvPr id="15" name="Text 12"/>
          <p:cNvSpPr txBox="1"/>
          <p:nvPr/>
        </p:nvSpPr>
        <p:spPr>
          <a:xfrm>
            <a:off x="3785616" y="2103120"/>
            <a:ext cx="1371600" cy="777240"/>
          </a:xfrm>
          <a:prstGeom prst="rect">
            <a:avLst/>
          </a:prstGeom>
          <a:noFill/>
          <a:ln/>
        </p:spPr>
        <p:txBody>
          <a:bodyPr wrap="square" lIns="0" tIns="0" rIns="0" bIns="0" rtlCol="0" anchor="ctr"/>
          <a:lstStyle/>
          <a:p>
            <a:pPr algn="ctr" indent="0" marL="0">
              <a:buNone/>
            </a:pPr>
            <a:r>
              <a:rPr lang="en-US" sz="3200" b="1" dirty="0">
                <a:solidFill>
                  <a:schemeClr val="tx1"/>
                </a:solidFill>
                <a:latin typeface="Courier New" pitchFamily="34" charset="0"/>
                <a:ea typeface="Courier New" pitchFamily="34" charset="-122"/>
                <a:cs typeface="Courier New" pitchFamily="34" charset="-120"/>
              </a:rPr>
              <a:t>g</a:t>
            </a:r>
            <a:endParaRPr lang="en-US" sz="3200" dirty="0"/>
          </a:p>
        </p:txBody>
      </p:sp>
      <p:sp>
        <p:nvSpPr>
          <p:cNvPr id="16" name="ASCII tile g"/>
          <p:cNvSpPr/>
          <p:nvPr/>
        </p:nvSpPr>
        <p:spPr>
          <a:xfrm>
            <a:off x="3785616" y="2926080"/>
            <a:ext cx="1371600" cy="457200"/>
          </a:xfrm>
          <a:prstGeom prst="roundRect">
            <a:avLst>
              <a:gd name="adj" fmla="val 16000"/>
            </a:avLst>
          </a:prstGeom>
          <a:solidFill>
            <a:schemeClr val="tx1"/>
          </a:solidFill>
          <a:ln/>
        </p:spPr>
      </p:sp>
      <p:sp>
        <p:nvSpPr>
          <p:cNvPr id="17" name="Text 14"/>
          <p:cNvSpPr txBox="1"/>
          <p:nvPr/>
        </p:nvSpPr>
        <p:spPr>
          <a:xfrm>
            <a:off x="3785616" y="2926080"/>
            <a:ext cx="1371600" cy="457200"/>
          </a:xfrm>
          <a:prstGeom prst="rect">
            <a:avLst/>
          </a:prstGeom>
          <a:noFill/>
          <a:ln/>
        </p:spPr>
        <p:txBody>
          <a:bodyPr wrap="square" lIns="0" tIns="0" rIns="0" bIns="0" rtlCol="0" anchor="ctr"/>
          <a:lstStyle/>
          <a:p>
            <a:pPr algn="ctr" indent="0" marL="0">
              <a:buNone/>
            </a:pPr>
            <a:r>
              <a:rPr lang="en-US" sz="2000" b="1" dirty="0">
                <a:solidFill>
                  <a:schemeClr val="accent1"/>
                </a:solidFill>
              </a:rPr>
              <a:t>103</a:t>
            </a:r>
            <a:endParaRPr lang="en-US" sz="2000" dirty="0"/>
          </a:p>
        </p:txBody>
      </p:sp>
      <p:sp>
        <p:nvSpPr>
          <p:cNvPr id="18" name="Char tile ."/>
          <p:cNvSpPr/>
          <p:nvPr/>
        </p:nvSpPr>
        <p:spPr>
          <a:xfrm>
            <a:off x="5404104" y="2103120"/>
            <a:ext cx="1371600" cy="777240"/>
          </a:xfrm>
          <a:prstGeom prst="roundRect">
            <a:avLst>
              <a:gd name="adj" fmla="val 14118"/>
            </a:avLst>
          </a:prstGeom>
          <a:solidFill>
            <a:schemeClr val="bg1"/>
          </a:solidFill>
          <a:ln/>
          <a:effectLst>
            <a:outerShdw sx="100000" sy="100000" kx="0" ky="0" algn="bl" rotWithShape="0" blurRad="127000" dist="25400" dir="5400000">
              <a:srgbClr val="0B1320">
                <a:alpha val="10000"/>
              </a:srgbClr>
            </a:outerShdw>
          </a:effectLst>
        </p:spPr>
      </p:sp>
      <p:sp>
        <p:nvSpPr>
          <p:cNvPr id="19" name="Text 16"/>
          <p:cNvSpPr txBox="1"/>
          <p:nvPr/>
        </p:nvSpPr>
        <p:spPr>
          <a:xfrm>
            <a:off x="5404104" y="2103120"/>
            <a:ext cx="1371600" cy="777240"/>
          </a:xfrm>
          <a:prstGeom prst="rect">
            <a:avLst/>
          </a:prstGeom>
          <a:noFill/>
          <a:ln/>
        </p:spPr>
        <p:txBody>
          <a:bodyPr wrap="square" lIns="0" tIns="0" rIns="0" bIns="0" rtlCol="0" anchor="ctr"/>
          <a:lstStyle/>
          <a:p>
            <a:pPr algn="ctr" indent="0" marL="0">
              <a:buNone/>
            </a:pPr>
            <a:r>
              <a:rPr lang="en-US" sz="3200" b="1" dirty="0">
                <a:solidFill>
                  <a:schemeClr val="tx1"/>
                </a:solidFill>
                <a:latin typeface="Courier New" pitchFamily="34" charset="0"/>
                <a:ea typeface="Courier New" pitchFamily="34" charset="-122"/>
                <a:cs typeface="Courier New" pitchFamily="34" charset="-120"/>
              </a:rPr>
              <a:t>.</a:t>
            </a:r>
            <a:endParaRPr lang="en-US" sz="3200" dirty="0"/>
          </a:p>
        </p:txBody>
      </p:sp>
      <p:sp>
        <p:nvSpPr>
          <p:cNvPr id="20" name="ASCII tile ."/>
          <p:cNvSpPr/>
          <p:nvPr/>
        </p:nvSpPr>
        <p:spPr>
          <a:xfrm>
            <a:off x="5404104" y="2926080"/>
            <a:ext cx="1371600" cy="457200"/>
          </a:xfrm>
          <a:prstGeom prst="roundRect">
            <a:avLst>
              <a:gd name="adj" fmla="val 16000"/>
            </a:avLst>
          </a:prstGeom>
          <a:solidFill>
            <a:schemeClr val="tx1"/>
          </a:solidFill>
          <a:ln/>
        </p:spPr>
      </p:sp>
      <p:sp>
        <p:nvSpPr>
          <p:cNvPr id="21" name="Text 18"/>
          <p:cNvSpPr txBox="1"/>
          <p:nvPr/>
        </p:nvSpPr>
        <p:spPr>
          <a:xfrm>
            <a:off x="5404104" y="2926080"/>
            <a:ext cx="1371600" cy="457200"/>
          </a:xfrm>
          <a:prstGeom prst="rect">
            <a:avLst/>
          </a:prstGeom>
          <a:noFill/>
          <a:ln/>
        </p:spPr>
        <p:txBody>
          <a:bodyPr wrap="square" lIns="0" tIns="0" rIns="0" bIns="0" rtlCol="0" anchor="ctr"/>
          <a:lstStyle/>
          <a:p>
            <a:pPr algn="ctr" indent="0" marL="0">
              <a:buNone/>
            </a:pPr>
            <a:r>
              <a:rPr lang="en-US" sz="2000" b="1" dirty="0">
                <a:solidFill>
                  <a:schemeClr val="accent1"/>
                </a:solidFill>
              </a:rPr>
              <a:t>46</a:t>
            </a:r>
            <a:endParaRPr lang="en-US" sz="2000" dirty="0"/>
          </a:p>
        </p:txBody>
      </p:sp>
      <p:sp>
        <p:nvSpPr>
          <p:cNvPr id="22" name="Char tile t"/>
          <p:cNvSpPr/>
          <p:nvPr/>
        </p:nvSpPr>
        <p:spPr>
          <a:xfrm>
            <a:off x="7022592" y="2103120"/>
            <a:ext cx="1371600" cy="777240"/>
          </a:xfrm>
          <a:prstGeom prst="roundRect">
            <a:avLst>
              <a:gd name="adj" fmla="val 14118"/>
            </a:avLst>
          </a:prstGeom>
          <a:solidFill>
            <a:schemeClr val="bg1"/>
          </a:solidFill>
          <a:ln/>
          <a:effectLst>
            <a:outerShdw sx="100000" sy="100000" kx="0" ky="0" algn="bl" rotWithShape="0" blurRad="127000" dist="25400" dir="5400000">
              <a:srgbClr val="0B1320">
                <a:alpha val="10000"/>
              </a:srgbClr>
            </a:outerShdw>
          </a:effectLst>
        </p:spPr>
      </p:sp>
      <p:sp>
        <p:nvSpPr>
          <p:cNvPr id="23" name="Text 20"/>
          <p:cNvSpPr txBox="1"/>
          <p:nvPr/>
        </p:nvSpPr>
        <p:spPr>
          <a:xfrm>
            <a:off x="7022592" y="2103120"/>
            <a:ext cx="1371600" cy="777240"/>
          </a:xfrm>
          <a:prstGeom prst="rect">
            <a:avLst/>
          </a:prstGeom>
          <a:noFill/>
          <a:ln/>
        </p:spPr>
        <p:txBody>
          <a:bodyPr wrap="square" lIns="0" tIns="0" rIns="0" bIns="0" rtlCol="0" anchor="ctr"/>
          <a:lstStyle/>
          <a:p>
            <a:pPr algn="ctr" indent="0" marL="0">
              <a:buNone/>
            </a:pPr>
            <a:r>
              <a:rPr lang="en-US" sz="3200" b="1" dirty="0">
                <a:solidFill>
                  <a:schemeClr val="tx1"/>
                </a:solidFill>
                <a:latin typeface="Courier New" pitchFamily="34" charset="0"/>
                <a:ea typeface="Courier New" pitchFamily="34" charset="-122"/>
                <a:cs typeface="Courier New" pitchFamily="34" charset="-120"/>
              </a:rPr>
              <a:t>t</a:t>
            </a:r>
            <a:endParaRPr lang="en-US" sz="3200" dirty="0"/>
          </a:p>
        </p:txBody>
      </p:sp>
      <p:sp>
        <p:nvSpPr>
          <p:cNvPr id="24" name="ASCII tile t"/>
          <p:cNvSpPr/>
          <p:nvPr/>
        </p:nvSpPr>
        <p:spPr>
          <a:xfrm>
            <a:off x="7022592" y="2926080"/>
            <a:ext cx="1371600" cy="457200"/>
          </a:xfrm>
          <a:prstGeom prst="roundRect">
            <a:avLst>
              <a:gd name="adj" fmla="val 16000"/>
            </a:avLst>
          </a:prstGeom>
          <a:solidFill>
            <a:schemeClr val="tx1"/>
          </a:solidFill>
          <a:ln/>
        </p:spPr>
      </p:sp>
      <p:sp>
        <p:nvSpPr>
          <p:cNvPr id="25" name="Text 22"/>
          <p:cNvSpPr txBox="1"/>
          <p:nvPr/>
        </p:nvSpPr>
        <p:spPr>
          <a:xfrm>
            <a:off x="7022592" y="2926080"/>
            <a:ext cx="1371600" cy="457200"/>
          </a:xfrm>
          <a:prstGeom prst="rect">
            <a:avLst/>
          </a:prstGeom>
          <a:noFill/>
          <a:ln/>
        </p:spPr>
        <p:txBody>
          <a:bodyPr wrap="square" lIns="0" tIns="0" rIns="0" bIns="0" rtlCol="0" anchor="ctr"/>
          <a:lstStyle/>
          <a:p>
            <a:pPr algn="ctr" indent="0" marL="0">
              <a:buNone/>
            </a:pPr>
            <a:r>
              <a:rPr lang="en-US" sz="2000" b="1" dirty="0">
                <a:solidFill>
                  <a:schemeClr val="accent1"/>
                </a:solidFill>
              </a:rPr>
              <a:t>116</a:t>
            </a:r>
            <a:endParaRPr lang="en-US" sz="2000" dirty="0"/>
          </a:p>
        </p:txBody>
      </p:sp>
      <p:sp>
        <p:nvSpPr>
          <p:cNvPr id="26" name="Char tile x"/>
          <p:cNvSpPr/>
          <p:nvPr/>
        </p:nvSpPr>
        <p:spPr>
          <a:xfrm>
            <a:off x="8641080" y="2103120"/>
            <a:ext cx="1371600" cy="777240"/>
          </a:xfrm>
          <a:prstGeom prst="roundRect">
            <a:avLst>
              <a:gd name="adj" fmla="val 14118"/>
            </a:avLst>
          </a:prstGeom>
          <a:solidFill>
            <a:schemeClr val="bg1"/>
          </a:solidFill>
          <a:ln/>
          <a:effectLst>
            <a:outerShdw sx="100000" sy="100000" kx="0" ky="0" algn="bl" rotWithShape="0" blurRad="127000" dist="25400" dir="5400000">
              <a:srgbClr val="0B1320">
                <a:alpha val="10000"/>
              </a:srgbClr>
            </a:outerShdw>
          </a:effectLst>
        </p:spPr>
      </p:sp>
      <p:sp>
        <p:nvSpPr>
          <p:cNvPr id="27" name="Text 24"/>
          <p:cNvSpPr txBox="1"/>
          <p:nvPr/>
        </p:nvSpPr>
        <p:spPr>
          <a:xfrm>
            <a:off x="8641080" y="2103120"/>
            <a:ext cx="1371600" cy="777240"/>
          </a:xfrm>
          <a:prstGeom prst="rect">
            <a:avLst/>
          </a:prstGeom>
          <a:noFill/>
          <a:ln/>
        </p:spPr>
        <p:txBody>
          <a:bodyPr wrap="square" lIns="0" tIns="0" rIns="0" bIns="0" rtlCol="0" anchor="ctr"/>
          <a:lstStyle/>
          <a:p>
            <a:pPr algn="ctr" indent="0" marL="0">
              <a:buNone/>
            </a:pPr>
            <a:r>
              <a:rPr lang="en-US" sz="3200" b="1" dirty="0">
                <a:solidFill>
                  <a:schemeClr val="tx1"/>
                </a:solidFill>
                <a:latin typeface="Courier New" pitchFamily="34" charset="0"/>
                <a:ea typeface="Courier New" pitchFamily="34" charset="-122"/>
                <a:cs typeface="Courier New" pitchFamily="34" charset="-120"/>
              </a:rPr>
              <a:t>x</a:t>
            </a:r>
            <a:endParaRPr lang="en-US" sz="3200" dirty="0"/>
          </a:p>
        </p:txBody>
      </p:sp>
      <p:sp>
        <p:nvSpPr>
          <p:cNvPr id="28" name="ASCII tile x"/>
          <p:cNvSpPr/>
          <p:nvPr/>
        </p:nvSpPr>
        <p:spPr>
          <a:xfrm>
            <a:off x="8641080" y="2926080"/>
            <a:ext cx="1371600" cy="457200"/>
          </a:xfrm>
          <a:prstGeom prst="roundRect">
            <a:avLst>
              <a:gd name="adj" fmla="val 16000"/>
            </a:avLst>
          </a:prstGeom>
          <a:solidFill>
            <a:schemeClr val="tx1"/>
          </a:solidFill>
          <a:ln/>
        </p:spPr>
      </p:sp>
      <p:sp>
        <p:nvSpPr>
          <p:cNvPr id="29" name="Text 26"/>
          <p:cNvSpPr txBox="1"/>
          <p:nvPr/>
        </p:nvSpPr>
        <p:spPr>
          <a:xfrm>
            <a:off x="8641080" y="2926080"/>
            <a:ext cx="1371600" cy="457200"/>
          </a:xfrm>
          <a:prstGeom prst="rect">
            <a:avLst/>
          </a:prstGeom>
          <a:noFill/>
          <a:ln/>
        </p:spPr>
        <p:txBody>
          <a:bodyPr wrap="square" lIns="0" tIns="0" rIns="0" bIns="0" rtlCol="0" anchor="ctr"/>
          <a:lstStyle/>
          <a:p>
            <a:pPr algn="ctr" indent="0" marL="0">
              <a:buNone/>
            </a:pPr>
            <a:r>
              <a:rPr lang="en-US" sz="2000" b="1" dirty="0">
                <a:solidFill>
                  <a:schemeClr val="accent1"/>
                </a:solidFill>
              </a:rPr>
              <a:t>120</a:t>
            </a:r>
            <a:endParaRPr lang="en-US" sz="2000" dirty="0"/>
          </a:p>
        </p:txBody>
      </p:sp>
      <p:sp>
        <p:nvSpPr>
          <p:cNvPr id="30" name="Char tile t"/>
          <p:cNvSpPr/>
          <p:nvPr/>
        </p:nvSpPr>
        <p:spPr>
          <a:xfrm>
            <a:off x="10259568" y="2103120"/>
            <a:ext cx="1371600" cy="777240"/>
          </a:xfrm>
          <a:prstGeom prst="roundRect">
            <a:avLst>
              <a:gd name="adj" fmla="val 14118"/>
            </a:avLst>
          </a:prstGeom>
          <a:solidFill>
            <a:schemeClr val="bg1"/>
          </a:solidFill>
          <a:ln/>
          <a:effectLst>
            <a:outerShdw sx="100000" sy="100000" kx="0" ky="0" algn="bl" rotWithShape="0" blurRad="127000" dist="25400" dir="5400000">
              <a:srgbClr val="0B1320">
                <a:alpha val="10000"/>
              </a:srgbClr>
            </a:outerShdw>
          </a:effectLst>
        </p:spPr>
      </p:sp>
      <p:sp>
        <p:nvSpPr>
          <p:cNvPr id="31" name="Text 28"/>
          <p:cNvSpPr txBox="1"/>
          <p:nvPr/>
        </p:nvSpPr>
        <p:spPr>
          <a:xfrm>
            <a:off x="10259568" y="2103120"/>
            <a:ext cx="1371600" cy="777240"/>
          </a:xfrm>
          <a:prstGeom prst="rect">
            <a:avLst/>
          </a:prstGeom>
          <a:noFill/>
          <a:ln/>
        </p:spPr>
        <p:txBody>
          <a:bodyPr wrap="square" lIns="0" tIns="0" rIns="0" bIns="0" rtlCol="0" anchor="ctr"/>
          <a:lstStyle/>
          <a:p>
            <a:pPr algn="ctr" indent="0" marL="0">
              <a:buNone/>
            </a:pPr>
            <a:r>
              <a:rPr lang="en-US" sz="3200" b="1" dirty="0">
                <a:solidFill>
                  <a:schemeClr val="tx1"/>
                </a:solidFill>
                <a:latin typeface="Courier New" pitchFamily="34" charset="0"/>
                <a:ea typeface="Courier New" pitchFamily="34" charset="-122"/>
                <a:cs typeface="Courier New" pitchFamily="34" charset="-120"/>
              </a:rPr>
              <a:t>t</a:t>
            </a:r>
            <a:endParaRPr lang="en-US" sz="3200" dirty="0"/>
          </a:p>
        </p:txBody>
      </p:sp>
      <p:sp>
        <p:nvSpPr>
          <p:cNvPr id="32" name="ASCII tile t"/>
          <p:cNvSpPr/>
          <p:nvPr/>
        </p:nvSpPr>
        <p:spPr>
          <a:xfrm>
            <a:off x="10259568" y="2926080"/>
            <a:ext cx="1371600" cy="457200"/>
          </a:xfrm>
          <a:prstGeom prst="roundRect">
            <a:avLst>
              <a:gd name="adj" fmla="val 16000"/>
            </a:avLst>
          </a:prstGeom>
          <a:solidFill>
            <a:schemeClr val="tx1"/>
          </a:solidFill>
          <a:ln/>
        </p:spPr>
      </p:sp>
      <p:sp>
        <p:nvSpPr>
          <p:cNvPr id="33" name="Text 30"/>
          <p:cNvSpPr txBox="1"/>
          <p:nvPr/>
        </p:nvSpPr>
        <p:spPr>
          <a:xfrm>
            <a:off x="10259568" y="2926080"/>
            <a:ext cx="1371600" cy="457200"/>
          </a:xfrm>
          <a:prstGeom prst="rect">
            <a:avLst/>
          </a:prstGeom>
          <a:noFill/>
          <a:ln/>
        </p:spPr>
        <p:txBody>
          <a:bodyPr wrap="square" lIns="0" tIns="0" rIns="0" bIns="0" rtlCol="0" anchor="ctr"/>
          <a:lstStyle/>
          <a:p>
            <a:pPr algn="ctr" indent="0" marL="0">
              <a:buNone/>
            </a:pPr>
            <a:r>
              <a:rPr lang="en-US" sz="2000" b="1" dirty="0">
                <a:solidFill>
                  <a:schemeClr val="accent1"/>
                </a:solidFill>
              </a:rPr>
              <a:t>116</a:t>
            </a:r>
            <a:endParaRPr lang="en-US" sz="2000" dirty="0"/>
          </a:p>
        </p:txBody>
      </p:sp>
      <p:sp>
        <p:nvSpPr>
          <p:cNvPr id="34" name="Pipeline step 1"/>
          <p:cNvSpPr/>
          <p:nvPr/>
        </p:nvSpPr>
        <p:spPr>
          <a:xfrm>
            <a:off x="548640" y="3749040"/>
            <a:ext cx="2331720" cy="1188720"/>
          </a:xfrm>
          <a:prstGeom prst="roundRect">
            <a:avLst>
              <a:gd name="adj" fmla="val 9231"/>
            </a:avLst>
          </a:prstGeom>
          <a:solidFill>
            <a:schemeClr val="bg1"/>
          </a:solidFill>
          <a:ln/>
          <a:effectLst>
            <a:outerShdw sx="100000" sy="100000" kx="0" ky="0" algn="bl" rotWithShape="0" blurRad="127000" dist="25400" dir="5400000">
              <a:srgbClr val="0B1320">
                <a:alpha val="10000"/>
              </a:srgbClr>
            </a:outerShdw>
          </a:effectLst>
        </p:spPr>
      </p:sp>
      <p:sp>
        <p:nvSpPr>
          <p:cNvPr id="35" name="Text 32"/>
          <p:cNvSpPr txBox="1"/>
          <p:nvPr/>
        </p:nvSpPr>
        <p:spPr>
          <a:xfrm>
            <a:off x="777240" y="3904488"/>
            <a:ext cx="1920240" cy="274320"/>
          </a:xfrm>
          <a:prstGeom prst="rect">
            <a:avLst/>
          </a:prstGeom>
          <a:noFill/>
          <a:ln/>
        </p:spPr>
        <p:txBody>
          <a:bodyPr wrap="square" lIns="0" tIns="0" rIns="0" bIns="0" rtlCol="0" anchor="t"/>
          <a:lstStyle/>
          <a:p>
            <a:pPr indent="0" marL="0">
              <a:buNone/>
            </a:pPr>
            <a:r>
              <a:rPr lang="en-US" sz="1400" b="1" dirty="0">
                <a:solidFill>
                  <a:schemeClr val="accent5"/>
                </a:solidFill>
              </a:rPr>
              <a:t>Sum of ASCII codes</a:t>
            </a:r>
            <a:endParaRPr lang="en-US" sz="1400" dirty="0"/>
          </a:p>
        </p:txBody>
      </p:sp>
      <p:sp>
        <p:nvSpPr>
          <p:cNvPr id="36" name="Text 33"/>
          <p:cNvSpPr txBox="1"/>
          <p:nvPr/>
        </p:nvSpPr>
        <p:spPr>
          <a:xfrm>
            <a:off x="777240" y="4224528"/>
            <a:ext cx="1920240" cy="594360"/>
          </a:xfrm>
          <a:prstGeom prst="rect">
            <a:avLst/>
          </a:prstGeom>
          <a:noFill/>
          <a:ln/>
        </p:spPr>
        <p:txBody>
          <a:bodyPr wrap="square" lIns="0" tIns="0" rIns="0" bIns="0" rtlCol="0" anchor="ctr"/>
          <a:lstStyle/>
          <a:p>
            <a:pPr indent="0" marL="0">
              <a:buNone/>
            </a:pPr>
            <a:r>
              <a:rPr lang="en-US" sz="3600" b="1" dirty="0">
                <a:solidFill>
                  <a:schemeClr val="tx1"/>
                </a:solidFill>
                <a:latin typeface="+mj-lt" pitchFamily="34" charset="0"/>
                <a:ea typeface="+mj-lt" pitchFamily="34" charset="-122"/>
                <a:cs typeface="+mj-lt" pitchFamily="34" charset="-120"/>
              </a:rPr>
              <a:t>720</a:t>
            </a:r>
            <a:endParaRPr lang="en-US" sz="3600" dirty="0"/>
          </a:p>
        </p:txBody>
      </p:sp>
      <p:sp>
        <p:nvSpPr>
          <p:cNvPr id="37" name="Shape 34"/>
          <p:cNvSpPr/>
          <p:nvPr/>
        </p:nvSpPr>
        <p:spPr>
          <a:xfrm>
            <a:off x="2880360" y="4343400"/>
            <a:ext cx="585216" cy="0"/>
          </a:xfrm>
          <a:prstGeom prst="line">
            <a:avLst/>
          </a:prstGeom>
          <a:noFill/>
          <a:ln w="25400">
            <a:solidFill>
              <a:schemeClr val="tx1"/>
            </a:solidFill>
            <a:prstDash val="solid"/>
            <a:tailEnd type="triangle"/>
          </a:ln>
        </p:spPr>
      </p:sp>
      <p:sp>
        <p:nvSpPr>
          <p:cNvPr id="38" name="Pipeline step 2"/>
          <p:cNvSpPr/>
          <p:nvPr/>
        </p:nvSpPr>
        <p:spPr>
          <a:xfrm>
            <a:off x="3465576" y="3749040"/>
            <a:ext cx="2331720" cy="1188720"/>
          </a:xfrm>
          <a:prstGeom prst="roundRect">
            <a:avLst>
              <a:gd name="adj" fmla="val 9231"/>
            </a:avLst>
          </a:prstGeom>
          <a:solidFill>
            <a:schemeClr val="bg1"/>
          </a:solidFill>
          <a:ln/>
          <a:effectLst>
            <a:outerShdw sx="100000" sy="100000" kx="0" ky="0" algn="bl" rotWithShape="0" blurRad="127000" dist="25400" dir="5400000">
              <a:srgbClr val="0B1320">
                <a:alpha val="10000"/>
              </a:srgbClr>
            </a:outerShdw>
          </a:effectLst>
        </p:spPr>
      </p:sp>
      <p:sp>
        <p:nvSpPr>
          <p:cNvPr id="39" name="Text 36"/>
          <p:cNvSpPr txBox="1"/>
          <p:nvPr/>
        </p:nvSpPr>
        <p:spPr>
          <a:xfrm>
            <a:off x="3694176" y="3904488"/>
            <a:ext cx="1920240" cy="274320"/>
          </a:xfrm>
          <a:prstGeom prst="rect">
            <a:avLst/>
          </a:prstGeom>
          <a:noFill/>
          <a:ln/>
        </p:spPr>
        <p:txBody>
          <a:bodyPr wrap="square" lIns="0" tIns="0" rIns="0" bIns="0" rtlCol="0" anchor="t"/>
          <a:lstStyle/>
          <a:p>
            <a:pPr indent="0" marL="0">
              <a:buNone/>
            </a:pPr>
            <a:r>
              <a:rPr lang="en-US" sz="1400" b="1" dirty="0">
                <a:solidFill>
                  <a:schemeClr val="accent5"/>
                </a:solidFill>
              </a:rPr>
              <a:t>Multiply by 7</a:t>
            </a:r>
            <a:endParaRPr lang="en-US" sz="1400" dirty="0"/>
          </a:p>
        </p:txBody>
      </p:sp>
      <p:sp>
        <p:nvSpPr>
          <p:cNvPr id="40" name="Text 37"/>
          <p:cNvSpPr txBox="1"/>
          <p:nvPr/>
        </p:nvSpPr>
        <p:spPr>
          <a:xfrm>
            <a:off x="3694176" y="4224528"/>
            <a:ext cx="1920240" cy="594360"/>
          </a:xfrm>
          <a:prstGeom prst="rect">
            <a:avLst/>
          </a:prstGeom>
          <a:noFill/>
          <a:ln/>
        </p:spPr>
        <p:txBody>
          <a:bodyPr wrap="square" lIns="0" tIns="0" rIns="0" bIns="0" rtlCol="0" anchor="ctr"/>
          <a:lstStyle/>
          <a:p>
            <a:pPr indent="0" marL="0">
              <a:buNone/>
            </a:pPr>
            <a:r>
              <a:rPr lang="en-US" sz="3600" b="1" dirty="0">
                <a:solidFill>
                  <a:schemeClr val="tx1"/>
                </a:solidFill>
                <a:latin typeface="+mj-lt" pitchFamily="34" charset="0"/>
                <a:ea typeface="+mj-lt" pitchFamily="34" charset="-122"/>
                <a:cs typeface="+mj-lt" pitchFamily="34" charset="-120"/>
              </a:rPr>
              <a:t>5,040</a:t>
            </a:r>
            <a:endParaRPr lang="en-US" sz="3600" dirty="0"/>
          </a:p>
        </p:txBody>
      </p:sp>
      <p:sp>
        <p:nvSpPr>
          <p:cNvPr id="41" name="Shape 38"/>
          <p:cNvSpPr/>
          <p:nvPr/>
        </p:nvSpPr>
        <p:spPr>
          <a:xfrm>
            <a:off x="5797296" y="4343400"/>
            <a:ext cx="585216" cy="0"/>
          </a:xfrm>
          <a:prstGeom prst="line">
            <a:avLst/>
          </a:prstGeom>
          <a:noFill/>
          <a:ln w="25400">
            <a:solidFill>
              <a:schemeClr val="tx1"/>
            </a:solidFill>
            <a:prstDash val="solid"/>
            <a:tailEnd type="triangle"/>
          </a:ln>
        </p:spPr>
      </p:sp>
      <p:sp>
        <p:nvSpPr>
          <p:cNvPr id="42" name="Pipeline step 3"/>
          <p:cNvSpPr/>
          <p:nvPr/>
        </p:nvSpPr>
        <p:spPr>
          <a:xfrm>
            <a:off x="6382512" y="3749040"/>
            <a:ext cx="2331720" cy="1188720"/>
          </a:xfrm>
          <a:prstGeom prst="roundRect">
            <a:avLst>
              <a:gd name="adj" fmla="val 9231"/>
            </a:avLst>
          </a:prstGeom>
          <a:solidFill>
            <a:schemeClr val="bg1"/>
          </a:solidFill>
          <a:ln/>
          <a:effectLst>
            <a:outerShdw sx="100000" sy="100000" kx="0" ky="0" algn="bl" rotWithShape="0" blurRad="127000" dist="25400" dir="5400000">
              <a:srgbClr val="0B1320">
                <a:alpha val="10000"/>
              </a:srgbClr>
            </a:outerShdw>
          </a:effectLst>
        </p:spPr>
      </p:sp>
      <p:sp>
        <p:nvSpPr>
          <p:cNvPr id="43" name="Text 40"/>
          <p:cNvSpPr txBox="1"/>
          <p:nvPr/>
        </p:nvSpPr>
        <p:spPr>
          <a:xfrm>
            <a:off x="6611112" y="3904488"/>
            <a:ext cx="1920240" cy="274320"/>
          </a:xfrm>
          <a:prstGeom prst="rect">
            <a:avLst/>
          </a:prstGeom>
          <a:noFill/>
          <a:ln/>
        </p:spPr>
        <p:txBody>
          <a:bodyPr wrap="square" lIns="0" tIns="0" rIns="0" bIns="0" rtlCol="0" anchor="t"/>
          <a:lstStyle/>
          <a:p>
            <a:pPr indent="0" marL="0">
              <a:buNone/>
            </a:pPr>
            <a:r>
              <a:rPr lang="en-US" sz="1400" b="1" dirty="0">
                <a:solidFill>
                  <a:schemeClr val="accent5"/>
                </a:solidFill>
              </a:rPr>
              <a:t>Add 31</a:t>
            </a:r>
            <a:endParaRPr lang="en-US" sz="1400" dirty="0"/>
          </a:p>
        </p:txBody>
      </p:sp>
      <p:sp>
        <p:nvSpPr>
          <p:cNvPr id="44" name="Text 41"/>
          <p:cNvSpPr txBox="1"/>
          <p:nvPr/>
        </p:nvSpPr>
        <p:spPr>
          <a:xfrm>
            <a:off x="6611112" y="4224528"/>
            <a:ext cx="1920240" cy="594360"/>
          </a:xfrm>
          <a:prstGeom prst="rect">
            <a:avLst/>
          </a:prstGeom>
          <a:noFill/>
          <a:ln/>
        </p:spPr>
        <p:txBody>
          <a:bodyPr wrap="square" lIns="0" tIns="0" rIns="0" bIns="0" rtlCol="0" anchor="ctr"/>
          <a:lstStyle/>
          <a:p>
            <a:pPr indent="0" marL="0">
              <a:buNone/>
            </a:pPr>
            <a:r>
              <a:rPr lang="en-US" sz="3600" b="1" dirty="0">
                <a:solidFill>
                  <a:schemeClr val="tx1"/>
                </a:solidFill>
                <a:latin typeface="+mj-lt" pitchFamily="34" charset="0"/>
                <a:ea typeface="+mj-lt" pitchFamily="34" charset="-122"/>
                <a:cs typeface="+mj-lt" pitchFamily="34" charset="-120"/>
              </a:rPr>
              <a:t>5,071</a:t>
            </a:r>
            <a:endParaRPr lang="en-US" sz="3600" dirty="0"/>
          </a:p>
        </p:txBody>
      </p:sp>
      <p:sp>
        <p:nvSpPr>
          <p:cNvPr id="45" name="Shape 42"/>
          <p:cNvSpPr/>
          <p:nvPr/>
        </p:nvSpPr>
        <p:spPr>
          <a:xfrm>
            <a:off x="8714232" y="4343400"/>
            <a:ext cx="585216" cy="0"/>
          </a:xfrm>
          <a:prstGeom prst="line">
            <a:avLst/>
          </a:prstGeom>
          <a:noFill/>
          <a:ln w="25400">
            <a:solidFill>
              <a:schemeClr val="tx1"/>
            </a:solidFill>
            <a:prstDash val="solid"/>
            <a:tailEnd type="triangle"/>
          </a:ln>
        </p:spPr>
      </p:sp>
      <p:sp>
        <p:nvSpPr>
          <p:cNvPr id="46" name="Pipeline step 4"/>
          <p:cNvSpPr/>
          <p:nvPr/>
        </p:nvSpPr>
        <p:spPr>
          <a:xfrm>
            <a:off x="9299448" y="3749040"/>
            <a:ext cx="2331720" cy="1188720"/>
          </a:xfrm>
          <a:prstGeom prst="roundRect">
            <a:avLst>
              <a:gd name="adj" fmla="val 9231"/>
            </a:avLst>
          </a:prstGeom>
          <a:solidFill>
            <a:schemeClr val="tx1"/>
          </a:solidFill>
          <a:ln/>
        </p:spPr>
      </p:sp>
      <p:sp>
        <p:nvSpPr>
          <p:cNvPr id="47" name="Text 44"/>
          <p:cNvSpPr txBox="1"/>
          <p:nvPr/>
        </p:nvSpPr>
        <p:spPr>
          <a:xfrm>
            <a:off x="9528048" y="3904488"/>
            <a:ext cx="1920240" cy="274320"/>
          </a:xfrm>
          <a:prstGeom prst="rect">
            <a:avLst/>
          </a:prstGeom>
          <a:noFill/>
          <a:ln/>
        </p:spPr>
        <p:txBody>
          <a:bodyPr wrap="square" lIns="0" tIns="0" rIns="0" bIns="0" rtlCol="0" anchor="t"/>
          <a:lstStyle/>
          <a:p>
            <a:pPr indent="0" marL="0">
              <a:buNone/>
            </a:pPr>
            <a:r>
              <a:rPr lang="en-US" sz="1400" b="1" dirty="0">
                <a:solidFill>
                  <a:schemeClr val="accent6"/>
                </a:solidFill>
              </a:rPr>
              <a:t>Stored checksum</a:t>
            </a:r>
            <a:endParaRPr lang="en-US" sz="1400" dirty="0"/>
          </a:p>
        </p:txBody>
      </p:sp>
      <p:sp>
        <p:nvSpPr>
          <p:cNvPr id="48" name="Text 45"/>
          <p:cNvSpPr txBox="1"/>
          <p:nvPr/>
        </p:nvSpPr>
        <p:spPr>
          <a:xfrm>
            <a:off x="9528048" y="4224528"/>
            <a:ext cx="1920240" cy="594360"/>
          </a:xfrm>
          <a:prstGeom prst="rect">
            <a:avLst/>
          </a:prstGeom>
          <a:noFill/>
          <a:ln/>
        </p:spPr>
        <p:txBody>
          <a:bodyPr wrap="square" lIns="0" tIns="0" rIns="0" bIns="0" rtlCol="0" anchor="ctr"/>
          <a:lstStyle/>
          <a:p>
            <a:pPr indent="0" marL="0">
              <a:buNone/>
            </a:pPr>
            <a:r>
              <a:rPr lang="en-US" sz="3600" b="1" dirty="0">
                <a:solidFill>
                  <a:schemeClr val="accent1"/>
                </a:solidFill>
                <a:latin typeface="+mj-lt" pitchFamily="34" charset="0"/>
                <a:ea typeface="+mj-lt" pitchFamily="34" charset="-122"/>
                <a:cs typeface="+mj-lt" pitchFamily="34" charset="-120"/>
              </a:rPr>
              <a:t>5071</a:t>
            </a:r>
            <a:endParaRPr lang="en-US" sz="3600" dirty="0"/>
          </a:p>
        </p:txBody>
      </p:sp>
      <p:sp>
        <p:nvSpPr>
          <p:cNvPr id="49" name="Deterministic note"/>
          <p:cNvSpPr/>
          <p:nvPr/>
        </p:nvSpPr>
        <p:spPr>
          <a:xfrm>
            <a:off x="548640" y="5166360"/>
            <a:ext cx="5394960" cy="1005840"/>
          </a:xfrm>
          <a:prstGeom prst="roundRect">
            <a:avLst>
              <a:gd name="adj" fmla="val 10909"/>
            </a:avLst>
          </a:prstGeom>
          <a:solidFill>
            <a:schemeClr val="bg1"/>
          </a:solidFill>
          <a:ln/>
          <a:effectLst>
            <a:outerShdw sx="100000" sy="100000" kx="0" ky="0" algn="bl" rotWithShape="0" blurRad="127000" dist="25400" dir="5400000">
              <a:srgbClr val="0B1320">
                <a:alpha val="10000"/>
              </a:srgbClr>
            </a:outerShdw>
          </a:effectLst>
        </p:spPr>
      </p:sp>
      <p:sp>
        <p:nvSpPr>
          <p:cNvPr id="50" name="Deterministic badge"/>
          <p:cNvSpPr/>
          <p:nvPr/>
        </p:nvSpPr>
        <p:spPr>
          <a:xfrm>
            <a:off x="777240" y="5413248"/>
            <a:ext cx="512064" cy="512064"/>
          </a:xfrm>
          <a:prstGeom prst="ellipse">
            <a:avLst/>
          </a:prstGeom>
          <a:solidFill>
            <a:schemeClr val="tx1"/>
          </a:solidFill>
          <a:ln/>
        </p:spPr>
      </p:sp>
      <p:pic>
        <p:nvPicPr>
          <p:cNvPr id="51" name="Deterministic icon" descr="Deterministic">    </p:cNvPr>
          <p:cNvPicPr>
            <a:picLocks noChangeAspect="1"/>
          </p:cNvPicPr>
          <p:nvPr/>
        </p:nvPicPr>
        <p:blipFill>
          <a:blip r:embed="rId1"/>
          <a:stretch>
            <a:fillRect/>
          </a:stretch>
        </p:blipFill>
        <p:spPr>
          <a:xfrm>
            <a:off x="905256" y="5541264"/>
            <a:ext cx="256032" cy="256032"/>
          </a:xfrm>
          <a:prstGeom prst="rect">
            <a:avLst/>
          </a:prstGeom>
        </p:spPr>
      </p:pic>
      <p:sp>
        <p:nvSpPr>
          <p:cNvPr id="52" name="Text 48"/>
          <p:cNvSpPr txBox="1"/>
          <p:nvPr/>
        </p:nvSpPr>
        <p:spPr>
          <a:xfrm>
            <a:off x="1463040" y="5166360"/>
            <a:ext cx="4297680" cy="1005840"/>
          </a:xfrm>
          <a:prstGeom prst="rect">
            <a:avLst/>
          </a:prstGeom>
          <a:noFill/>
          <a:ln/>
        </p:spPr>
        <p:txBody>
          <a:bodyPr wrap="square" lIns="0" tIns="0" rIns="0" bIns="0" rtlCol="0" anchor="ctr"/>
          <a:lstStyle/>
          <a:p>
            <a:pPr indent="0" marL="0">
              <a:buNone/>
            </a:pPr>
            <a:r>
              <a:rPr lang="en-US" sz="1400" b="1" dirty="0">
                <a:solidFill>
                  <a:schemeClr val="tx1"/>
                </a:solidFill>
              </a:rPr>
              <a:t>Deterministic:  </a:t>
            </a:r>
            <a:pPr indent="0" marL="0">
              <a:buNone/>
            </a:pPr>
            <a:r>
              <a:rPr lang="en-US" sz="1400" dirty="0">
                <a:solidFill>
                  <a:schemeClr val="accent5"/>
                </a:solidFill>
              </a:rPr>
              <a:t>The same name always produces the same checksum, so a baseline can be compared later.</a:t>
            </a:r>
            <a:endParaRPr lang="en-US" sz="1400" dirty="0"/>
          </a:p>
        </p:txBody>
      </p:sp>
      <p:sp>
        <p:nvSpPr>
          <p:cNvPr id="53" name="Order-insensitive note"/>
          <p:cNvSpPr/>
          <p:nvPr/>
        </p:nvSpPr>
        <p:spPr>
          <a:xfrm>
            <a:off x="6245352" y="5166360"/>
            <a:ext cx="5394960" cy="1005840"/>
          </a:xfrm>
          <a:prstGeom prst="roundRect">
            <a:avLst>
              <a:gd name="adj" fmla="val 10909"/>
            </a:avLst>
          </a:prstGeom>
          <a:solidFill>
            <a:schemeClr val="bg1"/>
          </a:solidFill>
          <a:ln/>
          <a:effectLst>
            <a:outerShdw sx="100000" sy="100000" kx="0" ky="0" algn="bl" rotWithShape="0" blurRad="127000" dist="25400" dir="5400000">
              <a:srgbClr val="0B1320">
                <a:alpha val="10000"/>
              </a:srgbClr>
            </a:outerShdw>
          </a:effectLst>
        </p:spPr>
      </p:sp>
      <p:sp>
        <p:nvSpPr>
          <p:cNvPr id="54" name="Order-insensitive badge"/>
          <p:cNvSpPr/>
          <p:nvPr/>
        </p:nvSpPr>
        <p:spPr>
          <a:xfrm>
            <a:off x="6473952" y="5413248"/>
            <a:ext cx="512064" cy="512064"/>
          </a:xfrm>
          <a:prstGeom prst="ellipse">
            <a:avLst/>
          </a:prstGeom>
          <a:solidFill>
            <a:schemeClr val="tx1"/>
          </a:solidFill>
          <a:ln/>
        </p:spPr>
      </p:sp>
      <p:pic>
        <p:nvPicPr>
          <p:cNvPr id="55" name="Order-insensitive icon" descr="Order-insensitive">    </p:cNvPr>
          <p:cNvPicPr>
            <a:picLocks noChangeAspect="1"/>
          </p:cNvPicPr>
          <p:nvPr/>
        </p:nvPicPr>
        <p:blipFill>
          <a:blip r:embed="rId2"/>
          <a:stretch>
            <a:fillRect/>
          </a:stretch>
        </p:blipFill>
        <p:spPr>
          <a:xfrm>
            <a:off x="6601968" y="5541264"/>
            <a:ext cx="256032" cy="256032"/>
          </a:xfrm>
          <a:prstGeom prst="rect">
            <a:avLst/>
          </a:prstGeom>
        </p:spPr>
      </p:pic>
      <p:sp>
        <p:nvSpPr>
          <p:cNvPr id="56" name="Text 51"/>
          <p:cNvSpPr txBox="1"/>
          <p:nvPr/>
        </p:nvSpPr>
        <p:spPr>
          <a:xfrm>
            <a:off x="7159752" y="5166360"/>
            <a:ext cx="4297680" cy="1005840"/>
          </a:xfrm>
          <a:prstGeom prst="rect">
            <a:avLst/>
          </a:prstGeom>
          <a:noFill/>
          <a:ln/>
        </p:spPr>
        <p:txBody>
          <a:bodyPr wrap="square" lIns="0" tIns="0" rIns="0" bIns="0" rtlCol="0" anchor="ctr"/>
          <a:lstStyle/>
          <a:p>
            <a:pPr indent="0" marL="0">
              <a:buNone/>
            </a:pPr>
            <a:r>
              <a:rPr lang="en-US" sz="1400" b="1" dirty="0">
                <a:solidFill>
                  <a:schemeClr val="tx1"/>
                </a:solidFill>
              </a:rPr>
              <a:t>Order-insensitive:  </a:t>
            </a:r>
            <a:pPr indent="0" marL="0">
              <a:buNone/>
            </a:pPr>
            <a:r>
              <a:rPr lang="en-US" sz="1400" dirty="0">
                <a:solidFill>
                  <a:schemeClr val="accent5"/>
                </a:solidFill>
              </a:rPr>
              <a:t>Only the sum matters, so names with the same characters share a checksum (abc and cba).</a:t>
            </a:r>
            <a:endParaRPr lang="en-US" sz="1400" dirty="0"/>
          </a:p>
        </p:txBody>
      </p:sp>
      <p:sp>
        <p:nvSpPr>
          <p:cNvPr id="25" name="Slide Number Placeholder 0"/>
          <p:cNvSpPr>
            <a:spLocks noGrp="1"/>
          </p:cNvSpPr>
          <p:nvPr>
            <p:ph type="sldNum" sz="quarter" idx="4294967295"/>
          </p:nvPr>
        </p:nvSpPr>
        <p:spPr>
          <a:xfrm>
            <a:off x="10881360" y="6419088"/>
            <a:ext cx="75895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603504"/>
            <a:ext cx="11091672" cy="685800"/>
          </a:xfrm>
          <a:prstGeom prst="rect">
            <a:avLst/>
          </a:prstGeom>
          <a:noFill/>
          <a:ln/>
        </p:spPr>
        <p:txBody>
          <a:bodyPr wrap="square" lIns="0" tIns="0" rIns="0" bIns="0" rtlCol="0" anchor="ctr"/>
          <a:lstStyle/>
          <a:p>
            <a:pPr algn="l" indent="0" marL="0">
              <a:buNone/>
            </a:pPr>
            <a:r>
              <a:rPr lang="en-US" sz="3400" b="1" dirty="0">
                <a:solidFill>
                  <a:schemeClr val="tx1"/>
                </a:solidFill>
              </a:rPr>
              <a:t>Inheritance and Polymorphism</a:t>
            </a:r>
            <a:endParaRPr lang="en-US" sz="3400" dirty="0"/>
          </a:p>
        </p:txBody>
      </p:sp>
      <p:sp>
        <p:nvSpPr>
          <p:cNvPr id="3" name="Text 1"/>
          <p:cNvSpPr txBox="1"/>
          <p:nvPr/>
        </p:nvSpPr>
        <p:spPr>
          <a:xfrm>
            <a:off x="548640" y="329184"/>
            <a:ext cx="7315200" cy="237744"/>
          </a:xfrm>
          <a:prstGeom prst="rect">
            <a:avLst/>
          </a:prstGeom>
          <a:noFill/>
          <a:ln/>
        </p:spPr>
        <p:txBody>
          <a:bodyPr wrap="square" lIns="0" tIns="0" rIns="0" bIns="0" rtlCol="0" anchor="t"/>
          <a:lstStyle/>
          <a:p>
            <a:pPr indent="0" marL="0">
              <a:buNone/>
            </a:pPr>
            <a:r>
              <a:rPr lang="en-US" sz="1200" b="1" spc="300" kern="0" dirty="0">
                <a:solidFill>
                  <a:schemeClr val="accent5"/>
                </a:solidFill>
              </a:rPr>
              <a:t>RUNTIME BEHAVIOUR</a:t>
            </a:r>
            <a:endParaRPr lang="en-US" sz="1200" dirty="0"/>
          </a:p>
        </p:txBody>
      </p:sp>
      <p:sp>
        <p:nvSpPr>
          <p:cNvPr id="5" name="Code panel"/>
          <p:cNvSpPr/>
          <p:nvPr/>
        </p:nvSpPr>
        <p:spPr>
          <a:xfrm>
            <a:off x="548640" y="1691640"/>
            <a:ext cx="5669280" cy="1965960"/>
          </a:xfrm>
          <a:prstGeom prst="roundRect">
            <a:avLst>
              <a:gd name="adj" fmla="val 6512"/>
            </a:avLst>
          </a:prstGeom>
          <a:solidFill>
            <a:schemeClr val="tx1"/>
          </a:solidFill>
          <a:ln/>
        </p:spPr>
      </p:sp>
      <p:sp>
        <p:nvSpPr>
          <p:cNvPr id="6" name="Text 3"/>
          <p:cNvSpPr txBox="1"/>
          <p:nvPr/>
        </p:nvSpPr>
        <p:spPr>
          <a:xfrm>
            <a:off x="822960" y="1847088"/>
            <a:ext cx="5029200" cy="228600"/>
          </a:xfrm>
          <a:prstGeom prst="rect">
            <a:avLst/>
          </a:prstGeom>
          <a:noFill/>
          <a:ln/>
        </p:spPr>
        <p:txBody>
          <a:bodyPr wrap="square" lIns="0" tIns="0" rIns="0" bIns="0" rtlCol="0" anchor="t"/>
          <a:lstStyle/>
          <a:p>
            <a:pPr indent="0" marL="0">
              <a:buNone/>
            </a:pPr>
            <a:r>
              <a:rPr lang="en-US" sz="1100" dirty="0">
                <a:solidFill>
                  <a:schemeClr val="accent6"/>
                </a:solidFill>
                <a:latin typeface="Courier New" pitchFamily="34" charset="0"/>
                <a:ea typeface="Courier New" pitchFamily="34" charset="-122"/>
                <a:cs typeface="Courier New" pitchFamily="34" charset="-120"/>
              </a:rPr>
              <a:t>main()  ·  menu option 1</a:t>
            </a:r>
            <a:endParaRPr lang="en-US" sz="1100" dirty="0"/>
          </a:p>
        </p:txBody>
      </p:sp>
      <p:sp>
        <p:nvSpPr>
          <p:cNvPr id="7" name="Text 4"/>
          <p:cNvSpPr txBox="1"/>
          <p:nvPr/>
        </p:nvSpPr>
        <p:spPr>
          <a:xfrm>
            <a:off x="822960" y="2194560"/>
            <a:ext cx="5212080" cy="1554480"/>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ForensicsEngine *engine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new LiveLogAnalyzer(liveInput,</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baselineArtifact.getChecksum());</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engine-&gt;executeScan();   </a:t>
            </a:r>
            <a:pPr indent="0" marL="0">
              <a:buNone/>
            </a:pPr>
            <a:r>
              <a:rPr lang="en-US" sz="1400" dirty="0">
                <a:solidFill>
                  <a:schemeClr val="accent1"/>
                </a:solidFill>
                <a:latin typeface="Courier New" pitchFamily="34" charset="0"/>
                <a:ea typeface="Courier New" pitchFamily="34" charset="-122"/>
                <a:cs typeface="Courier New" pitchFamily="34" charset="-120"/>
              </a:rPr>
              <a:t>// virtual call</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delete engine;           </a:t>
            </a:r>
            <a:pPr indent="0" marL="0">
              <a:buNone/>
            </a:pPr>
            <a:r>
              <a:rPr lang="en-US" sz="1400" dirty="0">
                <a:solidFill>
                  <a:schemeClr val="accent1"/>
                </a:solidFill>
                <a:latin typeface="Courier New" pitchFamily="34" charset="0"/>
                <a:ea typeface="Courier New" pitchFamily="34" charset="-122"/>
                <a:cs typeface="Courier New" pitchFamily="34" charset="-120"/>
              </a:rPr>
              <a:t>// virtual destructor</a:t>
            </a:r>
            <a:endParaRPr lang="en-US" sz="1400" dirty="0"/>
          </a:p>
        </p:txBody>
      </p:sp>
      <p:sp>
        <p:nvSpPr>
          <p:cNvPr id="8" name="Text 5"/>
          <p:cNvSpPr txBox="1"/>
          <p:nvPr/>
        </p:nvSpPr>
        <p:spPr>
          <a:xfrm>
            <a:off x="548640" y="4023360"/>
            <a:ext cx="5669280" cy="21031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ForensicsEngine is abstract: executeScan() = 0 forces every scanner to implement it.</a:t>
            </a:r>
            <a:endParaRPr lang="en-US" sz="1600" dirty="0"/>
          </a:p>
          <a:p>
            <a:pPr marL="342900" indent="-342900">
              <a:spcAft>
                <a:spcPts val="1000"/>
              </a:spcAft>
              <a:buSzPct val="100000"/>
              <a:buChar char="•"/>
            </a:pPr>
            <a:r>
              <a:rPr lang="en-US" sz="1600" dirty="0">
                <a:solidFill>
                  <a:schemeClr val="tx1"/>
                </a:solidFill>
              </a:rPr>
              <a:t>A base-class pointer holds a LiveLogAnalyzer, so the call is resolved at run time.</a:t>
            </a:r>
            <a:endParaRPr lang="en-US" sz="1600" dirty="0"/>
          </a:p>
          <a:p>
            <a:pPr marL="342900" indent="-342900">
              <a:buSzPct val="100000"/>
              <a:buChar char="•"/>
            </a:pPr>
            <a:r>
              <a:rPr lang="en-US" sz="1600" dirty="0">
                <a:solidFill>
                  <a:schemeClr val="tx1"/>
                </a:solidFill>
              </a:rPr>
              <a:t>The virtual destructor lets delete engine clean up the derived object correctly.</a:t>
            </a:r>
            <a:endParaRPr lang="en-US" sz="1600" dirty="0"/>
          </a:p>
        </p:txBody>
      </p:sp>
      <p:sp>
        <p:nvSpPr>
          <p:cNvPr id="9" name="Text 6"/>
          <p:cNvSpPr txBox="1"/>
          <p:nvPr/>
        </p:nvSpPr>
        <p:spPr>
          <a:xfrm>
            <a:off x="6583680" y="1691640"/>
            <a:ext cx="3657600" cy="237744"/>
          </a:xfrm>
          <a:prstGeom prst="rect">
            <a:avLst/>
          </a:prstGeom>
          <a:noFill/>
          <a:ln/>
        </p:spPr>
        <p:txBody>
          <a:bodyPr wrap="square" lIns="0" tIns="0" rIns="0" bIns="0" rtlCol="0" anchor="t"/>
          <a:lstStyle/>
          <a:p>
            <a:pPr indent="0" marL="0">
              <a:buNone/>
            </a:pPr>
            <a:r>
              <a:rPr lang="en-US" sz="1200" b="1" spc="200" kern="0" dirty="0">
                <a:solidFill>
                  <a:schemeClr val="accent5"/>
                </a:solidFill>
              </a:rPr>
              <a:t>INSIDE executeScan()</a:t>
            </a:r>
            <a:endParaRPr lang="en-US" sz="1200" dirty="0"/>
          </a:p>
        </p:txBody>
      </p:sp>
      <p:sp>
        <p:nvSpPr>
          <p:cNvPr id="10" name="Decision card"/>
          <p:cNvSpPr/>
          <p:nvPr/>
        </p:nvSpPr>
        <p:spPr>
          <a:xfrm>
            <a:off x="6583680" y="2057400"/>
            <a:ext cx="5056632" cy="1005840"/>
          </a:xfrm>
          <a:prstGeom prst="roundRect">
            <a:avLst>
              <a:gd name="adj" fmla="val 10909"/>
            </a:avLst>
          </a:prstGeom>
          <a:solidFill>
            <a:schemeClr val="bg1"/>
          </a:solidFill>
          <a:ln/>
          <a:effectLst>
            <a:outerShdw sx="100000" sy="100000" kx="0" ky="0" algn="bl" rotWithShape="0" blurRad="127000" dist="25400" dir="5400000">
              <a:srgbClr val="0B1320">
                <a:alpha val="10000"/>
              </a:srgbClr>
            </a:outerShdw>
          </a:effectLst>
        </p:spPr>
      </p:sp>
      <p:sp>
        <p:nvSpPr>
          <p:cNvPr id="11" name="Text 8"/>
          <p:cNvSpPr txBox="1"/>
          <p:nvPr/>
        </p:nvSpPr>
        <p:spPr>
          <a:xfrm>
            <a:off x="6858000" y="2057400"/>
            <a:ext cx="4572000" cy="1005840"/>
          </a:xfrm>
          <a:prstGeom prst="rect">
            <a:avLst/>
          </a:prstGeom>
          <a:noFill/>
          <a:ln/>
        </p:spPr>
        <p:txBody>
          <a:bodyPr wrap="square" lIns="0" tIns="0" rIns="0" bIns="0" rtlCol="0" anchor="ctr"/>
          <a:lstStyle/>
          <a:p>
            <a:pPr indent="0" marL="0">
              <a:buNone/>
            </a:pPr>
            <a:r>
              <a:rPr lang="en-US" sz="1600" b="1" dirty="0">
                <a:solidFill>
                  <a:schemeClr val="tx1"/>
                </a:solidFill>
              </a:rPr>
              <a:t>Does the checksum equal the baseline?</a:t>
            </a:r>
            <a:endParaRPr lang="en-US" sz="1400" dirty="0"/>
          </a:p>
          <a:p>
            <a:pPr indent="0" marL="0">
              <a:buNone/>
            </a:pPr>
            <a:r>
              <a:rPr lang="en-US" sz="1200" dirty="0">
                <a:solidFill>
                  <a:schemeClr val="accent5"/>
                </a:solidFill>
                <a:latin typeface="Courier New" pitchFamily="34" charset="0"/>
                <a:ea typeface="Courier New" pitchFamily="34" charset="-122"/>
                <a:cs typeface="Courier New" pitchFamily="34" charset="-120"/>
              </a:rPr>
              <a:t>targetEvidence.getChecksum() == baselineHash</a:t>
            </a:r>
            <a:endParaRPr lang="en-US" sz="1400" dirty="0"/>
          </a:p>
        </p:txBody>
      </p:sp>
      <p:sp>
        <p:nvSpPr>
          <p:cNvPr id="12" name="Shape 9"/>
          <p:cNvSpPr/>
          <p:nvPr/>
        </p:nvSpPr>
        <p:spPr>
          <a:xfrm>
            <a:off x="7772400" y="3063240"/>
            <a:ext cx="0" cy="640080"/>
          </a:xfrm>
          <a:prstGeom prst="line">
            <a:avLst/>
          </a:prstGeom>
          <a:noFill/>
          <a:ln w="25400">
            <a:solidFill>
              <a:schemeClr val="tx1"/>
            </a:solidFill>
            <a:prstDash val="solid"/>
            <a:tailEnd type="triangle"/>
          </a:ln>
        </p:spPr>
      </p:sp>
      <p:sp>
        <p:nvSpPr>
          <p:cNvPr id="13" name="Text 10"/>
          <p:cNvSpPr txBox="1"/>
          <p:nvPr/>
        </p:nvSpPr>
        <p:spPr>
          <a:xfrm>
            <a:off x="7882128" y="3200400"/>
            <a:ext cx="1097280" cy="228600"/>
          </a:xfrm>
          <a:prstGeom prst="rect">
            <a:avLst/>
          </a:prstGeom>
          <a:noFill/>
          <a:ln/>
        </p:spPr>
        <p:txBody>
          <a:bodyPr wrap="square" lIns="0" tIns="0" rIns="0" bIns="0" rtlCol="0" anchor="t"/>
          <a:lstStyle/>
          <a:p>
            <a:pPr indent="0" marL="0">
              <a:buNone/>
            </a:pPr>
            <a:r>
              <a:rPr lang="en-US" sz="1200" dirty="0">
                <a:solidFill>
                  <a:schemeClr val="accent5"/>
                </a:solidFill>
              </a:rPr>
              <a:t>equal</a:t>
            </a:r>
            <a:endParaRPr lang="en-US" sz="1200" dirty="0"/>
          </a:p>
        </p:txBody>
      </p:sp>
      <p:sp>
        <p:nvSpPr>
          <p:cNvPr id="14" name="Status Green card"/>
          <p:cNvSpPr/>
          <p:nvPr/>
        </p:nvSpPr>
        <p:spPr>
          <a:xfrm>
            <a:off x="6583680" y="3703320"/>
            <a:ext cx="2377440" cy="2423160"/>
          </a:xfrm>
          <a:prstGeom prst="roundRect">
            <a:avLst>
              <a:gd name="adj" fmla="val 4615"/>
            </a:avLst>
          </a:prstGeom>
          <a:solidFill>
            <a:schemeClr val="bg1"/>
          </a:solidFill>
          <a:ln/>
          <a:effectLst>
            <a:outerShdw sx="100000" sy="100000" kx="0" ky="0" algn="bl" rotWithShape="0" blurRad="127000" dist="25400" dir="5400000">
              <a:srgbClr val="0B1320">
                <a:alpha val="10000"/>
              </a:srgbClr>
            </a:outerShdw>
          </a:effectLst>
        </p:spPr>
      </p:sp>
      <p:sp>
        <p:nvSpPr>
          <p:cNvPr id="15" name="Status Green badge"/>
          <p:cNvSpPr/>
          <p:nvPr/>
        </p:nvSpPr>
        <p:spPr>
          <a:xfrm>
            <a:off x="6858000" y="3931920"/>
            <a:ext cx="640080" cy="640080"/>
          </a:xfrm>
          <a:prstGeom prst="ellipse">
            <a:avLst/>
          </a:prstGeom>
          <a:solidFill>
            <a:schemeClr val="accent4"/>
          </a:solidFill>
          <a:ln/>
        </p:spPr>
      </p:sp>
      <p:pic>
        <p:nvPicPr>
          <p:cNvPr id="16" name="Status Green icon" descr="Status Green">    </p:cNvPr>
          <p:cNvPicPr>
            <a:picLocks noChangeAspect="1"/>
          </p:cNvPicPr>
          <p:nvPr/>
        </p:nvPicPr>
        <p:blipFill>
          <a:blip r:embed="rId1"/>
          <a:stretch>
            <a:fillRect/>
          </a:stretch>
        </p:blipFill>
        <p:spPr>
          <a:xfrm>
            <a:off x="7018020" y="4091940"/>
            <a:ext cx="320040" cy="320040"/>
          </a:xfrm>
          <a:prstGeom prst="rect">
            <a:avLst/>
          </a:prstGeom>
        </p:spPr>
      </p:pic>
      <p:sp>
        <p:nvSpPr>
          <p:cNvPr id="17" name="Text 13"/>
          <p:cNvSpPr txBox="1"/>
          <p:nvPr/>
        </p:nvSpPr>
        <p:spPr>
          <a:xfrm>
            <a:off x="6858000" y="4709160"/>
            <a:ext cx="1920240" cy="228600"/>
          </a:xfrm>
          <a:prstGeom prst="rect">
            <a:avLst/>
          </a:prstGeom>
          <a:noFill/>
          <a:ln/>
        </p:spPr>
        <p:txBody>
          <a:bodyPr wrap="square" lIns="0" tIns="0" rIns="0" bIns="0" rtlCol="0" anchor="t"/>
          <a:lstStyle/>
          <a:p>
            <a:pPr indent="0" marL="0">
              <a:buNone/>
            </a:pPr>
            <a:r>
              <a:rPr lang="en-US" sz="1200" b="1" dirty="0">
                <a:solidFill>
                  <a:schemeClr val="accent5"/>
                </a:solidFill>
                <a:latin typeface="Courier New" pitchFamily="34" charset="0"/>
                <a:ea typeface="Courier New" pitchFamily="34" charset="-122"/>
                <a:cs typeface="Courier New" pitchFamily="34" charset="-120"/>
              </a:rPr>
              <a:t>[SECURE]</a:t>
            </a:r>
            <a:endParaRPr lang="en-US" sz="1200" dirty="0"/>
          </a:p>
        </p:txBody>
      </p:sp>
      <p:sp>
        <p:nvSpPr>
          <p:cNvPr id="18" name="Text 14"/>
          <p:cNvSpPr txBox="1"/>
          <p:nvPr/>
        </p:nvSpPr>
        <p:spPr>
          <a:xfrm>
            <a:off x="6858000" y="4956048"/>
            <a:ext cx="1920240" cy="32004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Status Green</a:t>
            </a:r>
            <a:endParaRPr lang="en-US" sz="2000" dirty="0"/>
          </a:p>
        </p:txBody>
      </p:sp>
      <p:sp>
        <p:nvSpPr>
          <p:cNvPr id="19" name="Text 15"/>
          <p:cNvSpPr txBox="1"/>
          <p:nvPr/>
        </p:nvSpPr>
        <p:spPr>
          <a:xfrm>
            <a:off x="6858000" y="5349240"/>
            <a:ext cx="1920240" cy="685800"/>
          </a:xfrm>
          <a:prstGeom prst="rect">
            <a:avLst/>
          </a:prstGeom>
          <a:noFill/>
          <a:ln/>
        </p:spPr>
        <p:txBody>
          <a:bodyPr wrap="square" lIns="0" tIns="0" rIns="0" bIns="0" rtlCol="0" anchor="t"/>
          <a:lstStyle/>
          <a:p>
            <a:pPr indent="0" marL="0">
              <a:buNone/>
            </a:pPr>
            <a:r>
              <a:rPr lang="en-US" sz="1400" dirty="0">
                <a:solidFill>
                  <a:schemeClr val="accent5"/>
                </a:solidFill>
              </a:rPr>
              <a:t>Zero anomalies or alterations detected.</a:t>
            </a:r>
            <a:endParaRPr lang="en-US" sz="1400" dirty="0"/>
          </a:p>
        </p:txBody>
      </p:sp>
      <p:sp>
        <p:nvSpPr>
          <p:cNvPr id="20" name="Shape 16"/>
          <p:cNvSpPr/>
          <p:nvPr/>
        </p:nvSpPr>
        <p:spPr>
          <a:xfrm>
            <a:off x="10451592" y="3063240"/>
            <a:ext cx="0" cy="640080"/>
          </a:xfrm>
          <a:prstGeom prst="line">
            <a:avLst/>
          </a:prstGeom>
          <a:noFill/>
          <a:ln w="25400">
            <a:solidFill>
              <a:schemeClr val="tx1"/>
            </a:solidFill>
            <a:prstDash val="solid"/>
            <a:tailEnd type="triangle"/>
          </a:ln>
        </p:spPr>
      </p:sp>
      <p:sp>
        <p:nvSpPr>
          <p:cNvPr id="21" name="Text 17"/>
          <p:cNvSpPr txBox="1"/>
          <p:nvPr/>
        </p:nvSpPr>
        <p:spPr>
          <a:xfrm>
            <a:off x="10561320" y="3200400"/>
            <a:ext cx="1097280" cy="228600"/>
          </a:xfrm>
          <a:prstGeom prst="rect">
            <a:avLst/>
          </a:prstGeom>
          <a:noFill/>
          <a:ln/>
        </p:spPr>
        <p:txBody>
          <a:bodyPr wrap="square" lIns="0" tIns="0" rIns="0" bIns="0" rtlCol="0" anchor="t"/>
          <a:lstStyle/>
          <a:p>
            <a:pPr indent="0" marL="0">
              <a:buNone/>
            </a:pPr>
            <a:r>
              <a:rPr lang="en-US" sz="1200" dirty="0">
                <a:solidFill>
                  <a:schemeClr val="accent5"/>
                </a:solidFill>
              </a:rPr>
              <a:t>different</a:t>
            </a:r>
            <a:endParaRPr lang="en-US" sz="1200" dirty="0"/>
          </a:p>
        </p:txBody>
      </p:sp>
      <p:sp>
        <p:nvSpPr>
          <p:cNvPr id="22" name="Status Red card"/>
          <p:cNvSpPr/>
          <p:nvPr/>
        </p:nvSpPr>
        <p:spPr>
          <a:xfrm>
            <a:off x="9262872" y="3703320"/>
            <a:ext cx="2377440" cy="2423160"/>
          </a:xfrm>
          <a:prstGeom prst="roundRect">
            <a:avLst>
              <a:gd name="adj" fmla="val 4615"/>
            </a:avLst>
          </a:prstGeom>
          <a:solidFill>
            <a:schemeClr val="bg1"/>
          </a:solidFill>
          <a:ln/>
          <a:effectLst>
            <a:outerShdw sx="100000" sy="100000" kx="0" ky="0" algn="bl" rotWithShape="0" blurRad="127000" dist="25400" dir="5400000">
              <a:srgbClr val="0B1320">
                <a:alpha val="10000"/>
              </a:srgbClr>
            </a:outerShdw>
          </a:effectLst>
        </p:spPr>
      </p:sp>
      <p:sp>
        <p:nvSpPr>
          <p:cNvPr id="23" name="Status Red badge"/>
          <p:cNvSpPr/>
          <p:nvPr/>
        </p:nvSpPr>
        <p:spPr>
          <a:xfrm>
            <a:off x="9537192" y="3931920"/>
            <a:ext cx="640080" cy="640080"/>
          </a:xfrm>
          <a:prstGeom prst="ellipse">
            <a:avLst/>
          </a:prstGeom>
          <a:solidFill>
            <a:schemeClr val="accent3"/>
          </a:solidFill>
          <a:ln/>
        </p:spPr>
      </p:sp>
      <p:pic>
        <p:nvPicPr>
          <p:cNvPr id="24" name="Status Red icon" descr="Status Red">    </p:cNvPr>
          <p:cNvPicPr>
            <a:picLocks noChangeAspect="1"/>
          </p:cNvPicPr>
          <p:nvPr/>
        </p:nvPicPr>
        <p:blipFill>
          <a:blip r:embed="rId2"/>
          <a:stretch>
            <a:fillRect/>
          </a:stretch>
        </p:blipFill>
        <p:spPr>
          <a:xfrm>
            <a:off x="9697212" y="4091940"/>
            <a:ext cx="320040" cy="320040"/>
          </a:xfrm>
          <a:prstGeom prst="rect">
            <a:avLst/>
          </a:prstGeom>
        </p:spPr>
      </p:pic>
      <p:sp>
        <p:nvSpPr>
          <p:cNvPr id="25" name="Text 20"/>
          <p:cNvSpPr txBox="1"/>
          <p:nvPr/>
        </p:nvSpPr>
        <p:spPr>
          <a:xfrm>
            <a:off x="9537192" y="4709160"/>
            <a:ext cx="1920240" cy="228600"/>
          </a:xfrm>
          <a:prstGeom prst="rect">
            <a:avLst/>
          </a:prstGeom>
          <a:noFill/>
          <a:ln/>
        </p:spPr>
        <p:txBody>
          <a:bodyPr wrap="square" lIns="0" tIns="0" rIns="0" bIns="0" rtlCol="0" anchor="t"/>
          <a:lstStyle/>
          <a:p>
            <a:pPr indent="0" marL="0">
              <a:buNone/>
            </a:pPr>
            <a:r>
              <a:rPr lang="en-US" sz="1200" b="1" dirty="0">
                <a:solidFill>
                  <a:schemeClr val="accent5"/>
                </a:solidFill>
                <a:latin typeface="Courier New" pitchFamily="34" charset="0"/>
                <a:ea typeface="Courier New" pitchFamily="34" charset="-122"/>
                <a:cs typeface="Courier New" pitchFamily="34" charset="-120"/>
              </a:rPr>
              <a:t>[CRITICAL]</a:t>
            </a:r>
            <a:endParaRPr lang="en-US" sz="1200" dirty="0"/>
          </a:p>
        </p:txBody>
      </p:sp>
      <p:sp>
        <p:nvSpPr>
          <p:cNvPr id="26" name="Text 21"/>
          <p:cNvSpPr txBox="1"/>
          <p:nvPr/>
        </p:nvSpPr>
        <p:spPr>
          <a:xfrm>
            <a:off x="9537192" y="4956048"/>
            <a:ext cx="1920240" cy="32004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Status Red</a:t>
            </a:r>
            <a:endParaRPr lang="en-US" sz="2000" dirty="0"/>
          </a:p>
        </p:txBody>
      </p:sp>
      <p:sp>
        <p:nvSpPr>
          <p:cNvPr id="27" name="Text 22"/>
          <p:cNvSpPr txBox="1"/>
          <p:nvPr/>
        </p:nvSpPr>
        <p:spPr>
          <a:xfrm>
            <a:off x="9537192" y="5349240"/>
            <a:ext cx="1920240" cy="685800"/>
          </a:xfrm>
          <a:prstGeom prst="rect">
            <a:avLst/>
          </a:prstGeom>
          <a:noFill/>
          <a:ln/>
        </p:spPr>
        <p:txBody>
          <a:bodyPr wrap="square" lIns="0" tIns="0" rIns="0" bIns="0" rtlCol="0" anchor="t"/>
          <a:lstStyle/>
          <a:p>
            <a:pPr indent="0" marL="0">
              <a:buNone/>
            </a:pPr>
            <a:r>
              <a:rPr lang="en-US" sz="1400" dirty="0">
                <a:solidFill>
                  <a:schemeClr val="accent5"/>
                </a:solidFill>
              </a:rPr>
              <a:t>Tampering identified! Checksum mismatch.</a:t>
            </a:r>
            <a:endParaRPr lang="en-US" sz="1400" dirty="0"/>
          </a:p>
        </p:txBody>
      </p:sp>
      <p:sp>
        <p:nvSpPr>
          <p:cNvPr id="25" name="Slide Number Placeholder 0"/>
          <p:cNvSpPr>
            <a:spLocks noGrp="1"/>
          </p:cNvSpPr>
          <p:nvPr>
            <p:ph type="sldNum" sz="quarter" idx="4294967295"/>
          </p:nvPr>
        </p:nvSpPr>
        <p:spPr>
          <a:xfrm>
            <a:off x="10881360" y="6419088"/>
            <a:ext cx="75895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603504"/>
            <a:ext cx="11091672" cy="685800"/>
          </a:xfrm>
          <a:prstGeom prst="rect">
            <a:avLst/>
          </a:prstGeom>
          <a:noFill/>
          <a:ln/>
        </p:spPr>
        <p:txBody>
          <a:bodyPr wrap="square" lIns="0" tIns="0" rIns="0" bIns="0" rtlCol="0" anchor="ctr"/>
          <a:lstStyle/>
          <a:p>
            <a:pPr algn="l" indent="0" marL="0">
              <a:buNone/>
            </a:pPr>
            <a:r>
              <a:rPr lang="en-US" sz="3400" b="1" dirty="0">
                <a:solidFill>
                  <a:schemeClr val="tx1"/>
                </a:solidFill>
              </a:rPr>
              <a:t>Supporting OOP Features</a:t>
            </a:r>
            <a:endParaRPr lang="en-US" sz="3400" dirty="0"/>
          </a:p>
        </p:txBody>
      </p:sp>
      <p:sp>
        <p:nvSpPr>
          <p:cNvPr id="3" name="Text 1"/>
          <p:cNvSpPr txBox="1"/>
          <p:nvPr/>
        </p:nvSpPr>
        <p:spPr>
          <a:xfrm>
            <a:off x="548640" y="329184"/>
            <a:ext cx="7315200" cy="237744"/>
          </a:xfrm>
          <a:prstGeom prst="rect">
            <a:avLst/>
          </a:prstGeom>
          <a:noFill/>
          <a:ln/>
        </p:spPr>
        <p:txBody>
          <a:bodyPr wrap="square" lIns="0" tIns="0" rIns="0" bIns="0" rtlCol="0" anchor="t"/>
          <a:lstStyle/>
          <a:p>
            <a:pPr indent="0" marL="0">
              <a:buNone/>
            </a:pPr>
            <a:r>
              <a:rPr lang="en-US" sz="1200" b="1" spc="300" kern="0" dirty="0">
                <a:solidFill>
                  <a:schemeClr val="accent5"/>
                </a:solidFill>
              </a:rPr>
              <a:t>ADVANCED FEATURES</a:t>
            </a:r>
            <a:endParaRPr lang="en-US" sz="1200" dirty="0"/>
          </a:p>
        </p:txBody>
      </p:sp>
      <p:sp>
        <p:nvSpPr>
          <p:cNvPr id="5" name="Operator Overloading card"/>
          <p:cNvSpPr/>
          <p:nvPr/>
        </p:nvSpPr>
        <p:spPr>
          <a:xfrm>
            <a:off x="548640" y="1691640"/>
            <a:ext cx="3566160" cy="4434840"/>
          </a:xfrm>
          <a:prstGeom prst="roundRect">
            <a:avLst>
              <a:gd name="adj" fmla="val 3077"/>
            </a:avLst>
          </a:prstGeom>
          <a:solidFill>
            <a:schemeClr val="bg1"/>
          </a:solidFill>
          <a:ln/>
          <a:effectLst>
            <a:outerShdw sx="100000" sy="100000" kx="0" ky="0" algn="bl" rotWithShape="0" blurRad="127000" dist="25400" dir="5400000">
              <a:srgbClr val="0B1320">
                <a:alpha val="10000"/>
              </a:srgbClr>
            </a:outerShdw>
          </a:effectLst>
        </p:spPr>
      </p:sp>
      <p:sp>
        <p:nvSpPr>
          <p:cNvPr id="6" name="Operator Overloading badge"/>
          <p:cNvSpPr/>
          <p:nvPr/>
        </p:nvSpPr>
        <p:spPr>
          <a:xfrm>
            <a:off x="868680" y="2011680"/>
            <a:ext cx="777240" cy="777240"/>
          </a:xfrm>
          <a:prstGeom prst="ellipse">
            <a:avLst/>
          </a:prstGeom>
          <a:solidFill>
            <a:schemeClr val="tx1"/>
          </a:solidFill>
          <a:ln/>
        </p:spPr>
      </p:sp>
      <p:pic>
        <p:nvPicPr>
          <p:cNvPr id="7" name="Operator Overloading icon" descr="Operator Overloading">    </p:cNvPr>
          <p:cNvPicPr>
            <a:picLocks noChangeAspect="1"/>
          </p:cNvPicPr>
          <p:nvPr/>
        </p:nvPicPr>
        <p:blipFill>
          <a:blip r:embed="rId1"/>
          <a:stretch>
            <a:fillRect/>
          </a:stretch>
        </p:blipFill>
        <p:spPr>
          <a:xfrm>
            <a:off x="1062990" y="2205990"/>
            <a:ext cx="388620" cy="388620"/>
          </a:xfrm>
          <a:prstGeom prst="rect">
            <a:avLst/>
          </a:prstGeom>
        </p:spPr>
      </p:pic>
      <p:sp>
        <p:nvSpPr>
          <p:cNvPr id="8" name="Text 4"/>
          <p:cNvSpPr txBox="1"/>
          <p:nvPr/>
        </p:nvSpPr>
        <p:spPr>
          <a:xfrm>
            <a:off x="868680" y="2971800"/>
            <a:ext cx="3017520" cy="365760"/>
          </a:xfrm>
          <a:prstGeom prst="rect">
            <a:avLst/>
          </a:prstGeom>
          <a:noFill/>
          <a:ln/>
        </p:spPr>
        <p:txBody>
          <a:bodyPr wrap="square" lIns="0" tIns="0" rIns="0" bIns="0" rtlCol="0" anchor="t"/>
          <a:lstStyle/>
          <a:p>
            <a:pPr indent="0" marL="0">
              <a:buNone/>
            </a:pPr>
            <a:r>
              <a:rPr lang="en-US" sz="2200" b="1" dirty="0">
                <a:solidFill>
                  <a:schemeClr val="tx1"/>
                </a:solidFill>
                <a:latin typeface="+mj-lt" pitchFamily="34" charset="0"/>
                <a:ea typeface="+mj-lt" pitchFamily="34" charset="-122"/>
                <a:cs typeface="+mj-lt" pitchFamily="34" charset="-120"/>
              </a:rPr>
              <a:t>Operator Overloading</a:t>
            </a:r>
            <a:endParaRPr lang="en-US" sz="2200" dirty="0"/>
          </a:p>
        </p:txBody>
      </p:sp>
      <p:sp>
        <p:nvSpPr>
          <p:cNvPr id="9" name="Code snippet"/>
          <p:cNvSpPr/>
          <p:nvPr/>
        </p:nvSpPr>
        <p:spPr>
          <a:xfrm>
            <a:off x="685800" y="3520440"/>
            <a:ext cx="3291840" cy="914400"/>
          </a:xfrm>
          <a:prstGeom prst="roundRect">
            <a:avLst>
              <a:gd name="adj" fmla="val 8000"/>
            </a:avLst>
          </a:prstGeom>
          <a:solidFill>
            <a:schemeClr val="tx1"/>
          </a:solidFill>
          <a:ln/>
        </p:spPr>
      </p:sp>
      <p:sp>
        <p:nvSpPr>
          <p:cNvPr id="10" name="Text 6"/>
          <p:cNvSpPr txBox="1"/>
          <p:nvPr/>
        </p:nvSpPr>
        <p:spPr>
          <a:xfrm>
            <a:off x="822960" y="3520440"/>
            <a:ext cx="3063240" cy="914400"/>
          </a:xfrm>
          <a:prstGeom prst="rect">
            <a:avLst/>
          </a:prstGeom>
          <a:noFill/>
          <a:ln/>
        </p:spPr>
        <p:txBody>
          <a:bodyPr wrap="square" lIns="0" tIns="0" rIns="0" bIns="0" rtlCol="0" anchor="ctr"/>
          <a:lstStyle/>
          <a:p>
            <a:pPr indent="0" marL="0">
              <a:buNone/>
            </a:pPr>
            <a:r>
              <a:rPr lang="en-US" sz="1200" dirty="0">
                <a:solidFill>
                  <a:schemeClr val="bg1"/>
                </a:solidFill>
                <a:latin typeface="Courier New" pitchFamily="34" charset="0"/>
                <a:ea typeface="Courier New" pitchFamily="34" charset="-122"/>
                <a:cs typeface="Courier New" pitchFamily="34" charset="-120"/>
              </a:rPr>
              <a:t>if (baselineArtifact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secondaryArtifact)</a:t>
            </a:r>
            <a:endParaRPr lang="en-US" sz="1200" dirty="0"/>
          </a:p>
        </p:txBody>
      </p:sp>
      <p:sp>
        <p:nvSpPr>
          <p:cNvPr id="11" name="Text 7"/>
          <p:cNvSpPr txBox="1"/>
          <p:nvPr/>
        </p:nvSpPr>
        <p:spPr>
          <a:xfrm>
            <a:off x="868680" y="4663440"/>
            <a:ext cx="2926080" cy="1371600"/>
          </a:xfrm>
          <a:prstGeom prst="rect">
            <a:avLst/>
          </a:prstGeom>
          <a:noFill/>
          <a:ln/>
        </p:spPr>
        <p:txBody>
          <a:bodyPr wrap="square" lIns="0" tIns="0" rIns="0" bIns="0" rtlCol="0" anchor="t"/>
          <a:lstStyle/>
          <a:p>
            <a:pPr indent="0" marL="0">
              <a:buNone/>
            </a:pPr>
            <a:r>
              <a:rPr lang="en-US" sz="1600" dirty="0">
                <a:solidFill>
                  <a:schemeClr val="accent5"/>
                </a:solidFill>
              </a:rPr>
              <a:t>Lets two Artifact objects be compared with ==. Menu option 2 uses it to compare checksums.</a:t>
            </a:r>
            <a:endParaRPr lang="en-US" sz="1600" dirty="0"/>
          </a:p>
        </p:txBody>
      </p:sp>
      <p:sp>
        <p:nvSpPr>
          <p:cNvPr id="12" name="Friend Function card"/>
          <p:cNvSpPr/>
          <p:nvPr/>
        </p:nvSpPr>
        <p:spPr>
          <a:xfrm>
            <a:off x="4311396" y="1691640"/>
            <a:ext cx="3566160" cy="4434840"/>
          </a:xfrm>
          <a:prstGeom prst="roundRect">
            <a:avLst>
              <a:gd name="adj" fmla="val 3077"/>
            </a:avLst>
          </a:prstGeom>
          <a:solidFill>
            <a:schemeClr val="bg1"/>
          </a:solidFill>
          <a:ln/>
          <a:effectLst>
            <a:outerShdw sx="100000" sy="100000" kx="0" ky="0" algn="bl" rotWithShape="0" blurRad="127000" dist="25400" dir="5400000">
              <a:srgbClr val="0B1320">
                <a:alpha val="10000"/>
              </a:srgbClr>
            </a:outerShdw>
          </a:effectLst>
        </p:spPr>
      </p:sp>
      <p:sp>
        <p:nvSpPr>
          <p:cNvPr id="13" name="Friend Function badge"/>
          <p:cNvSpPr/>
          <p:nvPr/>
        </p:nvSpPr>
        <p:spPr>
          <a:xfrm>
            <a:off x="4631436" y="2011680"/>
            <a:ext cx="777240" cy="777240"/>
          </a:xfrm>
          <a:prstGeom prst="ellipse">
            <a:avLst/>
          </a:prstGeom>
          <a:solidFill>
            <a:schemeClr val="tx1"/>
          </a:solidFill>
          <a:ln/>
        </p:spPr>
      </p:sp>
      <p:pic>
        <p:nvPicPr>
          <p:cNvPr id="14" name="Friend Function icon" descr="Friend Function">    </p:cNvPr>
          <p:cNvPicPr>
            <a:picLocks noChangeAspect="1"/>
          </p:cNvPicPr>
          <p:nvPr/>
        </p:nvPicPr>
        <p:blipFill>
          <a:blip r:embed="rId2"/>
          <a:stretch>
            <a:fillRect/>
          </a:stretch>
        </p:blipFill>
        <p:spPr>
          <a:xfrm>
            <a:off x="4825746" y="2205990"/>
            <a:ext cx="388620" cy="388620"/>
          </a:xfrm>
          <a:prstGeom prst="rect">
            <a:avLst/>
          </a:prstGeom>
        </p:spPr>
      </p:pic>
      <p:sp>
        <p:nvSpPr>
          <p:cNvPr id="15" name="Text 10"/>
          <p:cNvSpPr txBox="1"/>
          <p:nvPr/>
        </p:nvSpPr>
        <p:spPr>
          <a:xfrm>
            <a:off x="4631436" y="2971800"/>
            <a:ext cx="3017520" cy="365760"/>
          </a:xfrm>
          <a:prstGeom prst="rect">
            <a:avLst/>
          </a:prstGeom>
          <a:noFill/>
          <a:ln/>
        </p:spPr>
        <p:txBody>
          <a:bodyPr wrap="square" lIns="0" tIns="0" rIns="0" bIns="0" rtlCol="0" anchor="t"/>
          <a:lstStyle/>
          <a:p>
            <a:pPr indent="0" marL="0">
              <a:buNone/>
            </a:pPr>
            <a:r>
              <a:rPr lang="en-US" sz="2200" b="1" dirty="0">
                <a:solidFill>
                  <a:schemeClr val="tx1"/>
                </a:solidFill>
                <a:latin typeface="+mj-lt" pitchFamily="34" charset="0"/>
                <a:ea typeface="+mj-lt" pitchFamily="34" charset="-122"/>
                <a:cs typeface="+mj-lt" pitchFamily="34" charset="-120"/>
              </a:rPr>
              <a:t>Friend Function</a:t>
            </a:r>
            <a:endParaRPr lang="en-US" sz="2200" dirty="0"/>
          </a:p>
        </p:txBody>
      </p:sp>
      <p:sp>
        <p:nvSpPr>
          <p:cNvPr id="16" name="Code snippet"/>
          <p:cNvSpPr/>
          <p:nvPr/>
        </p:nvSpPr>
        <p:spPr>
          <a:xfrm>
            <a:off x="4448556" y="3520440"/>
            <a:ext cx="3291840" cy="914400"/>
          </a:xfrm>
          <a:prstGeom prst="roundRect">
            <a:avLst>
              <a:gd name="adj" fmla="val 8000"/>
            </a:avLst>
          </a:prstGeom>
          <a:solidFill>
            <a:schemeClr val="tx1"/>
          </a:solidFill>
          <a:ln/>
        </p:spPr>
      </p:sp>
      <p:sp>
        <p:nvSpPr>
          <p:cNvPr id="17" name="Text 12"/>
          <p:cNvSpPr txBox="1"/>
          <p:nvPr/>
        </p:nvSpPr>
        <p:spPr>
          <a:xfrm>
            <a:off x="4585716" y="3520440"/>
            <a:ext cx="3063240" cy="914400"/>
          </a:xfrm>
          <a:prstGeom prst="rect">
            <a:avLst/>
          </a:prstGeom>
          <a:noFill/>
          <a:ln/>
        </p:spPr>
        <p:txBody>
          <a:bodyPr wrap="square" lIns="0" tIns="0" rIns="0" bIns="0" rtlCol="0" anchor="ctr"/>
          <a:lstStyle/>
          <a:p>
            <a:pPr indent="0" marL="0">
              <a:buNone/>
            </a:pPr>
            <a:r>
              <a:rPr lang="en-US" sz="1200" dirty="0">
                <a:solidFill>
                  <a:schemeClr val="bg1"/>
                </a:solidFill>
                <a:latin typeface="Courier New" pitchFamily="34" charset="0"/>
                <a:ea typeface="Courier New" pitchFamily="34" charset="-122"/>
                <a:cs typeface="Courier New" pitchFamily="34" charset="-120"/>
              </a:rPr>
              <a:t>friend void generateAuditTrail</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(const Artifact &amp;a);</a:t>
            </a:r>
            <a:endParaRPr lang="en-US" sz="1200" dirty="0"/>
          </a:p>
        </p:txBody>
      </p:sp>
      <p:sp>
        <p:nvSpPr>
          <p:cNvPr id="18" name="Text 13"/>
          <p:cNvSpPr txBox="1"/>
          <p:nvPr/>
        </p:nvSpPr>
        <p:spPr>
          <a:xfrm>
            <a:off x="4631436" y="4663440"/>
            <a:ext cx="2926080" cy="1371600"/>
          </a:xfrm>
          <a:prstGeom prst="rect">
            <a:avLst/>
          </a:prstGeom>
          <a:noFill/>
          <a:ln/>
        </p:spPr>
        <p:txBody>
          <a:bodyPr wrap="square" lIns="0" tIns="0" rIns="0" bIns="0" rtlCol="0" anchor="t"/>
          <a:lstStyle/>
          <a:p>
            <a:pPr indent="0" marL="0">
              <a:buNone/>
            </a:pPr>
            <a:r>
              <a:rPr lang="en-US" sz="1600" dirty="0">
                <a:solidFill>
                  <a:schemeClr val="accent5"/>
                </a:solidFill>
              </a:rPr>
              <a:t>A non-member function granted access to private data. A forward declaration of Artifact makes it possible.</a:t>
            </a:r>
            <a:endParaRPr lang="en-US" sz="1600" dirty="0"/>
          </a:p>
        </p:txBody>
      </p:sp>
      <p:sp>
        <p:nvSpPr>
          <p:cNvPr id="19" name="Static Member card"/>
          <p:cNvSpPr/>
          <p:nvPr/>
        </p:nvSpPr>
        <p:spPr>
          <a:xfrm>
            <a:off x="8074152" y="1691640"/>
            <a:ext cx="3566160" cy="4434840"/>
          </a:xfrm>
          <a:prstGeom prst="roundRect">
            <a:avLst>
              <a:gd name="adj" fmla="val 3077"/>
            </a:avLst>
          </a:prstGeom>
          <a:solidFill>
            <a:schemeClr val="bg1"/>
          </a:solidFill>
          <a:ln/>
          <a:effectLst>
            <a:outerShdw sx="100000" sy="100000" kx="0" ky="0" algn="bl" rotWithShape="0" blurRad="127000" dist="25400" dir="5400000">
              <a:srgbClr val="0B1320">
                <a:alpha val="10000"/>
              </a:srgbClr>
            </a:outerShdw>
          </a:effectLst>
        </p:spPr>
      </p:sp>
      <p:sp>
        <p:nvSpPr>
          <p:cNvPr id="20" name="Static Member badge"/>
          <p:cNvSpPr/>
          <p:nvPr/>
        </p:nvSpPr>
        <p:spPr>
          <a:xfrm>
            <a:off x="8394192" y="2011680"/>
            <a:ext cx="777240" cy="777240"/>
          </a:xfrm>
          <a:prstGeom prst="ellipse">
            <a:avLst/>
          </a:prstGeom>
          <a:solidFill>
            <a:schemeClr val="tx1"/>
          </a:solidFill>
          <a:ln/>
        </p:spPr>
      </p:sp>
      <p:pic>
        <p:nvPicPr>
          <p:cNvPr id="21" name="Static Member icon" descr="Static Member">    </p:cNvPr>
          <p:cNvPicPr>
            <a:picLocks noChangeAspect="1"/>
          </p:cNvPicPr>
          <p:nvPr/>
        </p:nvPicPr>
        <p:blipFill>
          <a:blip r:embed="rId3"/>
          <a:stretch>
            <a:fillRect/>
          </a:stretch>
        </p:blipFill>
        <p:spPr>
          <a:xfrm>
            <a:off x="8588502" y="2205990"/>
            <a:ext cx="388620" cy="388620"/>
          </a:xfrm>
          <a:prstGeom prst="rect">
            <a:avLst/>
          </a:prstGeom>
        </p:spPr>
      </p:pic>
      <p:sp>
        <p:nvSpPr>
          <p:cNvPr id="22" name="Text 16"/>
          <p:cNvSpPr txBox="1"/>
          <p:nvPr/>
        </p:nvSpPr>
        <p:spPr>
          <a:xfrm>
            <a:off x="8394192" y="2971800"/>
            <a:ext cx="3017520" cy="365760"/>
          </a:xfrm>
          <a:prstGeom prst="rect">
            <a:avLst/>
          </a:prstGeom>
          <a:noFill/>
          <a:ln/>
        </p:spPr>
        <p:txBody>
          <a:bodyPr wrap="square" lIns="0" tIns="0" rIns="0" bIns="0" rtlCol="0" anchor="t"/>
          <a:lstStyle/>
          <a:p>
            <a:pPr indent="0" marL="0">
              <a:buNone/>
            </a:pPr>
            <a:r>
              <a:rPr lang="en-US" sz="2200" b="1" dirty="0">
                <a:solidFill>
                  <a:schemeClr val="tx1"/>
                </a:solidFill>
                <a:latin typeface="+mj-lt" pitchFamily="34" charset="0"/>
                <a:ea typeface="+mj-lt" pitchFamily="34" charset="-122"/>
                <a:cs typeface="+mj-lt" pitchFamily="34" charset="-120"/>
              </a:rPr>
              <a:t>Static Member</a:t>
            </a:r>
            <a:endParaRPr lang="en-US" sz="2200" dirty="0"/>
          </a:p>
        </p:txBody>
      </p:sp>
      <p:sp>
        <p:nvSpPr>
          <p:cNvPr id="23" name="Code snippet"/>
          <p:cNvSpPr/>
          <p:nvPr/>
        </p:nvSpPr>
        <p:spPr>
          <a:xfrm>
            <a:off x="8211312" y="3520440"/>
            <a:ext cx="3291840" cy="914400"/>
          </a:xfrm>
          <a:prstGeom prst="roundRect">
            <a:avLst>
              <a:gd name="adj" fmla="val 8000"/>
            </a:avLst>
          </a:prstGeom>
          <a:solidFill>
            <a:schemeClr val="tx1"/>
          </a:solidFill>
          <a:ln/>
        </p:spPr>
      </p:sp>
      <p:sp>
        <p:nvSpPr>
          <p:cNvPr id="24" name="Text 18"/>
          <p:cNvSpPr txBox="1"/>
          <p:nvPr/>
        </p:nvSpPr>
        <p:spPr>
          <a:xfrm>
            <a:off x="8348472" y="3520440"/>
            <a:ext cx="3063240" cy="914400"/>
          </a:xfrm>
          <a:prstGeom prst="rect">
            <a:avLst/>
          </a:prstGeom>
          <a:noFill/>
          <a:ln/>
        </p:spPr>
        <p:txBody>
          <a:bodyPr wrap="square" lIns="0" tIns="0" rIns="0" bIns="0" rtlCol="0" anchor="ctr"/>
          <a:lstStyle/>
          <a:p>
            <a:pPr indent="0" marL="0">
              <a:buNone/>
            </a:pPr>
            <a:r>
              <a:rPr lang="en-US" sz="1200" dirty="0">
                <a:solidFill>
                  <a:schemeClr val="bg1"/>
                </a:solidFill>
                <a:latin typeface="Courier New" pitchFamily="34" charset="0"/>
                <a:ea typeface="Courier New" pitchFamily="34" charset="-122"/>
                <a:cs typeface="Courier New" pitchFamily="34" charset="-120"/>
              </a:rPr>
              <a:t>static int totalScanned;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int Artifact::totalScanned = 0;</a:t>
            </a:r>
            <a:endParaRPr lang="en-US" sz="1200" dirty="0"/>
          </a:p>
        </p:txBody>
      </p:sp>
      <p:sp>
        <p:nvSpPr>
          <p:cNvPr id="25" name="Text 19"/>
          <p:cNvSpPr txBox="1"/>
          <p:nvPr/>
        </p:nvSpPr>
        <p:spPr>
          <a:xfrm>
            <a:off x="8394192" y="4663440"/>
            <a:ext cx="2926080" cy="1371600"/>
          </a:xfrm>
          <a:prstGeom prst="rect">
            <a:avLst/>
          </a:prstGeom>
          <a:noFill/>
          <a:ln/>
        </p:spPr>
        <p:txBody>
          <a:bodyPr wrap="square" lIns="0" tIns="0" rIns="0" bIns="0" rtlCol="0" anchor="t"/>
          <a:lstStyle/>
          <a:p>
            <a:pPr indent="0" marL="0">
              <a:buNone/>
            </a:pPr>
            <a:r>
              <a:rPr lang="en-US" sz="1600" dirty="0">
                <a:solidFill>
                  <a:schemeClr val="accent5"/>
                </a:solidFill>
              </a:rPr>
              <a:t>One counter is shared by every Artifact. The constructor increments it; displayTotalScans() reports it.</a:t>
            </a:r>
            <a:endParaRPr lang="en-US" sz="1600" dirty="0"/>
          </a:p>
        </p:txBody>
      </p:sp>
      <p:sp>
        <p:nvSpPr>
          <p:cNvPr id="25" name="Slide Number Placeholder 0"/>
          <p:cNvSpPr>
            <a:spLocks noGrp="1"/>
          </p:cNvSpPr>
          <p:nvPr>
            <p:ph type="sldNum" sz="quarter" idx="4294967295"/>
          </p:nvPr>
        </p:nvSpPr>
        <p:spPr>
          <a:xfrm>
            <a:off x="10881360" y="6419088"/>
            <a:ext cx="75895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603504"/>
            <a:ext cx="11091672" cy="685800"/>
          </a:xfrm>
          <a:prstGeom prst="rect">
            <a:avLst/>
          </a:prstGeom>
          <a:noFill/>
          <a:ln/>
        </p:spPr>
        <p:txBody>
          <a:bodyPr wrap="square" lIns="0" tIns="0" rIns="0" bIns="0" rtlCol="0" anchor="ctr"/>
          <a:lstStyle/>
          <a:p>
            <a:pPr algn="l" indent="0" marL="0">
              <a:buNone/>
            </a:pPr>
            <a:r>
              <a:rPr lang="en-US" sz="3400" b="1" dirty="0">
                <a:solidFill>
                  <a:schemeClr val="tx1"/>
                </a:solidFill>
              </a:rPr>
              <a:t>OOP Concepts Applied</a:t>
            </a:r>
            <a:endParaRPr lang="en-US" sz="3400" dirty="0"/>
          </a:p>
        </p:txBody>
      </p:sp>
      <p:sp>
        <p:nvSpPr>
          <p:cNvPr id="3" name="Text 1"/>
          <p:cNvSpPr txBox="1"/>
          <p:nvPr/>
        </p:nvSpPr>
        <p:spPr>
          <a:xfrm>
            <a:off x="548640" y="329184"/>
            <a:ext cx="7315200" cy="237744"/>
          </a:xfrm>
          <a:prstGeom prst="rect">
            <a:avLst/>
          </a:prstGeom>
          <a:noFill/>
          <a:ln/>
        </p:spPr>
        <p:txBody>
          <a:bodyPr wrap="square" lIns="0" tIns="0" rIns="0" bIns="0" rtlCol="0" anchor="t"/>
          <a:lstStyle/>
          <a:p>
            <a:pPr indent="0" marL="0">
              <a:buNone/>
            </a:pPr>
            <a:r>
              <a:rPr lang="en-US" sz="1200" b="1" spc="300" kern="0" dirty="0">
                <a:solidFill>
                  <a:schemeClr val="accent5"/>
                </a:solidFill>
              </a:rPr>
              <a:t>CONCEPT MAP</a:t>
            </a:r>
            <a:endParaRPr lang="en-US" sz="1200" dirty="0"/>
          </a:p>
        </p:txBody>
      </p:sp>
      <p:sp>
        <p:nvSpPr>
          <p:cNvPr id="5" name="Encapsulation card"/>
          <p:cNvSpPr/>
          <p:nvPr/>
        </p:nvSpPr>
        <p:spPr>
          <a:xfrm>
            <a:off x="548640" y="1645920"/>
            <a:ext cx="2606040" cy="1920240"/>
          </a:xfrm>
          <a:prstGeom prst="roundRect">
            <a:avLst>
              <a:gd name="adj" fmla="val 5714"/>
            </a:avLst>
          </a:prstGeom>
          <a:solidFill>
            <a:schemeClr val="bg1"/>
          </a:solidFill>
          <a:ln/>
          <a:effectLst>
            <a:outerShdw sx="100000" sy="100000" kx="0" ky="0" algn="bl" rotWithShape="0" blurRad="127000" dist="25400" dir="5400000">
              <a:srgbClr val="0B1320">
                <a:alpha val="10000"/>
              </a:srgbClr>
            </a:outerShdw>
          </a:effectLst>
        </p:spPr>
      </p:sp>
      <p:sp>
        <p:nvSpPr>
          <p:cNvPr id="6" name="Encapsulation badge"/>
          <p:cNvSpPr/>
          <p:nvPr/>
        </p:nvSpPr>
        <p:spPr>
          <a:xfrm>
            <a:off x="777240" y="1874520"/>
            <a:ext cx="548640" cy="548640"/>
          </a:xfrm>
          <a:prstGeom prst="ellipse">
            <a:avLst/>
          </a:prstGeom>
          <a:solidFill>
            <a:schemeClr val="tx1"/>
          </a:solidFill>
          <a:ln/>
        </p:spPr>
      </p:sp>
      <p:pic>
        <p:nvPicPr>
          <p:cNvPr id="7" name="Encapsulation icon" descr="Encapsulation">    </p:cNvPr>
          <p:cNvPicPr>
            <a:picLocks noChangeAspect="1"/>
          </p:cNvPicPr>
          <p:nvPr/>
        </p:nvPicPr>
        <p:blipFill>
          <a:blip r:embed="rId1"/>
          <a:stretch>
            <a:fillRect/>
          </a:stretch>
        </p:blipFill>
        <p:spPr>
          <a:xfrm>
            <a:off x="914400" y="2011680"/>
            <a:ext cx="274320" cy="274320"/>
          </a:xfrm>
          <a:prstGeom prst="rect">
            <a:avLst/>
          </a:prstGeom>
        </p:spPr>
      </p:pic>
      <p:sp>
        <p:nvSpPr>
          <p:cNvPr id="8" name="Text 4"/>
          <p:cNvSpPr txBox="1"/>
          <p:nvPr/>
        </p:nvSpPr>
        <p:spPr>
          <a:xfrm>
            <a:off x="1463040" y="1874520"/>
            <a:ext cx="1554480" cy="548640"/>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Encapsulation</a:t>
            </a:r>
            <a:endParaRPr lang="en-US" sz="1600" dirty="0"/>
          </a:p>
        </p:txBody>
      </p:sp>
      <p:sp>
        <p:nvSpPr>
          <p:cNvPr id="9" name="Text 5"/>
          <p:cNvSpPr txBox="1"/>
          <p:nvPr/>
        </p:nvSpPr>
        <p:spPr>
          <a:xfrm>
            <a:off x="777240" y="2606040"/>
            <a:ext cx="2194560" cy="868680"/>
          </a:xfrm>
          <a:prstGeom prst="rect">
            <a:avLst/>
          </a:prstGeom>
          <a:noFill/>
          <a:ln/>
        </p:spPr>
        <p:txBody>
          <a:bodyPr wrap="square" lIns="0" tIns="0" rIns="0" bIns="0" rtlCol="0" anchor="t"/>
          <a:lstStyle/>
          <a:p>
            <a:pPr indent="0" marL="0">
              <a:buNone/>
            </a:pPr>
            <a:r>
              <a:rPr lang="en-US" sz="1400" dirty="0">
                <a:solidFill>
                  <a:schemeClr val="accent5"/>
                </a:solidFill>
              </a:rPr>
              <a:t>Private data in Artifact, exposed only through const getters.</a:t>
            </a:r>
            <a:endParaRPr lang="en-US" sz="1400" dirty="0"/>
          </a:p>
        </p:txBody>
      </p:sp>
      <p:sp>
        <p:nvSpPr>
          <p:cNvPr id="10" name="Abstraction card"/>
          <p:cNvSpPr/>
          <p:nvPr/>
        </p:nvSpPr>
        <p:spPr>
          <a:xfrm>
            <a:off x="3383280" y="1645920"/>
            <a:ext cx="2606040" cy="1920240"/>
          </a:xfrm>
          <a:prstGeom prst="roundRect">
            <a:avLst>
              <a:gd name="adj" fmla="val 5714"/>
            </a:avLst>
          </a:prstGeom>
          <a:solidFill>
            <a:schemeClr val="bg1"/>
          </a:solidFill>
          <a:ln/>
          <a:effectLst>
            <a:outerShdw sx="100000" sy="100000" kx="0" ky="0" algn="bl" rotWithShape="0" blurRad="127000" dist="25400" dir="5400000">
              <a:srgbClr val="0B1320">
                <a:alpha val="10000"/>
              </a:srgbClr>
            </a:outerShdw>
          </a:effectLst>
        </p:spPr>
      </p:sp>
      <p:sp>
        <p:nvSpPr>
          <p:cNvPr id="11" name="Abstraction badge"/>
          <p:cNvSpPr/>
          <p:nvPr/>
        </p:nvSpPr>
        <p:spPr>
          <a:xfrm>
            <a:off x="3611880" y="1874520"/>
            <a:ext cx="548640" cy="548640"/>
          </a:xfrm>
          <a:prstGeom prst="ellipse">
            <a:avLst/>
          </a:prstGeom>
          <a:solidFill>
            <a:schemeClr val="tx1"/>
          </a:solidFill>
          <a:ln/>
        </p:spPr>
      </p:sp>
      <p:pic>
        <p:nvPicPr>
          <p:cNvPr id="12" name="Abstraction icon" descr="Abstraction">    </p:cNvPr>
          <p:cNvPicPr>
            <a:picLocks noChangeAspect="1"/>
          </p:cNvPicPr>
          <p:nvPr/>
        </p:nvPicPr>
        <p:blipFill>
          <a:blip r:embed="rId2"/>
          <a:stretch>
            <a:fillRect/>
          </a:stretch>
        </p:blipFill>
        <p:spPr>
          <a:xfrm>
            <a:off x="3749040" y="2011680"/>
            <a:ext cx="274320" cy="274320"/>
          </a:xfrm>
          <a:prstGeom prst="rect">
            <a:avLst/>
          </a:prstGeom>
        </p:spPr>
      </p:pic>
      <p:sp>
        <p:nvSpPr>
          <p:cNvPr id="13" name="Text 8"/>
          <p:cNvSpPr txBox="1"/>
          <p:nvPr/>
        </p:nvSpPr>
        <p:spPr>
          <a:xfrm>
            <a:off x="4297680" y="1874520"/>
            <a:ext cx="1554480" cy="548640"/>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Abstraction</a:t>
            </a:r>
            <a:endParaRPr lang="en-US" sz="1600" dirty="0"/>
          </a:p>
        </p:txBody>
      </p:sp>
      <p:sp>
        <p:nvSpPr>
          <p:cNvPr id="14" name="Text 9"/>
          <p:cNvSpPr txBox="1"/>
          <p:nvPr/>
        </p:nvSpPr>
        <p:spPr>
          <a:xfrm>
            <a:off x="3611880" y="2606040"/>
            <a:ext cx="2194560" cy="868680"/>
          </a:xfrm>
          <a:prstGeom prst="rect">
            <a:avLst/>
          </a:prstGeom>
          <a:noFill/>
          <a:ln/>
        </p:spPr>
        <p:txBody>
          <a:bodyPr wrap="square" lIns="0" tIns="0" rIns="0" bIns="0" rtlCol="0" anchor="t"/>
          <a:lstStyle/>
          <a:p>
            <a:pPr indent="0" marL="0">
              <a:buNone/>
            </a:pPr>
            <a:r>
              <a:rPr lang="en-US" sz="1400" dirty="0">
                <a:solidFill>
                  <a:schemeClr val="accent5"/>
                </a:solidFill>
              </a:rPr>
              <a:t>ForensicsEngine hides scan details behind executeScan().</a:t>
            </a:r>
            <a:endParaRPr lang="en-US" sz="1400" dirty="0"/>
          </a:p>
        </p:txBody>
      </p:sp>
      <p:sp>
        <p:nvSpPr>
          <p:cNvPr id="15" name="Inheritance card"/>
          <p:cNvSpPr/>
          <p:nvPr/>
        </p:nvSpPr>
        <p:spPr>
          <a:xfrm>
            <a:off x="6217920" y="1645920"/>
            <a:ext cx="2606040" cy="1920240"/>
          </a:xfrm>
          <a:prstGeom prst="roundRect">
            <a:avLst>
              <a:gd name="adj" fmla="val 5714"/>
            </a:avLst>
          </a:prstGeom>
          <a:solidFill>
            <a:schemeClr val="bg1"/>
          </a:solidFill>
          <a:ln/>
          <a:effectLst>
            <a:outerShdw sx="100000" sy="100000" kx="0" ky="0" algn="bl" rotWithShape="0" blurRad="127000" dist="25400" dir="5400000">
              <a:srgbClr val="0B1320">
                <a:alpha val="10000"/>
              </a:srgbClr>
            </a:outerShdw>
          </a:effectLst>
        </p:spPr>
      </p:sp>
      <p:sp>
        <p:nvSpPr>
          <p:cNvPr id="16" name="Inheritance badge"/>
          <p:cNvSpPr/>
          <p:nvPr/>
        </p:nvSpPr>
        <p:spPr>
          <a:xfrm>
            <a:off x="6446520" y="1874520"/>
            <a:ext cx="548640" cy="548640"/>
          </a:xfrm>
          <a:prstGeom prst="ellipse">
            <a:avLst/>
          </a:prstGeom>
          <a:solidFill>
            <a:schemeClr val="tx1"/>
          </a:solidFill>
          <a:ln/>
        </p:spPr>
      </p:sp>
      <p:pic>
        <p:nvPicPr>
          <p:cNvPr id="17" name="Inheritance icon" descr="Inheritance">    </p:cNvPr>
          <p:cNvPicPr>
            <a:picLocks noChangeAspect="1"/>
          </p:cNvPicPr>
          <p:nvPr/>
        </p:nvPicPr>
        <p:blipFill>
          <a:blip r:embed="rId3"/>
          <a:stretch>
            <a:fillRect/>
          </a:stretch>
        </p:blipFill>
        <p:spPr>
          <a:xfrm>
            <a:off x="6583680" y="2011680"/>
            <a:ext cx="274320" cy="274320"/>
          </a:xfrm>
          <a:prstGeom prst="rect">
            <a:avLst/>
          </a:prstGeom>
        </p:spPr>
      </p:pic>
      <p:sp>
        <p:nvSpPr>
          <p:cNvPr id="18" name="Text 12"/>
          <p:cNvSpPr txBox="1"/>
          <p:nvPr/>
        </p:nvSpPr>
        <p:spPr>
          <a:xfrm>
            <a:off x="7132320" y="1874520"/>
            <a:ext cx="1554480" cy="548640"/>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Inheritance</a:t>
            </a:r>
            <a:endParaRPr lang="en-US" sz="1600" dirty="0"/>
          </a:p>
        </p:txBody>
      </p:sp>
      <p:sp>
        <p:nvSpPr>
          <p:cNvPr id="19" name="Text 13"/>
          <p:cNvSpPr txBox="1"/>
          <p:nvPr/>
        </p:nvSpPr>
        <p:spPr>
          <a:xfrm>
            <a:off x="6446520" y="2606040"/>
            <a:ext cx="2194560" cy="868680"/>
          </a:xfrm>
          <a:prstGeom prst="rect">
            <a:avLst/>
          </a:prstGeom>
          <a:noFill/>
          <a:ln/>
        </p:spPr>
        <p:txBody>
          <a:bodyPr wrap="square" lIns="0" tIns="0" rIns="0" bIns="0" rtlCol="0" anchor="t"/>
          <a:lstStyle/>
          <a:p>
            <a:pPr indent="0" marL="0">
              <a:buNone/>
            </a:pPr>
            <a:r>
              <a:rPr lang="en-US" sz="1400" dirty="0">
                <a:solidFill>
                  <a:schemeClr val="accent5"/>
                </a:solidFill>
              </a:rPr>
              <a:t>LiveLogAnalyzer derives publicly from ForensicsEngine.</a:t>
            </a:r>
            <a:endParaRPr lang="en-US" sz="1400" dirty="0"/>
          </a:p>
        </p:txBody>
      </p:sp>
      <p:sp>
        <p:nvSpPr>
          <p:cNvPr id="20" name="Polymorphism card"/>
          <p:cNvSpPr/>
          <p:nvPr/>
        </p:nvSpPr>
        <p:spPr>
          <a:xfrm>
            <a:off x="9052560" y="1645920"/>
            <a:ext cx="2606040" cy="1920240"/>
          </a:xfrm>
          <a:prstGeom prst="roundRect">
            <a:avLst>
              <a:gd name="adj" fmla="val 5714"/>
            </a:avLst>
          </a:prstGeom>
          <a:solidFill>
            <a:schemeClr val="bg1"/>
          </a:solidFill>
          <a:ln/>
          <a:effectLst>
            <a:outerShdw sx="100000" sy="100000" kx="0" ky="0" algn="bl" rotWithShape="0" blurRad="127000" dist="25400" dir="5400000">
              <a:srgbClr val="0B1320">
                <a:alpha val="10000"/>
              </a:srgbClr>
            </a:outerShdw>
          </a:effectLst>
        </p:spPr>
      </p:sp>
      <p:sp>
        <p:nvSpPr>
          <p:cNvPr id="21" name="Polymorphism badge"/>
          <p:cNvSpPr/>
          <p:nvPr/>
        </p:nvSpPr>
        <p:spPr>
          <a:xfrm>
            <a:off x="9281160" y="1874520"/>
            <a:ext cx="548640" cy="548640"/>
          </a:xfrm>
          <a:prstGeom prst="ellipse">
            <a:avLst/>
          </a:prstGeom>
          <a:solidFill>
            <a:schemeClr val="tx1"/>
          </a:solidFill>
          <a:ln/>
        </p:spPr>
      </p:sp>
      <p:pic>
        <p:nvPicPr>
          <p:cNvPr id="22" name="Polymorphism icon" descr="Polymorphism">    </p:cNvPr>
          <p:cNvPicPr>
            <a:picLocks noChangeAspect="1"/>
          </p:cNvPicPr>
          <p:nvPr/>
        </p:nvPicPr>
        <p:blipFill>
          <a:blip r:embed="rId4"/>
          <a:stretch>
            <a:fillRect/>
          </a:stretch>
        </p:blipFill>
        <p:spPr>
          <a:xfrm>
            <a:off x="9418320" y="2011680"/>
            <a:ext cx="274320" cy="274320"/>
          </a:xfrm>
          <a:prstGeom prst="rect">
            <a:avLst/>
          </a:prstGeom>
        </p:spPr>
      </p:pic>
      <p:sp>
        <p:nvSpPr>
          <p:cNvPr id="23" name="Text 16"/>
          <p:cNvSpPr txBox="1"/>
          <p:nvPr/>
        </p:nvSpPr>
        <p:spPr>
          <a:xfrm>
            <a:off x="9966960" y="1874520"/>
            <a:ext cx="1554480" cy="548640"/>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Polymorphism</a:t>
            </a:r>
            <a:endParaRPr lang="en-US" sz="1600" dirty="0"/>
          </a:p>
        </p:txBody>
      </p:sp>
      <p:sp>
        <p:nvSpPr>
          <p:cNvPr id="24" name="Text 17"/>
          <p:cNvSpPr txBox="1"/>
          <p:nvPr/>
        </p:nvSpPr>
        <p:spPr>
          <a:xfrm>
            <a:off x="9281160" y="2606040"/>
            <a:ext cx="2194560" cy="868680"/>
          </a:xfrm>
          <a:prstGeom prst="rect">
            <a:avLst/>
          </a:prstGeom>
          <a:noFill/>
          <a:ln/>
        </p:spPr>
        <p:txBody>
          <a:bodyPr wrap="square" lIns="0" tIns="0" rIns="0" bIns="0" rtlCol="0" anchor="t"/>
          <a:lstStyle/>
          <a:p>
            <a:pPr indent="0" marL="0">
              <a:buNone/>
            </a:pPr>
            <a:r>
              <a:rPr lang="en-US" sz="1400" dirty="0">
                <a:solidFill>
                  <a:schemeClr val="accent5"/>
                </a:solidFill>
              </a:rPr>
              <a:t>Virtual executeScan() is called through a base-class pointer.</a:t>
            </a:r>
            <a:endParaRPr lang="en-US" sz="1400" dirty="0"/>
          </a:p>
        </p:txBody>
      </p:sp>
      <p:sp>
        <p:nvSpPr>
          <p:cNvPr id="25" name="Composition card"/>
          <p:cNvSpPr/>
          <p:nvPr/>
        </p:nvSpPr>
        <p:spPr>
          <a:xfrm>
            <a:off x="548640" y="3749040"/>
            <a:ext cx="2606040" cy="1920240"/>
          </a:xfrm>
          <a:prstGeom prst="roundRect">
            <a:avLst>
              <a:gd name="adj" fmla="val 5714"/>
            </a:avLst>
          </a:prstGeom>
          <a:solidFill>
            <a:schemeClr val="bg1"/>
          </a:solidFill>
          <a:ln/>
          <a:effectLst>
            <a:outerShdw sx="100000" sy="100000" kx="0" ky="0" algn="bl" rotWithShape="0" blurRad="127000" dist="25400" dir="5400000">
              <a:srgbClr val="0B1320">
                <a:alpha val="10000"/>
              </a:srgbClr>
            </a:outerShdw>
          </a:effectLst>
        </p:spPr>
      </p:sp>
      <p:sp>
        <p:nvSpPr>
          <p:cNvPr id="26" name="Composition badge"/>
          <p:cNvSpPr/>
          <p:nvPr/>
        </p:nvSpPr>
        <p:spPr>
          <a:xfrm>
            <a:off x="777240" y="3977640"/>
            <a:ext cx="548640" cy="548640"/>
          </a:xfrm>
          <a:prstGeom prst="ellipse">
            <a:avLst/>
          </a:prstGeom>
          <a:solidFill>
            <a:schemeClr val="tx1"/>
          </a:solidFill>
          <a:ln/>
        </p:spPr>
      </p:sp>
      <p:pic>
        <p:nvPicPr>
          <p:cNvPr id="27" name="Composition icon" descr="Composition">    </p:cNvPr>
          <p:cNvPicPr>
            <a:picLocks noChangeAspect="1"/>
          </p:cNvPicPr>
          <p:nvPr/>
        </p:nvPicPr>
        <p:blipFill>
          <a:blip r:embed="rId5"/>
          <a:stretch>
            <a:fillRect/>
          </a:stretch>
        </p:blipFill>
        <p:spPr>
          <a:xfrm>
            <a:off x="914400" y="4114800"/>
            <a:ext cx="274320" cy="274320"/>
          </a:xfrm>
          <a:prstGeom prst="rect">
            <a:avLst/>
          </a:prstGeom>
        </p:spPr>
      </p:pic>
      <p:sp>
        <p:nvSpPr>
          <p:cNvPr id="28" name="Text 20"/>
          <p:cNvSpPr txBox="1"/>
          <p:nvPr/>
        </p:nvSpPr>
        <p:spPr>
          <a:xfrm>
            <a:off x="1463040" y="3977640"/>
            <a:ext cx="1554480" cy="548640"/>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Composition</a:t>
            </a:r>
            <a:endParaRPr lang="en-US" sz="1600" dirty="0"/>
          </a:p>
        </p:txBody>
      </p:sp>
      <p:sp>
        <p:nvSpPr>
          <p:cNvPr id="29" name="Text 21"/>
          <p:cNvSpPr txBox="1"/>
          <p:nvPr/>
        </p:nvSpPr>
        <p:spPr>
          <a:xfrm>
            <a:off x="777240" y="4709160"/>
            <a:ext cx="2194560" cy="868680"/>
          </a:xfrm>
          <a:prstGeom prst="rect">
            <a:avLst/>
          </a:prstGeom>
          <a:noFill/>
          <a:ln/>
        </p:spPr>
        <p:txBody>
          <a:bodyPr wrap="square" lIns="0" tIns="0" rIns="0" bIns="0" rtlCol="0" anchor="t"/>
          <a:lstStyle/>
          <a:p>
            <a:pPr indent="0" marL="0">
              <a:buNone/>
            </a:pPr>
            <a:r>
              <a:rPr lang="en-US" sz="1400" dirty="0">
                <a:solidFill>
                  <a:schemeClr val="accent5"/>
                </a:solidFill>
              </a:rPr>
              <a:t>LiveLogAnalyzer owns an Artifact object (has-a relationship).</a:t>
            </a:r>
            <a:endParaRPr lang="en-US" sz="1400" dirty="0"/>
          </a:p>
        </p:txBody>
      </p:sp>
      <p:sp>
        <p:nvSpPr>
          <p:cNvPr id="30" name="Operator Overloading card"/>
          <p:cNvSpPr/>
          <p:nvPr/>
        </p:nvSpPr>
        <p:spPr>
          <a:xfrm>
            <a:off x="3383280" y="3749040"/>
            <a:ext cx="2606040" cy="1920240"/>
          </a:xfrm>
          <a:prstGeom prst="roundRect">
            <a:avLst>
              <a:gd name="adj" fmla="val 5714"/>
            </a:avLst>
          </a:prstGeom>
          <a:solidFill>
            <a:schemeClr val="bg1"/>
          </a:solidFill>
          <a:ln/>
          <a:effectLst>
            <a:outerShdw sx="100000" sy="100000" kx="0" ky="0" algn="bl" rotWithShape="0" blurRad="127000" dist="25400" dir="5400000">
              <a:srgbClr val="0B1320">
                <a:alpha val="10000"/>
              </a:srgbClr>
            </a:outerShdw>
          </a:effectLst>
        </p:spPr>
      </p:sp>
      <p:sp>
        <p:nvSpPr>
          <p:cNvPr id="31" name="Operator Overloading badge"/>
          <p:cNvSpPr/>
          <p:nvPr/>
        </p:nvSpPr>
        <p:spPr>
          <a:xfrm>
            <a:off x="3611880" y="3977640"/>
            <a:ext cx="548640" cy="548640"/>
          </a:xfrm>
          <a:prstGeom prst="ellipse">
            <a:avLst/>
          </a:prstGeom>
          <a:solidFill>
            <a:schemeClr val="tx1"/>
          </a:solidFill>
          <a:ln/>
        </p:spPr>
      </p:sp>
      <p:pic>
        <p:nvPicPr>
          <p:cNvPr id="32" name="Operator Overloading icon" descr="Operator Overloading">    </p:cNvPr>
          <p:cNvPicPr>
            <a:picLocks noChangeAspect="1"/>
          </p:cNvPicPr>
          <p:nvPr/>
        </p:nvPicPr>
        <p:blipFill>
          <a:blip r:embed="rId6"/>
          <a:stretch>
            <a:fillRect/>
          </a:stretch>
        </p:blipFill>
        <p:spPr>
          <a:xfrm>
            <a:off x="3749040" y="4114800"/>
            <a:ext cx="274320" cy="274320"/>
          </a:xfrm>
          <a:prstGeom prst="rect">
            <a:avLst/>
          </a:prstGeom>
        </p:spPr>
      </p:pic>
      <p:sp>
        <p:nvSpPr>
          <p:cNvPr id="33" name="Text 24"/>
          <p:cNvSpPr txBox="1"/>
          <p:nvPr/>
        </p:nvSpPr>
        <p:spPr>
          <a:xfrm>
            <a:off x="4297680" y="3977640"/>
            <a:ext cx="1554480" cy="548640"/>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Operator Overloading</a:t>
            </a:r>
            <a:endParaRPr lang="en-US" sz="1600" dirty="0"/>
          </a:p>
        </p:txBody>
      </p:sp>
      <p:sp>
        <p:nvSpPr>
          <p:cNvPr id="34" name="Text 25"/>
          <p:cNvSpPr txBox="1"/>
          <p:nvPr/>
        </p:nvSpPr>
        <p:spPr>
          <a:xfrm>
            <a:off x="3611880" y="4709160"/>
            <a:ext cx="2194560" cy="868680"/>
          </a:xfrm>
          <a:prstGeom prst="rect">
            <a:avLst/>
          </a:prstGeom>
          <a:noFill/>
          <a:ln/>
        </p:spPr>
        <p:txBody>
          <a:bodyPr wrap="square" lIns="0" tIns="0" rIns="0" bIns="0" rtlCol="0" anchor="t"/>
          <a:lstStyle/>
          <a:p>
            <a:pPr indent="0" marL="0">
              <a:buNone/>
            </a:pPr>
            <a:r>
              <a:rPr lang="en-US" sz="1400" dirty="0">
                <a:solidFill>
                  <a:schemeClr val="accent5"/>
                </a:solidFill>
              </a:rPr>
              <a:t>operator== compares two Artifacts by their checksum.</a:t>
            </a:r>
            <a:endParaRPr lang="en-US" sz="1400" dirty="0"/>
          </a:p>
        </p:txBody>
      </p:sp>
      <p:sp>
        <p:nvSpPr>
          <p:cNvPr id="35" name="Friend Function card"/>
          <p:cNvSpPr/>
          <p:nvPr/>
        </p:nvSpPr>
        <p:spPr>
          <a:xfrm>
            <a:off x="6217920" y="3749040"/>
            <a:ext cx="2606040" cy="1920240"/>
          </a:xfrm>
          <a:prstGeom prst="roundRect">
            <a:avLst>
              <a:gd name="adj" fmla="val 5714"/>
            </a:avLst>
          </a:prstGeom>
          <a:solidFill>
            <a:schemeClr val="bg1"/>
          </a:solidFill>
          <a:ln/>
          <a:effectLst>
            <a:outerShdw sx="100000" sy="100000" kx="0" ky="0" algn="bl" rotWithShape="0" blurRad="127000" dist="25400" dir="5400000">
              <a:srgbClr val="0B1320">
                <a:alpha val="10000"/>
              </a:srgbClr>
            </a:outerShdw>
          </a:effectLst>
        </p:spPr>
      </p:sp>
      <p:sp>
        <p:nvSpPr>
          <p:cNvPr id="36" name="Friend Function badge"/>
          <p:cNvSpPr/>
          <p:nvPr/>
        </p:nvSpPr>
        <p:spPr>
          <a:xfrm>
            <a:off x="6446520" y="3977640"/>
            <a:ext cx="548640" cy="548640"/>
          </a:xfrm>
          <a:prstGeom prst="ellipse">
            <a:avLst/>
          </a:prstGeom>
          <a:solidFill>
            <a:schemeClr val="tx1"/>
          </a:solidFill>
          <a:ln/>
        </p:spPr>
      </p:sp>
      <p:pic>
        <p:nvPicPr>
          <p:cNvPr id="37" name="Friend Function icon" descr="Friend Function">    </p:cNvPr>
          <p:cNvPicPr>
            <a:picLocks noChangeAspect="1"/>
          </p:cNvPicPr>
          <p:nvPr/>
        </p:nvPicPr>
        <p:blipFill>
          <a:blip r:embed="rId7"/>
          <a:stretch>
            <a:fillRect/>
          </a:stretch>
        </p:blipFill>
        <p:spPr>
          <a:xfrm>
            <a:off x="6583680" y="4114800"/>
            <a:ext cx="274320" cy="274320"/>
          </a:xfrm>
          <a:prstGeom prst="rect">
            <a:avLst/>
          </a:prstGeom>
        </p:spPr>
      </p:pic>
      <p:sp>
        <p:nvSpPr>
          <p:cNvPr id="38" name="Text 28"/>
          <p:cNvSpPr txBox="1"/>
          <p:nvPr/>
        </p:nvSpPr>
        <p:spPr>
          <a:xfrm>
            <a:off x="7132320" y="3977640"/>
            <a:ext cx="1554480" cy="548640"/>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Friend Function</a:t>
            </a:r>
            <a:endParaRPr lang="en-US" sz="1600" dirty="0"/>
          </a:p>
        </p:txBody>
      </p:sp>
      <p:sp>
        <p:nvSpPr>
          <p:cNvPr id="39" name="Text 29"/>
          <p:cNvSpPr txBox="1"/>
          <p:nvPr/>
        </p:nvSpPr>
        <p:spPr>
          <a:xfrm>
            <a:off x="6446520" y="4709160"/>
            <a:ext cx="2194560" cy="868680"/>
          </a:xfrm>
          <a:prstGeom prst="rect">
            <a:avLst/>
          </a:prstGeom>
          <a:noFill/>
          <a:ln/>
        </p:spPr>
        <p:txBody>
          <a:bodyPr wrap="square" lIns="0" tIns="0" rIns="0" bIns="0" rtlCol="0" anchor="t"/>
          <a:lstStyle/>
          <a:p>
            <a:pPr indent="0" marL="0">
              <a:buNone/>
            </a:pPr>
            <a:r>
              <a:rPr lang="en-US" sz="1400" dirty="0">
                <a:solidFill>
                  <a:schemeClr val="accent5"/>
                </a:solidFill>
              </a:rPr>
              <a:t>generateAuditTrail() reads private members directly.</a:t>
            </a:r>
            <a:endParaRPr lang="en-US" sz="1400" dirty="0"/>
          </a:p>
        </p:txBody>
      </p:sp>
      <p:sp>
        <p:nvSpPr>
          <p:cNvPr id="40" name="Static Member card"/>
          <p:cNvSpPr/>
          <p:nvPr/>
        </p:nvSpPr>
        <p:spPr>
          <a:xfrm>
            <a:off x="9052560" y="3749040"/>
            <a:ext cx="2606040" cy="1920240"/>
          </a:xfrm>
          <a:prstGeom prst="roundRect">
            <a:avLst>
              <a:gd name="adj" fmla="val 5714"/>
            </a:avLst>
          </a:prstGeom>
          <a:solidFill>
            <a:schemeClr val="bg1"/>
          </a:solidFill>
          <a:ln/>
          <a:effectLst>
            <a:outerShdw sx="100000" sy="100000" kx="0" ky="0" algn="bl" rotWithShape="0" blurRad="127000" dist="25400" dir="5400000">
              <a:srgbClr val="0B1320">
                <a:alpha val="10000"/>
              </a:srgbClr>
            </a:outerShdw>
          </a:effectLst>
        </p:spPr>
      </p:sp>
      <p:sp>
        <p:nvSpPr>
          <p:cNvPr id="41" name="Static Member badge"/>
          <p:cNvSpPr/>
          <p:nvPr/>
        </p:nvSpPr>
        <p:spPr>
          <a:xfrm>
            <a:off x="9281160" y="3977640"/>
            <a:ext cx="548640" cy="548640"/>
          </a:xfrm>
          <a:prstGeom prst="ellipse">
            <a:avLst/>
          </a:prstGeom>
          <a:solidFill>
            <a:schemeClr val="tx1"/>
          </a:solidFill>
          <a:ln/>
        </p:spPr>
      </p:sp>
      <p:pic>
        <p:nvPicPr>
          <p:cNvPr id="42" name="Static Member icon" descr="Static Member">    </p:cNvPr>
          <p:cNvPicPr>
            <a:picLocks noChangeAspect="1"/>
          </p:cNvPicPr>
          <p:nvPr/>
        </p:nvPicPr>
        <p:blipFill>
          <a:blip r:embed="rId8"/>
          <a:stretch>
            <a:fillRect/>
          </a:stretch>
        </p:blipFill>
        <p:spPr>
          <a:xfrm>
            <a:off x="9418320" y="4114800"/>
            <a:ext cx="274320" cy="274320"/>
          </a:xfrm>
          <a:prstGeom prst="rect">
            <a:avLst/>
          </a:prstGeom>
        </p:spPr>
      </p:pic>
      <p:sp>
        <p:nvSpPr>
          <p:cNvPr id="43" name="Text 32"/>
          <p:cNvSpPr txBox="1"/>
          <p:nvPr/>
        </p:nvSpPr>
        <p:spPr>
          <a:xfrm>
            <a:off x="9966960" y="3977640"/>
            <a:ext cx="1554480" cy="548640"/>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Static Member</a:t>
            </a:r>
            <a:endParaRPr lang="en-US" sz="1600" dirty="0"/>
          </a:p>
        </p:txBody>
      </p:sp>
      <p:sp>
        <p:nvSpPr>
          <p:cNvPr id="44" name="Text 33"/>
          <p:cNvSpPr txBox="1"/>
          <p:nvPr/>
        </p:nvSpPr>
        <p:spPr>
          <a:xfrm>
            <a:off x="9281160" y="4709160"/>
            <a:ext cx="2194560" cy="868680"/>
          </a:xfrm>
          <a:prstGeom prst="rect">
            <a:avLst/>
          </a:prstGeom>
          <a:noFill/>
          <a:ln/>
        </p:spPr>
        <p:txBody>
          <a:bodyPr wrap="square" lIns="0" tIns="0" rIns="0" bIns="0" rtlCol="0" anchor="t"/>
          <a:lstStyle/>
          <a:p>
            <a:pPr indent="0" marL="0">
              <a:buNone/>
            </a:pPr>
            <a:r>
              <a:rPr lang="en-US" sz="1400" dirty="0">
                <a:solidFill>
                  <a:schemeClr val="accent5"/>
                </a:solidFill>
              </a:rPr>
              <a:t>totalScanned is shared by all objects of the class.</a:t>
            </a:r>
            <a:endParaRPr lang="en-US" sz="1400" dirty="0"/>
          </a:p>
        </p:txBody>
      </p:sp>
      <p:sp>
        <p:nvSpPr>
          <p:cNvPr id="45" name="Also used banner"/>
          <p:cNvSpPr/>
          <p:nvPr/>
        </p:nvSpPr>
        <p:spPr>
          <a:xfrm>
            <a:off x="548640" y="5806440"/>
            <a:ext cx="11091672" cy="411480"/>
          </a:xfrm>
          <a:prstGeom prst="roundRect">
            <a:avLst>
              <a:gd name="adj" fmla="val 17778"/>
            </a:avLst>
          </a:prstGeom>
          <a:solidFill>
            <a:schemeClr val="tx1"/>
          </a:solidFill>
          <a:ln/>
        </p:spPr>
      </p:sp>
      <p:sp>
        <p:nvSpPr>
          <p:cNvPr id="46" name="Text 35"/>
          <p:cNvSpPr txBox="1"/>
          <p:nvPr/>
        </p:nvSpPr>
        <p:spPr>
          <a:xfrm>
            <a:off x="822960" y="5806440"/>
            <a:ext cx="10607040" cy="411480"/>
          </a:xfrm>
          <a:prstGeom prst="rect">
            <a:avLst/>
          </a:prstGeom>
          <a:noFill/>
          <a:ln/>
        </p:spPr>
        <p:txBody>
          <a:bodyPr wrap="square" lIns="0" tIns="0" rIns="0" bIns="0" rtlCol="0" anchor="ctr"/>
          <a:lstStyle/>
          <a:p>
            <a:pPr indent="0" marL="0">
              <a:buNone/>
            </a:pPr>
            <a:r>
              <a:rPr lang="en-US" sz="1400" b="1" dirty="0">
                <a:solidFill>
                  <a:schemeClr val="accent1"/>
                </a:solidFill>
              </a:rPr>
              <a:t>Also used:  </a:t>
            </a:r>
            <a:pPr indent="0" marL="0">
              <a:buNone/>
            </a:pPr>
            <a:r>
              <a:rPr lang="en-US" sz="1400" dirty="0">
                <a:solidFill>
                  <a:schemeClr val="bg1"/>
                </a:solidFill>
              </a:rPr>
              <a:t>constructor initializer list  ·  const member functions  ·  new / delete  ·  forward declaration</a:t>
            </a:r>
            <a:endParaRPr lang="en-US" sz="1400" dirty="0"/>
          </a:p>
        </p:txBody>
      </p:sp>
      <p:sp>
        <p:nvSpPr>
          <p:cNvPr id="25" name="Slide Number Placeholder 0"/>
          <p:cNvSpPr>
            <a:spLocks noGrp="1"/>
          </p:cNvSpPr>
          <p:nvPr>
            <p:ph type="sldNum" sz="quarter" idx="4294967295"/>
          </p:nvPr>
        </p:nvSpPr>
        <p:spPr>
          <a:xfrm>
            <a:off x="10881360" y="6419088"/>
            <a:ext cx="75895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603504"/>
            <a:ext cx="11091672" cy="685800"/>
          </a:xfrm>
          <a:prstGeom prst="rect">
            <a:avLst/>
          </a:prstGeom>
          <a:noFill/>
          <a:ln/>
        </p:spPr>
        <p:txBody>
          <a:bodyPr wrap="square" lIns="0" tIns="0" rIns="0" bIns="0" rtlCol="0" anchor="ctr"/>
          <a:lstStyle/>
          <a:p>
            <a:pPr algn="l" indent="0" marL="0">
              <a:buNone/>
            </a:pPr>
            <a:r>
              <a:rPr lang="en-US" sz="3400" b="1" dirty="0">
                <a:solidFill>
                  <a:schemeClr val="tx1"/>
                </a:solidFill>
              </a:rPr>
              <a:t>Sample Execution</a:t>
            </a:r>
            <a:endParaRPr lang="en-US" sz="3400" dirty="0"/>
          </a:p>
        </p:txBody>
      </p:sp>
      <p:sp>
        <p:nvSpPr>
          <p:cNvPr id="3" name="Text 1"/>
          <p:cNvSpPr txBox="1"/>
          <p:nvPr/>
        </p:nvSpPr>
        <p:spPr>
          <a:xfrm>
            <a:off x="548640" y="329184"/>
            <a:ext cx="7315200" cy="237744"/>
          </a:xfrm>
          <a:prstGeom prst="rect">
            <a:avLst/>
          </a:prstGeom>
          <a:noFill/>
          <a:ln/>
        </p:spPr>
        <p:txBody>
          <a:bodyPr wrap="square" lIns="0" tIns="0" rIns="0" bIns="0" rtlCol="0" anchor="t"/>
          <a:lstStyle/>
          <a:p>
            <a:pPr indent="0" marL="0">
              <a:buNone/>
            </a:pPr>
            <a:r>
              <a:rPr lang="en-US" sz="1200" b="1" spc="300" kern="0" dirty="0">
                <a:solidFill>
                  <a:schemeClr val="accent5"/>
                </a:solidFill>
              </a:rPr>
              <a:t>DEMONSTRATION</a:t>
            </a:r>
            <a:endParaRPr lang="en-US" sz="1200" dirty="0"/>
          </a:p>
        </p:txBody>
      </p:sp>
      <p:sp>
        <p:nvSpPr>
          <p:cNvPr id="5" name="Terminal window"/>
          <p:cNvSpPr/>
          <p:nvPr/>
        </p:nvSpPr>
        <p:spPr>
          <a:xfrm>
            <a:off x="548640" y="1691640"/>
            <a:ext cx="6400800" cy="3657600"/>
          </a:xfrm>
          <a:prstGeom prst="roundRect">
            <a:avLst>
              <a:gd name="adj" fmla="val 3500"/>
            </a:avLst>
          </a:prstGeom>
          <a:solidFill>
            <a:schemeClr val="tx1"/>
          </a:solidFill>
          <a:ln/>
        </p:spPr>
      </p:sp>
      <p:sp>
        <p:nvSpPr>
          <p:cNvPr id="6" name="Window dot"/>
          <p:cNvSpPr/>
          <p:nvPr/>
        </p:nvSpPr>
        <p:spPr>
          <a:xfrm>
            <a:off x="777240" y="1892808"/>
            <a:ext cx="128016" cy="128016"/>
          </a:xfrm>
          <a:prstGeom prst="ellipse">
            <a:avLst/>
          </a:prstGeom>
          <a:solidFill>
            <a:schemeClr val="accent3"/>
          </a:solidFill>
          <a:ln/>
        </p:spPr>
      </p:sp>
      <p:sp>
        <p:nvSpPr>
          <p:cNvPr id="7" name="Window dot"/>
          <p:cNvSpPr/>
          <p:nvPr/>
        </p:nvSpPr>
        <p:spPr>
          <a:xfrm>
            <a:off x="1005840" y="1892808"/>
            <a:ext cx="128016" cy="128016"/>
          </a:xfrm>
          <a:prstGeom prst="ellipse">
            <a:avLst/>
          </a:prstGeom>
          <a:solidFill>
            <a:schemeClr val="accent2"/>
          </a:solidFill>
          <a:ln/>
        </p:spPr>
      </p:sp>
      <p:sp>
        <p:nvSpPr>
          <p:cNvPr id="8" name="Window dot"/>
          <p:cNvSpPr/>
          <p:nvPr/>
        </p:nvSpPr>
        <p:spPr>
          <a:xfrm>
            <a:off x="1234440" y="1892808"/>
            <a:ext cx="128016" cy="128016"/>
          </a:xfrm>
          <a:prstGeom prst="ellipse">
            <a:avLst/>
          </a:prstGeom>
          <a:solidFill>
            <a:schemeClr val="accent4"/>
          </a:solidFill>
          <a:ln/>
        </p:spPr>
      </p:sp>
      <p:sp>
        <p:nvSpPr>
          <p:cNvPr id="9" name="Text 6"/>
          <p:cNvSpPr txBox="1"/>
          <p:nvPr/>
        </p:nvSpPr>
        <p:spPr>
          <a:xfrm>
            <a:off x="1554480" y="1837944"/>
            <a:ext cx="5212080" cy="237744"/>
          </a:xfrm>
          <a:prstGeom prst="rect">
            <a:avLst/>
          </a:prstGeom>
          <a:noFill/>
          <a:ln/>
        </p:spPr>
        <p:txBody>
          <a:bodyPr wrap="square" lIns="0" tIns="0" rIns="0" bIns="0" rtlCol="0" anchor="t"/>
          <a:lstStyle/>
          <a:p>
            <a:pPr indent="0" marL="0">
              <a:buNone/>
            </a:pPr>
            <a:r>
              <a:rPr lang="en-US" sz="1100" dirty="0">
                <a:solidFill>
                  <a:schemeClr val="accent6"/>
                </a:solidFill>
                <a:latin typeface="Courier New" pitchFamily="34" charset="0"/>
                <a:ea typeface="Courier New" pitchFamily="34" charset="-122"/>
                <a:cs typeface="Courier New" pitchFamily="34" charset="-120"/>
              </a:rPr>
              <a:t>menu options 1 and 2  ·  inputs in teal</a:t>
            </a:r>
            <a:endParaRPr lang="en-US" sz="1100" dirty="0"/>
          </a:p>
        </p:txBody>
      </p:sp>
      <p:sp>
        <p:nvSpPr>
          <p:cNvPr id="10" name="Text 7"/>
          <p:cNvSpPr txBox="1"/>
          <p:nvPr/>
        </p:nvSpPr>
        <p:spPr>
          <a:xfrm>
            <a:off x="822960" y="2286000"/>
            <a:ext cx="5943600" cy="2926080"/>
          </a:xfrm>
          <a:prstGeom prst="rect">
            <a:avLst/>
          </a:prstGeom>
          <a:noFill/>
          <a:ln/>
        </p:spPr>
        <p:txBody>
          <a:bodyPr wrap="square" lIns="0" tIns="0" rIns="0" bIns="0" rtlCol="0" anchor="t"/>
          <a:lstStyle/>
          <a:p>
            <a:pPr indent="0" marL="0">
              <a:buNone/>
            </a:pPr>
            <a:r>
              <a:rPr lang="en-US" sz="1100" dirty="0">
                <a:solidFill>
                  <a:schemeClr val="accent1"/>
                </a:solidFill>
                <a:latin typeface="Courier New" pitchFamily="34" charset="0"/>
                <a:ea typeface="Courier New" pitchFamily="34" charset="-122"/>
                <a:cs typeface="Courier New" pitchFamily="34" charset="-120"/>
              </a:rPr>
              <a:t>Select option: 1</a:t>
            </a:r>
            <a:endParaRPr lang="en-US" sz="1100" dirty="0"/>
          </a:p>
          <a:p>
            <a:pPr indent="0" marL="0">
              <a:buNone/>
            </a:pPr>
            <a:r>
              <a:rPr lang="en-US" sz="1100" dirty="0">
                <a:solidFill>
                  <a:schemeClr val="accent1"/>
                </a:solidFill>
                <a:latin typeface="Courier New" pitchFamily="34" charset="0"/>
                <a:ea typeface="Courier New" pitchFamily="34" charset="-122"/>
                <a:cs typeface="Courier New" pitchFamily="34" charset="-120"/>
              </a:rPr>
              <a:t>&gt;&gt; firewall_log.txt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Evidence successfully ingested -&gt; firewall_log.txt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[Engine] Initiating deep-level integrity inspection...</a:t>
            </a:r>
            <a:endParaRPr lang="en-US" sz="1100" dirty="0"/>
          </a:p>
          <a:p>
            <a:pPr indent="0" marL="0">
              <a:buNone/>
            </a:pPr>
            <a:r>
              <a:rPr lang="en-US" sz="1100" b="1" dirty="0">
                <a:solidFill>
                  <a:schemeClr val="accent4"/>
                </a:solidFill>
                <a:latin typeface="Courier New" pitchFamily="34" charset="0"/>
                <a:ea typeface="Courier New" pitchFamily="34" charset="-122"/>
                <a:cs typeface="Courier New" pitchFamily="34" charset="-120"/>
              </a:rPr>
              <a:t>[SECURE] Status Green: Zero anomalies or alterations detected.</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accent1"/>
                </a:solidFill>
                <a:latin typeface="Courier New" pitchFamily="34" charset="0"/>
                <a:ea typeface="Courier New" pitchFamily="34" charset="-122"/>
                <a:cs typeface="Courier New" pitchFamily="34" charset="-120"/>
              </a:rPr>
              <a:t>Select option: 1</a:t>
            </a:r>
            <a:endParaRPr lang="en-US" sz="1100" dirty="0"/>
          </a:p>
          <a:p>
            <a:pPr indent="0" marL="0">
              <a:buNone/>
            </a:pPr>
            <a:r>
              <a:rPr lang="en-US" sz="1100" dirty="0">
                <a:solidFill>
                  <a:schemeClr val="accent1"/>
                </a:solidFill>
                <a:latin typeface="Courier New" pitchFamily="34" charset="0"/>
                <a:ea typeface="Courier New" pitchFamily="34" charset="-122"/>
                <a:cs typeface="Courier New" pitchFamily="34" charset="-120"/>
              </a:rPr>
              <a:t>&gt;&gt; firewall_log.bak</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Evidence successfully ingested -&gt; firewall_log.bak</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[Engine] Initiating deep-level integrity inspection...</a:t>
            </a:r>
            <a:endParaRPr lang="en-US" sz="1100" dirty="0"/>
          </a:p>
          <a:p>
            <a:pPr indent="0" marL="0">
              <a:buNone/>
            </a:pPr>
            <a:r>
              <a:rPr lang="en-US" sz="1100" b="1" dirty="0">
                <a:solidFill>
                  <a:schemeClr val="accent3"/>
                </a:solidFill>
                <a:latin typeface="Courier New" pitchFamily="34" charset="0"/>
                <a:ea typeface="Courier New" pitchFamily="34" charset="-122"/>
                <a:cs typeface="Courier New" pitchFamily="34" charset="-120"/>
              </a:rPr>
              <a:t>[CRITICAL] Status Red: Tampering identified! Checksum mismatch.</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accent1"/>
                </a:solidFill>
                <a:latin typeface="Courier New" pitchFamily="34" charset="0"/>
                <a:ea typeface="Courier New" pitchFamily="34" charset="-122"/>
                <a:cs typeface="Courier New" pitchFamily="34" charset="-120"/>
              </a:rPr>
              <a:t>Select option: 2</a:t>
            </a:r>
            <a:endParaRPr lang="en-US" sz="1100" dirty="0"/>
          </a:p>
          <a:p>
            <a:pPr indent="0" marL="0">
              <a:buNone/>
            </a:pPr>
            <a:r>
              <a:rPr lang="en-US" sz="1100" dirty="0">
                <a:solidFill>
                  <a:schemeClr val="accent1"/>
                </a:solidFill>
                <a:latin typeface="Courier New" pitchFamily="34" charset="0"/>
                <a:ea typeface="Courier New" pitchFamily="34" charset="-122"/>
                <a:cs typeface="Courier New" pitchFamily="34" charset="-120"/>
              </a:rPr>
              <a:t>&gt;&gt; firewall_log.txt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Evidence successfully ingested -&gt; firewall_log.txt</a:t>
            </a:r>
            <a:endParaRPr lang="en-US" sz="1100" dirty="0"/>
          </a:p>
          <a:p>
            <a:pPr indent="0" marL="0">
              <a:buNone/>
            </a:pPr>
            <a:r>
              <a:rPr lang="en-US" sz="1100" b="1" dirty="0">
                <a:solidFill>
                  <a:schemeClr val="accent4"/>
                </a:solidFill>
                <a:latin typeface="Courier New" pitchFamily="34" charset="0"/>
                <a:ea typeface="Courier New" pitchFamily="34" charset="-122"/>
                <a:cs typeface="Courier New" pitchFamily="34" charset="-120"/>
              </a:rPr>
              <a:t>[MATCH] Operator Overload: Both entities share identical signatures.</a:t>
            </a:r>
            <a:endParaRPr lang="en-US" sz="1100" dirty="0"/>
          </a:p>
        </p:txBody>
      </p:sp>
      <p:sp>
        <p:nvSpPr>
          <p:cNvPr id="11" name="Terminal window"/>
          <p:cNvSpPr/>
          <p:nvPr/>
        </p:nvSpPr>
        <p:spPr>
          <a:xfrm>
            <a:off x="7132320" y="1691640"/>
            <a:ext cx="4507992" cy="3657600"/>
          </a:xfrm>
          <a:prstGeom prst="roundRect">
            <a:avLst>
              <a:gd name="adj" fmla="val 3500"/>
            </a:avLst>
          </a:prstGeom>
          <a:solidFill>
            <a:schemeClr val="tx1"/>
          </a:solidFill>
          <a:ln/>
        </p:spPr>
      </p:sp>
      <p:sp>
        <p:nvSpPr>
          <p:cNvPr id="12" name="Window dot"/>
          <p:cNvSpPr/>
          <p:nvPr/>
        </p:nvSpPr>
        <p:spPr>
          <a:xfrm>
            <a:off x="7360920" y="1892808"/>
            <a:ext cx="128016" cy="128016"/>
          </a:xfrm>
          <a:prstGeom prst="ellipse">
            <a:avLst/>
          </a:prstGeom>
          <a:solidFill>
            <a:schemeClr val="accent3"/>
          </a:solidFill>
          <a:ln/>
        </p:spPr>
      </p:sp>
      <p:sp>
        <p:nvSpPr>
          <p:cNvPr id="13" name="Window dot"/>
          <p:cNvSpPr/>
          <p:nvPr/>
        </p:nvSpPr>
        <p:spPr>
          <a:xfrm>
            <a:off x="7589520" y="1892808"/>
            <a:ext cx="128016" cy="128016"/>
          </a:xfrm>
          <a:prstGeom prst="ellipse">
            <a:avLst/>
          </a:prstGeom>
          <a:solidFill>
            <a:schemeClr val="accent2"/>
          </a:solidFill>
          <a:ln/>
        </p:spPr>
      </p:sp>
      <p:sp>
        <p:nvSpPr>
          <p:cNvPr id="14" name="Window dot"/>
          <p:cNvSpPr/>
          <p:nvPr/>
        </p:nvSpPr>
        <p:spPr>
          <a:xfrm>
            <a:off x="7818120" y="1892808"/>
            <a:ext cx="128016" cy="128016"/>
          </a:xfrm>
          <a:prstGeom prst="ellipse">
            <a:avLst/>
          </a:prstGeom>
          <a:solidFill>
            <a:schemeClr val="accent4"/>
          </a:solidFill>
          <a:ln/>
        </p:spPr>
      </p:sp>
      <p:sp>
        <p:nvSpPr>
          <p:cNvPr id="15" name="Text 12"/>
          <p:cNvSpPr txBox="1"/>
          <p:nvPr/>
        </p:nvSpPr>
        <p:spPr>
          <a:xfrm>
            <a:off x="8138160" y="1837944"/>
            <a:ext cx="3319272" cy="237744"/>
          </a:xfrm>
          <a:prstGeom prst="rect">
            <a:avLst/>
          </a:prstGeom>
          <a:noFill/>
          <a:ln/>
        </p:spPr>
        <p:txBody>
          <a:bodyPr wrap="square" lIns="0" tIns="0" rIns="0" bIns="0" rtlCol="0" anchor="t"/>
          <a:lstStyle/>
          <a:p>
            <a:pPr indent="0" marL="0">
              <a:buNone/>
            </a:pPr>
            <a:r>
              <a:rPr lang="en-US" sz="1100" dirty="0">
                <a:solidFill>
                  <a:schemeClr val="accent6"/>
                </a:solidFill>
                <a:latin typeface="Courier New" pitchFamily="34" charset="0"/>
                <a:ea typeface="Courier New" pitchFamily="34" charset="-122"/>
                <a:cs typeface="Courier New" pitchFamily="34" charset="-120"/>
              </a:rPr>
              <a:t>menu options 3 and 4</a:t>
            </a:r>
            <a:endParaRPr lang="en-US" sz="1100" dirty="0"/>
          </a:p>
        </p:txBody>
      </p:sp>
      <p:sp>
        <p:nvSpPr>
          <p:cNvPr id="16" name="Text 13"/>
          <p:cNvSpPr txBox="1"/>
          <p:nvPr/>
        </p:nvSpPr>
        <p:spPr>
          <a:xfrm>
            <a:off x="7406640" y="2286000"/>
            <a:ext cx="4050792" cy="2926080"/>
          </a:xfrm>
          <a:prstGeom prst="rect">
            <a:avLst/>
          </a:prstGeom>
          <a:noFill/>
          <a:ln/>
        </p:spPr>
        <p:txBody>
          <a:bodyPr wrap="square" lIns="0" tIns="0" rIns="0" bIns="0" rtlCol="0" anchor="t"/>
          <a:lstStyle/>
          <a:p>
            <a:pPr indent="0" marL="0">
              <a:buNone/>
            </a:pPr>
            <a:r>
              <a:rPr lang="en-US" sz="1100" dirty="0">
                <a:solidFill>
                  <a:schemeClr val="accent1"/>
                </a:solidFill>
                <a:latin typeface="Courier New" pitchFamily="34" charset="0"/>
                <a:ea typeface="Courier New" pitchFamily="34" charset="-122"/>
                <a:cs typeface="Courier New" pitchFamily="34" charset="-120"/>
              </a:rPr>
              <a:t>Select option: 3</a:t>
            </a:r>
            <a:endParaRPr lang="en-US" sz="1100" dirty="0"/>
          </a:p>
          <a:p>
            <a:pPr indent="0" marL="0">
              <a:buNone/>
            </a:pPr>
            <a:r>
              <a:rPr lang="en-US" sz="1100" dirty="0">
                <a:solidFill>
                  <a:schemeClr val="accent6"/>
                </a:solidFill>
                <a:latin typeface="Courier New" pitchFamily="34" charset="0"/>
                <a:ea typeface="Courier New" pitchFamily="34" charset="-122"/>
                <a:cs typeface="Courier New" pitchFamily="34" charset="-120"/>
              </a:rPr>
              <a:t>==========================================</a:t>
            </a:r>
            <a:endParaRPr lang="en-US" sz="1100" dirty="0"/>
          </a:p>
          <a:p>
            <a:pPr indent="0" marL="0">
              <a:buNone/>
            </a:pPr>
            <a:r>
              <a:rPr lang="en-US" sz="1100" b="1" dirty="0">
                <a:solidFill>
                  <a:schemeClr val="bg1"/>
                </a:solidFill>
                <a:latin typeface="Courier New" pitchFamily="34" charset="0"/>
                <a:ea typeface="Courier New" pitchFamily="34" charset="-122"/>
                <a:cs typeface="Courier New" pitchFamily="34" charset="-120"/>
              </a:rPr>
              <a:t>          FORENSIC AUDIT DOSSIER          </a:t>
            </a:r>
            <a:endParaRPr lang="en-US" sz="1100" dirty="0"/>
          </a:p>
          <a:p>
            <a:pPr indent="0" marL="0">
              <a:buNone/>
            </a:pPr>
            <a:r>
              <a:rPr lang="en-US" sz="1100" dirty="0">
                <a:solidFill>
                  <a:schemeClr val="accent6"/>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Target Asset : firewall_log.txt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Crypto Hash  : [ 11714 ]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Clearance    : Verified via Privileged Friend</a:t>
            </a:r>
            <a:endParaRPr lang="en-US" sz="1100" dirty="0"/>
          </a:p>
          <a:p>
            <a:pPr indent="0" marL="0">
              <a:buNone/>
            </a:pPr>
            <a:r>
              <a:rPr lang="en-US" sz="1100" dirty="0">
                <a:solidFill>
                  <a:schemeClr val="accent6"/>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accent1"/>
                </a:solidFill>
                <a:latin typeface="Courier New" pitchFamily="34" charset="0"/>
                <a:ea typeface="Courier New" pitchFamily="34" charset="-122"/>
                <a:cs typeface="Courier New" pitchFamily="34" charset="-120"/>
              </a:rPr>
              <a:t>Select option: 4</a:t>
            </a:r>
            <a:endParaRPr lang="en-US" sz="1100" dirty="0"/>
          </a:p>
          <a:p>
            <a:pPr indent="0" marL="0">
              <a:buNone/>
            </a:pPr>
            <a:r>
              <a:rPr lang="en-US" sz="1100" b="1" dirty="0">
                <a:solidFill>
                  <a:schemeClr val="bg1"/>
                </a:solidFill>
                <a:latin typeface="Courier New" pitchFamily="34" charset="0"/>
                <a:ea typeface="Courier New" pitchFamily="34" charset="-122"/>
                <a:cs typeface="Courier New" pitchFamily="34" charset="-120"/>
              </a:rPr>
              <a:t>[METRICS] Total digital artifacts processed: 4</a:t>
            </a:r>
            <a:endParaRPr lang="en-US" sz="1100" dirty="0"/>
          </a:p>
        </p:txBody>
      </p:sp>
      <p:sp>
        <p:nvSpPr>
          <p:cNvPr id="17" name="Insight 1"/>
          <p:cNvSpPr/>
          <p:nvPr/>
        </p:nvSpPr>
        <p:spPr>
          <a:xfrm>
            <a:off x="548640" y="5532120"/>
            <a:ext cx="3566160" cy="658368"/>
          </a:xfrm>
          <a:prstGeom prst="roundRect">
            <a:avLst>
              <a:gd name="adj" fmla="val 16667"/>
            </a:avLst>
          </a:prstGeom>
          <a:solidFill>
            <a:schemeClr val="bg1"/>
          </a:solidFill>
          <a:ln/>
          <a:effectLst>
            <a:outerShdw sx="100000" sy="100000" kx="0" ky="0" algn="bl" rotWithShape="0" blurRad="127000" dist="25400" dir="5400000">
              <a:srgbClr val="0B1320">
                <a:alpha val="10000"/>
              </a:srgbClr>
            </a:outerShdw>
          </a:effectLst>
        </p:spPr>
      </p:sp>
      <p:sp>
        <p:nvSpPr>
          <p:cNvPr id="18" name="Text 15"/>
          <p:cNvSpPr txBox="1"/>
          <p:nvPr/>
        </p:nvSpPr>
        <p:spPr>
          <a:xfrm>
            <a:off x="777240" y="5532120"/>
            <a:ext cx="3108960" cy="658368"/>
          </a:xfrm>
          <a:prstGeom prst="rect">
            <a:avLst/>
          </a:prstGeom>
          <a:noFill/>
          <a:ln/>
        </p:spPr>
        <p:txBody>
          <a:bodyPr wrap="square" lIns="0" tIns="0" rIns="0" bIns="0" rtlCol="0" anchor="ctr"/>
          <a:lstStyle/>
          <a:p>
            <a:pPr indent="0" marL="0">
              <a:buNone/>
            </a:pPr>
            <a:r>
              <a:rPr lang="en-US" sz="1400" dirty="0">
                <a:solidFill>
                  <a:schemeClr val="tx1"/>
                </a:solidFill>
              </a:rPr>
              <a:t>Same name, same checksum: the scan reports SECURE.</a:t>
            </a:r>
            <a:endParaRPr lang="en-US" sz="1400" dirty="0"/>
          </a:p>
        </p:txBody>
      </p:sp>
      <p:sp>
        <p:nvSpPr>
          <p:cNvPr id="19" name="Insight 2"/>
          <p:cNvSpPr/>
          <p:nvPr/>
        </p:nvSpPr>
        <p:spPr>
          <a:xfrm>
            <a:off x="4311396" y="5532120"/>
            <a:ext cx="3566160" cy="658368"/>
          </a:xfrm>
          <a:prstGeom prst="roundRect">
            <a:avLst>
              <a:gd name="adj" fmla="val 16667"/>
            </a:avLst>
          </a:prstGeom>
          <a:solidFill>
            <a:schemeClr val="bg1"/>
          </a:solidFill>
          <a:ln/>
          <a:effectLst>
            <a:outerShdw sx="100000" sy="100000" kx="0" ky="0" algn="bl" rotWithShape="0" blurRad="127000" dist="25400" dir="5400000">
              <a:srgbClr val="0B1320">
                <a:alpha val="10000"/>
              </a:srgbClr>
            </a:outerShdw>
          </a:effectLst>
        </p:spPr>
      </p:sp>
      <p:sp>
        <p:nvSpPr>
          <p:cNvPr id="20" name="Text 17"/>
          <p:cNvSpPr txBox="1"/>
          <p:nvPr/>
        </p:nvSpPr>
        <p:spPr>
          <a:xfrm>
            <a:off x="4539996" y="5532120"/>
            <a:ext cx="3108960" cy="658368"/>
          </a:xfrm>
          <a:prstGeom prst="rect">
            <a:avLst/>
          </a:prstGeom>
          <a:noFill/>
          <a:ln/>
        </p:spPr>
        <p:txBody>
          <a:bodyPr wrap="square" lIns="0" tIns="0" rIns="0" bIns="0" rtlCol="0" anchor="ctr"/>
          <a:lstStyle/>
          <a:p>
            <a:pPr indent="0" marL="0">
              <a:buNone/>
            </a:pPr>
            <a:r>
              <a:rPr lang="en-US" sz="1400" dirty="0">
                <a:solidFill>
                  <a:schemeClr val="tx1"/>
                </a:solidFill>
              </a:rPr>
              <a:t>11364 ≠ 11714, so the altered name is flagged CRITICAL.</a:t>
            </a:r>
            <a:endParaRPr lang="en-US" sz="1400" dirty="0"/>
          </a:p>
        </p:txBody>
      </p:sp>
      <p:sp>
        <p:nvSpPr>
          <p:cNvPr id="21" name="Insight 3"/>
          <p:cNvSpPr/>
          <p:nvPr/>
        </p:nvSpPr>
        <p:spPr>
          <a:xfrm>
            <a:off x="8074152" y="5532120"/>
            <a:ext cx="3566160" cy="658368"/>
          </a:xfrm>
          <a:prstGeom prst="roundRect">
            <a:avLst>
              <a:gd name="adj" fmla="val 16667"/>
            </a:avLst>
          </a:prstGeom>
          <a:solidFill>
            <a:schemeClr val="bg1"/>
          </a:solidFill>
          <a:ln/>
          <a:effectLst>
            <a:outerShdw sx="100000" sy="100000" kx="0" ky="0" algn="bl" rotWithShape="0" blurRad="127000" dist="25400" dir="5400000">
              <a:srgbClr val="0B1320">
                <a:alpha val="10000"/>
              </a:srgbClr>
            </a:outerShdw>
          </a:effectLst>
        </p:spPr>
      </p:sp>
      <p:sp>
        <p:nvSpPr>
          <p:cNvPr id="22" name="Text 19"/>
          <p:cNvSpPr txBox="1"/>
          <p:nvPr/>
        </p:nvSpPr>
        <p:spPr>
          <a:xfrm>
            <a:off x="8302752" y="5532120"/>
            <a:ext cx="3108960" cy="658368"/>
          </a:xfrm>
          <a:prstGeom prst="rect">
            <a:avLst/>
          </a:prstGeom>
          <a:noFill/>
          <a:ln/>
        </p:spPr>
        <p:txBody>
          <a:bodyPr wrap="square" lIns="0" tIns="0" rIns="0" bIns="0" rtlCol="0" anchor="ctr"/>
          <a:lstStyle/>
          <a:p>
            <a:pPr indent="0" marL="0">
              <a:buNone/>
            </a:pPr>
            <a:r>
              <a:rPr lang="en-US" sz="1400" dirty="0">
                <a:solidFill>
                  <a:schemeClr val="tx1"/>
                </a:solidFill>
              </a:rPr>
              <a:t>Counter reads 4: baseline + 2 scans + 1 comparison.</a:t>
            </a:r>
            <a:endParaRPr lang="en-US" sz="1400" dirty="0"/>
          </a:p>
        </p:txBody>
      </p:sp>
      <p:sp>
        <p:nvSpPr>
          <p:cNvPr id="25" name="Slide Number Placeholder 0"/>
          <p:cNvSpPr>
            <a:spLocks noGrp="1"/>
          </p:cNvSpPr>
          <p:nvPr>
            <p:ph type="sldNum" sz="quarter" idx="4294967295"/>
          </p:nvPr>
        </p:nvSpPr>
        <p:spPr>
          <a:xfrm>
            <a:off x="10881360" y="6419088"/>
            <a:ext cx="75895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603504"/>
            <a:ext cx="11091672" cy="685800"/>
          </a:xfrm>
          <a:prstGeom prst="rect">
            <a:avLst/>
          </a:prstGeom>
          <a:noFill/>
          <a:ln/>
        </p:spPr>
        <p:txBody>
          <a:bodyPr wrap="square" lIns="0" tIns="0" rIns="0" bIns="0" rtlCol="0" anchor="ctr"/>
          <a:lstStyle/>
          <a:p>
            <a:pPr algn="l" indent="0" marL="0">
              <a:buNone/>
            </a:pPr>
            <a:r>
              <a:rPr lang="en-US" sz="3400" b="1" dirty="0">
                <a:solidFill>
                  <a:schemeClr val="tx1"/>
                </a:solidFill>
              </a:rPr>
              <a:t>Limitations and Future Scope</a:t>
            </a:r>
            <a:endParaRPr lang="en-US" sz="3400" dirty="0"/>
          </a:p>
        </p:txBody>
      </p:sp>
      <p:sp>
        <p:nvSpPr>
          <p:cNvPr id="3" name="Text 1"/>
          <p:cNvSpPr txBox="1"/>
          <p:nvPr/>
        </p:nvSpPr>
        <p:spPr>
          <a:xfrm>
            <a:off x="548640" y="329184"/>
            <a:ext cx="7315200" cy="237744"/>
          </a:xfrm>
          <a:prstGeom prst="rect">
            <a:avLst/>
          </a:prstGeom>
          <a:noFill/>
          <a:ln/>
        </p:spPr>
        <p:txBody>
          <a:bodyPr wrap="square" lIns="0" tIns="0" rIns="0" bIns="0" rtlCol="0" anchor="t"/>
          <a:lstStyle/>
          <a:p>
            <a:pPr indent="0" marL="0">
              <a:buNone/>
            </a:pPr>
            <a:r>
              <a:rPr lang="en-US" sz="1200" b="1" spc="300" kern="0" dirty="0">
                <a:solidFill>
                  <a:schemeClr val="accent5"/>
                </a:solidFill>
              </a:rPr>
              <a:t>EVALUATION</a:t>
            </a:r>
            <a:endParaRPr lang="en-US" sz="1200" dirty="0"/>
          </a:p>
        </p:txBody>
      </p:sp>
      <p:sp>
        <p:nvSpPr>
          <p:cNvPr id="5" name="LIMITATIONS card"/>
          <p:cNvSpPr/>
          <p:nvPr/>
        </p:nvSpPr>
        <p:spPr>
          <a:xfrm>
            <a:off x="548640" y="1691640"/>
            <a:ext cx="5394960" cy="4480560"/>
          </a:xfrm>
          <a:prstGeom prst="roundRect">
            <a:avLst>
              <a:gd name="adj" fmla="val 2449"/>
            </a:avLst>
          </a:prstGeom>
          <a:solidFill>
            <a:schemeClr val="bg1"/>
          </a:solidFill>
          <a:ln/>
          <a:effectLst>
            <a:outerShdw sx="100000" sy="100000" kx="0" ky="0" algn="bl" rotWithShape="0" blurRad="127000" dist="25400" dir="5400000">
              <a:srgbClr val="0B1320">
                <a:alpha val="10000"/>
              </a:srgbClr>
            </a:outerShdw>
          </a:effectLst>
        </p:spPr>
      </p:sp>
      <p:sp>
        <p:nvSpPr>
          <p:cNvPr id="6" name="Text 3"/>
          <p:cNvSpPr txBox="1"/>
          <p:nvPr/>
        </p:nvSpPr>
        <p:spPr>
          <a:xfrm>
            <a:off x="868680" y="1920240"/>
            <a:ext cx="3657600" cy="274320"/>
          </a:xfrm>
          <a:prstGeom prst="rect">
            <a:avLst/>
          </a:prstGeom>
          <a:noFill/>
          <a:ln/>
        </p:spPr>
        <p:txBody>
          <a:bodyPr wrap="square" lIns="0" tIns="0" rIns="0" bIns="0" rtlCol="0" anchor="t"/>
          <a:lstStyle/>
          <a:p>
            <a:pPr indent="0" marL="0">
              <a:buNone/>
            </a:pPr>
            <a:r>
              <a:rPr lang="en-US" sz="1400" b="1" spc="300" kern="0" dirty="0">
                <a:solidFill>
                  <a:schemeClr val="accent5"/>
                </a:solidFill>
              </a:rPr>
              <a:t>LIMITATIONS</a:t>
            </a:r>
            <a:endParaRPr lang="en-US" sz="1400" dirty="0"/>
          </a:p>
        </p:txBody>
      </p:sp>
      <p:sp>
        <p:nvSpPr>
          <p:cNvPr id="7" name="LIMITATIONS item 1 badge"/>
          <p:cNvSpPr/>
          <p:nvPr/>
        </p:nvSpPr>
        <p:spPr>
          <a:xfrm>
            <a:off x="868680" y="2532888"/>
            <a:ext cx="502920" cy="502920"/>
          </a:xfrm>
          <a:prstGeom prst="ellipse">
            <a:avLst/>
          </a:prstGeom>
          <a:solidFill>
            <a:schemeClr val="tx1"/>
          </a:solidFill>
          <a:ln/>
        </p:spPr>
      </p:sp>
      <p:pic>
        <p:nvPicPr>
          <p:cNvPr id="8" name="LIMITATIONS item 1 icon" descr="LIMITATIONS item 1">    </p:cNvPr>
          <p:cNvPicPr>
            <a:picLocks noChangeAspect="1"/>
          </p:cNvPicPr>
          <p:nvPr/>
        </p:nvPicPr>
        <p:blipFill>
          <a:blip r:embed="rId1"/>
          <a:stretch>
            <a:fillRect/>
          </a:stretch>
        </p:blipFill>
        <p:spPr>
          <a:xfrm>
            <a:off x="994410" y="2658618"/>
            <a:ext cx="251460" cy="251460"/>
          </a:xfrm>
          <a:prstGeom prst="rect">
            <a:avLst/>
          </a:prstGeom>
        </p:spPr>
      </p:pic>
      <p:sp>
        <p:nvSpPr>
          <p:cNvPr id="9" name="Text 5"/>
          <p:cNvSpPr txBox="1"/>
          <p:nvPr/>
        </p:nvSpPr>
        <p:spPr>
          <a:xfrm>
            <a:off x="1554480" y="2423160"/>
            <a:ext cx="4114800" cy="731520"/>
          </a:xfrm>
          <a:prstGeom prst="rect">
            <a:avLst/>
          </a:prstGeom>
          <a:noFill/>
          <a:ln/>
        </p:spPr>
        <p:txBody>
          <a:bodyPr wrap="square" lIns="0" tIns="0" rIns="0" bIns="0" rtlCol="0" anchor="ctr"/>
          <a:lstStyle/>
          <a:p>
            <a:pPr indent="0" marL="0">
              <a:buNone/>
            </a:pPr>
            <a:r>
              <a:rPr lang="en-US" sz="1400" dirty="0">
                <a:solidFill>
                  <a:schemeClr val="tx1"/>
                </a:solidFill>
              </a:rPr>
              <a:t>The checksum is computed from the filename text, not the file's contents.</a:t>
            </a:r>
            <a:endParaRPr lang="en-US" sz="1400" dirty="0"/>
          </a:p>
        </p:txBody>
      </p:sp>
      <p:sp>
        <p:nvSpPr>
          <p:cNvPr id="10" name="LIMITATIONS item 2 badge"/>
          <p:cNvSpPr/>
          <p:nvPr/>
        </p:nvSpPr>
        <p:spPr>
          <a:xfrm>
            <a:off x="868680" y="3447288"/>
            <a:ext cx="502920" cy="502920"/>
          </a:xfrm>
          <a:prstGeom prst="ellipse">
            <a:avLst/>
          </a:prstGeom>
          <a:solidFill>
            <a:schemeClr val="tx1"/>
          </a:solidFill>
          <a:ln/>
        </p:spPr>
      </p:sp>
      <p:pic>
        <p:nvPicPr>
          <p:cNvPr id="11" name="LIMITATIONS item 2 icon" descr="LIMITATIONS item 2">    </p:cNvPr>
          <p:cNvPicPr>
            <a:picLocks noChangeAspect="1"/>
          </p:cNvPicPr>
          <p:nvPr/>
        </p:nvPicPr>
        <p:blipFill>
          <a:blip r:embed="rId2"/>
          <a:stretch>
            <a:fillRect/>
          </a:stretch>
        </p:blipFill>
        <p:spPr>
          <a:xfrm>
            <a:off x="994410" y="3573018"/>
            <a:ext cx="251460" cy="251460"/>
          </a:xfrm>
          <a:prstGeom prst="rect">
            <a:avLst/>
          </a:prstGeom>
        </p:spPr>
      </p:pic>
      <p:sp>
        <p:nvSpPr>
          <p:cNvPr id="12" name="Text 7"/>
          <p:cNvSpPr txBox="1"/>
          <p:nvPr/>
        </p:nvSpPr>
        <p:spPr>
          <a:xfrm>
            <a:off x="1554480" y="3337560"/>
            <a:ext cx="4114800" cy="731520"/>
          </a:xfrm>
          <a:prstGeom prst="rect">
            <a:avLst/>
          </a:prstGeom>
          <a:noFill/>
          <a:ln/>
        </p:spPr>
        <p:txBody>
          <a:bodyPr wrap="square" lIns="0" tIns="0" rIns="0" bIns="0" rtlCol="0" anchor="ctr"/>
          <a:lstStyle/>
          <a:p>
            <a:pPr indent="0" marL="0">
              <a:buNone/>
            </a:pPr>
            <a:r>
              <a:rPr lang="en-US" sz="1400" dirty="0">
                <a:solidFill>
                  <a:schemeClr val="tx1"/>
                </a:solidFill>
              </a:rPr>
              <a:t>A sum of ASCII codes ignores order: abc and cba give the same checksum.</a:t>
            </a:r>
            <a:endParaRPr lang="en-US" sz="1400" dirty="0"/>
          </a:p>
        </p:txBody>
      </p:sp>
      <p:sp>
        <p:nvSpPr>
          <p:cNvPr id="13" name="LIMITATIONS item 3 badge"/>
          <p:cNvSpPr/>
          <p:nvPr/>
        </p:nvSpPr>
        <p:spPr>
          <a:xfrm>
            <a:off x="868680" y="4361688"/>
            <a:ext cx="502920" cy="502920"/>
          </a:xfrm>
          <a:prstGeom prst="ellipse">
            <a:avLst/>
          </a:prstGeom>
          <a:solidFill>
            <a:schemeClr val="tx1"/>
          </a:solidFill>
          <a:ln/>
        </p:spPr>
      </p:sp>
      <p:pic>
        <p:nvPicPr>
          <p:cNvPr id="14" name="LIMITATIONS item 3 icon" descr="LIMITATIONS item 3">    </p:cNvPr>
          <p:cNvPicPr>
            <a:picLocks noChangeAspect="1"/>
          </p:cNvPicPr>
          <p:nvPr/>
        </p:nvPicPr>
        <p:blipFill>
          <a:blip r:embed="rId3"/>
          <a:stretch>
            <a:fillRect/>
          </a:stretch>
        </p:blipFill>
        <p:spPr>
          <a:xfrm>
            <a:off x="994410" y="4487418"/>
            <a:ext cx="251460" cy="251460"/>
          </a:xfrm>
          <a:prstGeom prst="rect">
            <a:avLst/>
          </a:prstGeom>
        </p:spPr>
      </p:pic>
      <p:sp>
        <p:nvSpPr>
          <p:cNvPr id="15" name="Text 9"/>
          <p:cNvSpPr txBox="1"/>
          <p:nvPr/>
        </p:nvSpPr>
        <p:spPr>
          <a:xfrm>
            <a:off x="1554480" y="4251960"/>
            <a:ext cx="4114800" cy="731520"/>
          </a:xfrm>
          <a:prstGeom prst="rect">
            <a:avLst/>
          </a:prstGeom>
          <a:noFill/>
          <a:ln/>
        </p:spPr>
        <p:txBody>
          <a:bodyPr wrap="square" lIns="0" tIns="0" rIns="0" bIns="0" rtlCol="0" anchor="ctr"/>
          <a:lstStyle/>
          <a:p>
            <a:pPr indent="0" marL="0">
              <a:buNone/>
            </a:pPr>
            <a:r>
              <a:rPr lang="en-US" sz="1400" dirty="0">
                <a:solidFill>
                  <a:schemeClr val="tx1"/>
                </a:solidFill>
              </a:rPr>
              <a:t>A simple educational formula, not a cryptographic hash, despite the “Crypto Hash” label.</a:t>
            </a:r>
            <a:endParaRPr lang="en-US" sz="1400" dirty="0"/>
          </a:p>
        </p:txBody>
      </p:sp>
      <p:sp>
        <p:nvSpPr>
          <p:cNvPr id="16" name="LIMITATIONS item 4 badge"/>
          <p:cNvSpPr/>
          <p:nvPr/>
        </p:nvSpPr>
        <p:spPr>
          <a:xfrm>
            <a:off x="868680" y="5276088"/>
            <a:ext cx="502920" cy="502920"/>
          </a:xfrm>
          <a:prstGeom prst="ellipse">
            <a:avLst/>
          </a:prstGeom>
          <a:solidFill>
            <a:schemeClr val="tx1"/>
          </a:solidFill>
          <a:ln/>
        </p:spPr>
      </p:sp>
      <p:pic>
        <p:nvPicPr>
          <p:cNvPr id="17" name="LIMITATIONS item 4 icon" descr="LIMITATIONS item 4">    </p:cNvPr>
          <p:cNvPicPr>
            <a:picLocks noChangeAspect="1"/>
          </p:cNvPicPr>
          <p:nvPr/>
        </p:nvPicPr>
        <p:blipFill>
          <a:blip r:embed="rId4"/>
          <a:stretch>
            <a:fillRect/>
          </a:stretch>
        </p:blipFill>
        <p:spPr>
          <a:xfrm>
            <a:off x="994410" y="5401818"/>
            <a:ext cx="251460" cy="251460"/>
          </a:xfrm>
          <a:prstGeom prst="rect">
            <a:avLst/>
          </a:prstGeom>
        </p:spPr>
      </p:pic>
      <p:sp>
        <p:nvSpPr>
          <p:cNvPr id="18" name="Text 11"/>
          <p:cNvSpPr txBox="1"/>
          <p:nvPr/>
        </p:nvSpPr>
        <p:spPr>
          <a:xfrm>
            <a:off x="1554480" y="5166360"/>
            <a:ext cx="4114800" cy="731520"/>
          </a:xfrm>
          <a:prstGeom prst="rect">
            <a:avLst/>
          </a:prstGeom>
          <a:noFill/>
          <a:ln/>
        </p:spPr>
        <p:txBody>
          <a:bodyPr wrap="square" lIns="0" tIns="0" rIns="0" bIns="0" rtlCol="0" anchor="ctr"/>
          <a:lstStyle/>
          <a:p>
            <a:pPr indent="0" marL="0">
              <a:buNone/>
            </a:pPr>
            <a:r>
              <a:rPr lang="en-US" sz="1400" dirty="0">
                <a:solidFill>
                  <a:schemeClr val="tx1"/>
                </a:solidFill>
              </a:rPr>
              <a:t>Scans read names with cin &gt;&gt;, so names containing spaces are not supported.</a:t>
            </a:r>
            <a:endParaRPr lang="en-US" sz="1400" dirty="0"/>
          </a:p>
        </p:txBody>
      </p:sp>
      <p:sp>
        <p:nvSpPr>
          <p:cNvPr id="19" name="FUTURE SCOPE card"/>
          <p:cNvSpPr/>
          <p:nvPr/>
        </p:nvSpPr>
        <p:spPr>
          <a:xfrm>
            <a:off x="6245352" y="1691640"/>
            <a:ext cx="5394960" cy="4480560"/>
          </a:xfrm>
          <a:prstGeom prst="roundRect">
            <a:avLst>
              <a:gd name="adj" fmla="val 2449"/>
            </a:avLst>
          </a:prstGeom>
          <a:solidFill>
            <a:schemeClr val="bg1"/>
          </a:solidFill>
          <a:ln/>
          <a:effectLst>
            <a:outerShdw sx="100000" sy="100000" kx="0" ky="0" algn="bl" rotWithShape="0" blurRad="127000" dist="25400" dir="5400000">
              <a:srgbClr val="0B1320">
                <a:alpha val="10000"/>
              </a:srgbClr>
            </a:outerShdw>
          </a:effectLst>
        </p:spPr>
      </p:sp>
      <p:sp>
        <p:nvSpPr>
          <p:cNvPr id="20" name="Text 13"/>
          <p:cNvSpPr txBox="1"/>
          <p:nvPr/>
        </p:nvSpPr>
        <p:spPr>
          <a:xfrm>
            <a:off x="6565392" y="1920240"/>
            <a:ext cx="3657600" cy="274320"/>
          </a:xfrm>
          <a:prstGeom prst="rect">
            <a:avLst/>
          </a:prstGeom>
          <a:noFill/>
          <a:ln/>
        </p:spPr>
        <p:txBody>
          <a:bodyPr wrap="square" lIns="0" tIns="0" rIns="0" bIns="0" rtlCol="0" anchor="t"/>
          <a:lstStyle/>
          <a:p>
            <a:pPr indent="0" marL="0">
              <a:buNone/>
            </a:pPr>
            <a:r>
              <a:rPr lang="en-US" sz="1400" b="1" spc="300" kern="0" dirty="0">
                <a:solidFill>
                  <a:schemeClr val="accent5"/>
                </a:solidFill>
              </a:rPr>
              <a:t>FUTURE SCOPE</a:t>
            </a:r>
            <a:endParaRPr lang="en-US" sz="1400" dirty="0"/>
          </a:p>
        </p:txBody>
      </p:sp>
      <p:sp>
        <p:nvSpPr>
          <p:cNvPr id="21" name="FUTURE SCOPE item 1 badge"/>
          <p:cNvSpPr/>
          <p:nvPr/>
        </p:nvSpPr>
        <p:spPr>
          <a:xfrm>
            <a:off x="6565392" y="2532888"/>
            <a:ext cx="502920" cy="502920"/>
          </a:xfrm>
          <a:prstGeom prst="ellipse">
            <a:avLst/>
          </a:prstGeom>
          <a:solidFill>
            <a:schemeClr val="tx1"/>
          </a:solidFill>
          <a:ln/>
        </p:spPr>
      </p:sp>
      <p:pic>
        <p:nvPicPr>
          <p:cNvPr id="22" name="FUTURE SCOPE item 1 icon" descr="FUTURE SCOPE item 1">    </p:cNvPr>
          <p:cNvPicPr>
            <a:picLocks noChangeAspect="1"/>
          </p:cNvPicPr>
          <p:nvPr/>
        </p:nvPicPr>
        <p:blipFill>
          <a:blip r:embed="rId5"/>
          <a:stretch>
            <a:fillRect/>
          </a:stretch>
        </p:blipFill>
        <p:spPr>
          <a:xfrm>
            <a:off x="6691122" y="2658618"/>
            <a:ext cx="251460" cy="251460"/>
          </a:xfrm>
          <a:prstGeom prst="rect">
            <a:avLst/>
          </a:prstGeom>
        </p:spPr>
      </p:pic>
      <p:sp>
        <p:nvSpPr>
          <p:cNvPr id="23" name="Text 15"/>
          <p:cNvSpPr txBox="1"/>
          <p:nvPr/>
        </p:nvSpPr>
        <p:spPr>
          <a:xfrm>
            <a:off x="7251192" y="2423160"/>
            <a:ext cx="4114800" cy="731520"/>
          </a:xfrm>
          <a:prstGeom prst="rect">
            <a:avLst/>
          </a:prstGeom>
          <a:noFill/>
          <a:ln/>
        </p:spPr>
        <p:txBody>
          <a:bodyPr wrap="square" lIns="0" tIns="0" rIns="0" bIns="0" rtlCol="0" anchor="ctr"/>
          <a:lstStyle/>
          <a:p>
            <a:pPr indent="0" marL="0">
              <a:buNone/>
            </a:pPr>
            <a:r>
              <a:rPr lang="en-US" sz="1400" dirty="0">
                <a:solidFill>
                  <a:schemeClr val="tx1"/>
                </a:solidFill>
              </a:rPr>
              <a:t>Hash real file bytes with a standard algorithm such as SHA-256.</a:t>
            </a:r>
            <a:endParaRPr lang="en-US" sz="1400" dirty="0"/>
          </a:p>
        </p:txBody>
      </p:sp>
      <p:sp>
        <p:nvSpPr>
          <p:cNvPr id="24" name="FUTURE SCOPE item 2 badge"/>
          <p:cNvSpPr/>
          <p:nvPr/>
        </p:nvSpPr>
        <p:spPr>
          <a:xfrm>
            <a:off x="6565392" y="3447288"/>
            <a:ext cx="502920" cy="502920"/>
          </a:xfrm>
          <a:prstGeom prst="ellipse">
            <a:avLst/>
          </a:prstGeom>
          <a:solidFill>
            <a:schemeClr val="tx1"/>
          </a:solidFill>
          <a:ln/>
        </p:spPr>
      </p:sp>
      <p:pic>
        <p:nvPicPr>
          <p:cNvPr id="25" name="FUTURE SCOPE item 2 icon" descr="FUTURE SCOPE item 2">    </p:cNvPr>
          <p:cNvPicPr>
            <a:picLocks noChangeAspect="1"/>
          </p:cNvPicPr>
          <p:nvPr/>
        </p:nvPicPr>
        <p:blipFill>
          <a:blip r:embed="rId6"/>
          <a:stretch>
            <a:fillRect/>
          </a:stretch>
        </p:blipFill>
        <p:spPr>
          <a:xfrm>
            <a:off x="6691122" y="3573018"/>
            <a:ext cx="251460" cy="251460"/>
          </a:xfrm>
          <a:prstGeom prst="rect">
            <a:avLst/>
          </a:prstGeom>
        </p:spPr>
      </p:pic>
      <p:sp>
        <p:nvSpPr>
          <p:cNvPr id="26" name="Text 17"/>
          <p:cNvSpPr txBox="1"/>
          <p:nvPr/>
        </p:nvSpPr>
        <p:spPr>
          <a:xfrm>
            <a:off x="7251192" y="3337560"/>
            <a:ext cx="4114800" cy="731520"/>
          </a:xfrm>
          <a:prstGeom prst="rect">
            <a:avLst/>
          </a:prstGeom>
          <a:noFill/>
          <a:ln/>
        </p:spPr>
        <p:txBody>
          <a:bodyPr wrap="square" lIns="0" tIns="0" rIns="0" bIns="0" rtlCol="0" anchor="ctr"/>
          <a:lstStyle/>
          <a:p>
            <a:pPr indent="0" marL="0">
              <a:buNone/>
            </a:pPr>
            <a:r>
              <a:rPr lang="en-US" sz="1400" dirty="0">
                <a:solidFill>
                  <a:schemeClr val="tx1"/>
                </a:solidFill>
              </a:rPr>
              <a:t>Save audit dossiers to a log file (they are currently printed to the console only).</a:t>
            </a:r>
            <a:endParaRPr lang="en-US" sz="1400" dirty="0"/>
          </a:p>
        </p:txBody>
      </p:sp>
      <p:sp>
        <p:nvSpPr>
          <p:cNvPr id="27" name="FUTURE SCOPE item 3 badge"/>
          <p:cNvSpPr/>
          <p:nvPr/>
        </p:nvSpPr>
        <p:spPr>
          <a:xfrm>
            <a:off x="6565392" y="4361688"/>
            <a:ext cx="502920" cy="502920"/>
          </a:xfrm>
          <a:prstGeom prst="ellipse">
            <a:avLst/>
          </a:prstGeom>
          <a:solidFill>
            <a:schemeClr val="tx1"/>
          </a:solidFill>
          <a:ln/>
        </p:spPr>
      </p:sp>
      <p:pic>
        <p:nvPicPr>
          <p:cNvPr id="28" name="FUTURE SCOPE item 3 icon" descr="FUTURE SCOPE item 3">    </p:cNvPr>
          <p:cNvPicPr>
            <a:picLocks noChangeAspect="1"/>
          </p:cNvPicPr>
          <p:nvPr/>
        </p:nvPicPr>
        <p:blipFill>
          <a:blip r:embed="rId7"/>
          <a:stretch>
            <a:fillRect/>
          </a:stretch>
        </p:blipFill>
        <p:spPr>
          <a:xfrm>
            <a:off x="6691122" y="4487418"/>
            <a:ext cx="251460" cy="251460"/>
          </a:xfrm>
          <a:prstGeom prst="rect">
            <a:avLst/>
          </a:prstGeom>
        </p:spPr>
      </p:pic>
      <p:sp>
        <p:nvSpPr>
          <p:cNvPr id="29" name="Text 19"/>
          <p:cNvSpPr txBox="1"/>
          <p:nvPr/>
        </p:nvSpPr>
        <p:spPr>
          <a:xfrm>
            <a:off x="7251192" y="4251960"/>
            <a:ext cx="4114800" cy="731520"/>
          </a:xfrm>
          <a:prstGeom prst="rect">
            <a:avLst/>
          </a:prstGeom>
          <a:noFill/>
          <a:ln/>
        </p:spPr>
        <p:txBody>
          <a:bodyPr wrap="square" lIns="0" tIns="0" rIns="0" bIns="0" rtlCol="0" anchor="ctr"/>
          <a:lstStyle/>
          <a:p>
            <a:pPr indent="0" marL="0">
              <a:buNone/>
            </a:pPr>
            <a:r>
              <a:rPr lang="en-US" sz="1400" dirty="0">
                <a:solidFill>
                  <a:schemeClr val="tx1"/>
                </a:solidFill>
              </a:rPr>
              <a:t>Add more scanner classes derived from ForensicsEngine.</a:t>
            </a:r>
            <a:endParaRPr lang="en-US" sz="1400" dirty="0"/>
          </a:p>
        </p:txBody>
      </p:sp>
      <p:sp>
        <p:nvSpPr>
          <p:cNvPr id="30" name="FUTURE SCOPE item 4 badge"/>
          <p:cNvSpPr/>
          <p:nvPr/>
        </p:nvSpPr>
        <p:spPr>
          <a:xfrm>
            <a:off x="6565392" y="5276088"/>
            <a:ext cx="502920" cy="502920"/>
          </a:xfrm>
          <a:prstGeom prst="ellipse">
            <a:avLst/>
          </a:prstGeom>
          <a:solidFill>
            <a:schemeClr val="tx1"/>
          </a:solidFill>
          <a:ln/>
        </p:spPr>
      </p:sp>
      <p:pic>
        <p:nvPicPr>
          <p:cNvPr id="31" name="FUTURE SCOPE item 4 icon" descr="FUTURE SCOPE item 4">    </p:cNvPr>
          <p:cNvPicPr>
            <a:picLocks noChangeAspect="1"/>
          </p:cNvPicPr>
          <p:nvPr/>
        </p:nvPicPr>
        <p:blipFill>
          <a:blip r:embed="rId8"/>
          <a:stretch>
            <a:fillRect/>
          </a:stretch>
        </p:blipFill>
        <p:spPr>
          <a:xfrm>
            <a:off x="6691122" y="5401818"/>
            <a:ext cx="251460" cy="251460"/>
          </a:xfrm>
          <a:prstGeom prst="rect">
            <a:avLst/>
          </a:prstGeom>
        </p:spPr>
      </p:pic>
      <p:sp>
        <p:nvSpPr>
          <p:cNvPr id="32" name="Text 21"/>
          <p:cNvSpPr txBox="1"/>
          <p:nvPr/>
        </p:nvSpPr>
        <p:spPr>
          <a:xfrm>
            <a:off x="7251192" y="5166360"/>
            <a:ext cx="4114800" cy="731520"/>
          </a:xfrm>
          <a:prstGeom prst="rect">
            <a:avLst/>
          </a:prstGeom>
          <a:noFill/>
          <a:ln/>
        </p:spPr>
        <p:txBody>
          <a:bodyPr wrap="square" lIns="0" tIns="0" rIns="0" bIns="0" rtlCol="0" anchor="ctr"/>
          <a:lstStyle/>
          <a:p>
            <a:pPr indent="0" marL="0">
              <a:buNone/>
            </a:pPr>
            <a:r>
              <a:rPr lang="en-US" sz="1400" dirty="0">
                <a:solidFill>
                  <a:schemeClr val="tx1"/>
                </a:solidFill>
              </a:rPr>
              <a:t>Replace raw new / delete with smart pointers such as std::unique_ptr.</a:t>
            </a:r>
            <a:endParaRPr lang="en-US" sz="1400" dirty="0"/>
          </a:p>
        </p:txBody>
      </p:sp>
      <p:sp>
        <p:nvSpPr>
          <p:cNvPr id="25" name="Slide Number Placeholder 0"/>
          <p:cNvSpPr>
            <a:spLocks noGrp="1"/>
          </p:cNvSpPr>
          <p:nvPr>
            <p:ph type="sldNum" sz="quarter" idx="4294967295"/>
          </p:nvPr>
        </p:nvSpPr>
        <p:spPr>
          <a:xfrm>
            <a:off x="10881360" y="6419088"/>
            <a:ext cx="75895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603504"/>
            <a:ext cx="11091672" cy="685800"/>
          </a:xfrm>
          <a:prstGeom prst="rect">
            <a:avLst/>
          </a:prstGeom>
          <a:noFill/>
          <a:ln/>
        </p:spPr>
        <p:txBody>
          <a:bodyPr wrap="square" lIns="0" tIns="0" rIns="0" bIns="0" rtlCol="0" anchor="ctr"/>
          <a:lstStyle/>
          <a:p>
            <a:pPr algn="l" indent="0" marL="0">
              <a:buNone/>
            </a:pPr>
            <a:r>
              <a:rPr lang="en-US" sz="3400" b="1" dirty="0">
                <a:solidFill>
                  <a:schemeClr val="bg1"/>
                </a:solidFill>
              </a:rPr>
              <a:t>Conclusion</a:t>
            </a:r>
            <a:endParaRPr lang="en-US" sz="3400" dirty="0"/>
          </a:p>
        </p:txBody>
      </p:sp>
      <p:sp>
        <p:nvSpPr>
          <p:cNvPr id="3" name="Text 1"/>
          <p:cNvSpPr txBox="1"/>
          <p:nvPr/>
        </p:nvSpPr>
        <p:spPr>
          <a:xfrm>
            <a:off x="548640" y="329184"/>
            <a:ext cx="7315200" cy="237744"/>
          </a:xfrm>
          <a:prstGeom prst="rect">
            <a:avLst/>
          </a:prstGeom>
          <a:noFill/>
          <a:ln/>
        </p:spPr>
        <p:txBody>
          <a:bodyPr wrap="square" lIns="0" tIns="0" rIns="0" bIns="0" rtlCol="0" anchor="t"/>
          <a:lstStyle/>
          <a:p>
            <a:pPr indent="0" marL="0">
              <a:buNone/>
            </a:pPr>
            <a:r>
              <a:rPr lang="en-US" sz="1200" b="1" spc="300" kern="0" dirty="0">
                <a:solidFill>
                  <a:schemeClr val="accent6"/>
                </a:solidFill>
              </a:rPr>
              <a:t>SUMMARY</a:t>
            </a:r>
            <a:endParaRPr lang="en-US" sz="1200" dirty="0"/>
          </a:p>
        </p:txBody>
      </p:sp>
      <p:sp>
        <p:nvSpPr>
          <p:cNvPr id="4" name="Text 2"/>
          <p:cNvSpPr txBox="1"/>
          <p:nvPr/>
        </p:nvSpPr>
        <p:spPr>
          <a:xfrm>
            <a:off x="548640" y="1691640"/>
            <a:ext cx="914400" cy="914400"/>
          </a:xfrm>
          <a:prstGeom prst="rect">
            <a:avLst/>
          </a:prstGeom>
          <a:noFill/>
          <a:ln/>
        </p:spPr>
        <p:txBody>
          <a:bodyPr wrap="square" lIns="0" tIns="0" rIns="0" bIns="0" rtlCol="0" anchor="ctr"/>
          <a:lstStyle/>
          <a:p>
            <a:pPr indent="0" marL="0">
              <a:buNone/>
            </a:pPr>
            <a:r>
              <a:rPr lang="en-US" sz="3600" b="1" dirty="0">
                <a:solidFill>
                  <a:schemeClr val="accent1"/>
                </a:solidFill>
                <a:latin typeface="+mj-lt" pitchFamily="34" charset="0"/>
                <a:ea typeface="+mj-lt" pitchFamily="34" charset="-122"/>
                <a:cs typeface="+mj-lt" pitchFamily="34" charset="-120"/>
              </a:rPr>
              <a:t>01</a:t>
            </a:r>
            <a:endParaRPr lang="en-US" sz="3600" dirty="0"/>
          </a:p>
        </p:txBody>
      </p:sp>
      <p:sp>
        <p:nvSpPr>
          <p:cNvPr id="5" name="Text 3"/>
          <p:cNvSpPr txBox="1"/>
          <p:nvPr/>
        </p:nvSpPr>
        <p:spPr>
          <a:xfrm>
            <a:off x="1645920" y="1691640"/>
            <a:ext cx="5852160" cy="914400"/>
          </a:xfrm>
          <a:prstGeom prst="rect">
            <a:avLst/>
          </a:prstGeom>
          <a:noFill/>
          <a:ln/>
        </p:spPr>
        <p:txBody>
          <a:bodyPr wrap="square" lIns="0" tIns="0" rIns="0" bIns="0" rtlCol="0" anchor="ctr"/>
          <a:lstStyle/>
          <a:p>
            <a:pPr indent="0" marL="0">
              <a:buNone/>
            </a:pPr>
            <a:r>
              <a:rPr lang="en-US" sz="1900" dirty="0">
                <a:solidFill>
                  <a:schemeClr val="bg1"/>
                </a:solidFill>
              </a:rPr>
              <a:t>Verifies evidence integrity by comparing a live checksum with a trusted baseline.</a:t>
            </a:r>
            <a:endParaRPr lang="en-US" sz="1900" dirty="0"/>
          </a:p>
        </p:txBody>
      </p:sp>
      <p:sp>
        <p:nvSpPr>
          <p:cNvPr id="6" name="Shape 4"/>
          <p:cNvSpPr/>
          <p:nvPr/>
        </p:nvSpPr>
        <p:spPr>
          <a:xfrm>
            <a:off x="548640" y="2715768"/>
            <a:ext cx="6949440" cy="0"/>
          </a:xfrm>
          <a:prstGeom prst="line">
            <a:avLst/>
          </a:prstGeom>
          <a:noFill/>
          <a:ln w="12700">
            <a:solidFill>
              <a:schemeClr val="tx2"/>
            </a:solidFill>
            <a:prstDash val="solid"/>
          </a:ln>
        </p:spPr>
      </p:sp>
      <p:sp>
        <p:nvSpPr>
          <p:cNvPr id="7" name="Text 5"/>
          <p:cNvSpPr txBox="1"/>
          <p:nvPr/>
        </p:nvSpPr>
        <p:spPr>
          <a:xfrm>
            <a:off x="548640" y="2834640"/>
            <a:ext cx="914400" cy="914400"/>
          </a:xfrm>
          <a:prstGeom prst="rect">
            <a:avLst/>
          </a:prstGeom>
          <a:noFill/>
          <a:ln/>
        </p:spPr>
        <p:txBody>
          <a:bodyPr wrap="square" lIns="0" tIns="0" rIns="0" bIns="0" rtlCol="0" anchor="ctr"/>
          <a:lstStyle/>
          <a:p>
            <a:pPr indent="0" marL="0">
              <a:buNone/>
            </a:pPr>
            <a:r>
              <a:rPr lang="en-US" sz="3600" b="1" dirty="0">
                <a:solidFill>
                  <a:schemeClr val="accent1"/>
                </a:solidFill>
                <a:latin typeface="+mj-lt" pitchFamily="34" charset="0"/>
                <a:ea typeface="+mj-lt" pitchFamily="34" charset="-122"/>
                <a:cs typeface="+mj-lt" pitchFamily="34" charset="-120"/>
              </a:rPr>
              <a:t>02</a:t>
            </a:r>
            <a:endParaRPr lang="en-US" sz="3600" dirty="0"/>
          </a:p>
        </p:txBody>
      </p:sp>
      <p:sp>
        <p:nvSpPr>
          <p:cNvPr id="8" name="Text 6"/>
          <p:cNvSpPr txBox="1"/>
          <p:nvPr/>
        </p:nvSpPr>
        <p:spPr>
          <a:xfrm>
            <a:off x="1645920" y="2834640"/>
            <a:ext cx="5852160" cy="914400"/>
          </a:xfrm>
          <a:prstGeom prst="rect">
            <a:avLst/>
          </a:prstGeom>
          <a:noFill/>
          <a:ln/>
        </p:spPr>
        <p:txBody>
          <a:bodyPr wrap="square" lIns="0" tIns="0" rIns="0" bIns="0" rtlCol="0" anchor="ctr"/>
          <a:lstStyle/>
          <a:p>
            <a:pPr indent="0" marL="0">
              <a:buNone/>
            </a:pPr>
            <a:r>
              <a:rPr lang="en-US" sz="1900" dirty="0">
                <a:solidFill>
                  <a:schemeClr val="bg1"/>
                </a:solidFill>
              </a:rPr>
              <a:t>Applies eight OOP concepts in one compact, easy-to-trace design.</a:t>
            </a:r>
            <a:endParaRPr lang="en-US" sz="1900" dirty="0"/>
          </a:p>
        </p:txBody>
      </p:sp>
      <p:sp>
        <p:nvSpPr>
          <p:cNvPr id="9" name="Shape 7"/>
          <p:cNvSpPr/>
          <p:nvPr/>
        </p:nvSpPr>
        <p:spPr>
          <a:xfrm>
            <a:off x="548640" y="3858768"/>
            <a:ext cx="6949440" cy="0"/>
          </a:xfrm>
          <a:prstGeom prst="line">
            <a:avLst/>
          </a:prstGeom>
          <a:noFill/>
          <a:ln w="12700">
            <a:solidFill>
              <a:schemeClr val="tx2"/>
            </a:solidFill>
            <a:prstDash val="solid"/>
          </a:ln>
        </p:spPr>
      </p:sp>
      <p:sp>
        <p:nvSpPr>
          <p:cNvPr id="10" name="Text 8"/>
          <p:cNvSpPr txBox="1"/>
          <p:nvPr/>
        </p:nvSpPr>
        <p:spPr>
          <a:xfrm>
            <a:off x="548640" y="3977640"/>
            <a:ext cx="914400" cy="914400"/>
          </a:xfrm>
          <a:prstGeom prst="rect">
            <a:avLst/>
          </a:prstGeom>
          <a:noFill/>
          <a:ln/>
        </p:spPr>
        <p:txBody>
          <a:bodyPr wrap="square" lIns="0" tIns="0" rIns="0" bIns="0" rtlCol="0" anchor="ctr"/>
          <a:lstStyle/>
          <a:p>
            <a:pPr indent="0" marL="0">
              <a:buNone/>
            </a:pPr>
            <a:r>
              <a:rPr lang="en-US" sz="3600" b="1" dirty="0">
                <a:solidFill>
                  <a:schemeClr val="accent1"/>
                </a:solidFill>
                <a:latin typeface="+mj-lt" pitchFamily="34" charset="0"/>
                <a:ea typeface="+mj-lt" pitchFamily="34" charset="-122"/>
                <a:cs typeface="+mj-lt" pitchFamily="34" charset="-120"/>
              </a:rPr>
              <a:t>03</a:t>
            </a:r>
            <a:endParaRPr lang="en-US" sz="3600" dirty="0"/>
          </a:p>
        </p:txBody>
      </p:sp>
      <p:sp>
        <p:nvSpPr>
          <p:cNvPr id="11" name="Text 9"/>
          <p:cNvSpPr txBox="1"/>
          <p:nvPr/>
        </p:nvSpPr>
        <p:spPr>
          <a:xfrm>
            <a:off x="1645920" y="3977640"/>
            <a:ext cx="5852160" cy="914400"/>
          </a:xfrm>
          <a:prstGeom prst="rect">
            <a:avLst/>
          </a:prstGeom>
          <a:noFill/>
          <a:ln/>
        </p:spPr>
        <p:txBody>
          <a:bodyPr wrap="square" lIns="0" tIns="0" rIns="0" bIns="0" rtlCol="0" anchor="ctr"/>
          <a:lstStyle/>
          <a:p>
            <a:pPr indent="0" marL="0">
              <a:buNone/>
            </a:pPr>
            <a:r>
              <a:rPr lang="en-US" sz="1900" dirty="0">
                <a:solidFill>
                  <a:schemeClr val="bg1"/>
                </a:solidFill>
              </a:rPr>
              <a:t>Extensible: new scanners can be added by deriving from ForensicsEngine.</a:t>
            </a:r>
            <a:endParaRPr lang="en-US" sz="1900" dirty="0"/>
          </a:p>
        </p:txBody>
      </p:sp>
      <p:sp>
        <p:nvSpPr>
          <p:cNvPr id="12" name="Shape 10"/>
          <p:cNvSpPr/>
          <p:nvPr/>
        </p:nvSpPr>
        <p:spPr>
          <a:xfrm>
            <a:off x="548640" y="5001768"/>
            <a:ext cx="6949440" cy="0"/>
          </a:xfrm>
          <a:prstGeom prst="line">
            <a:avLst/>
          </a:prstGeom>
          <a:noFill/>
          <a:ln w="12700">
            <a:solidFill>
              <a:schemeClr val="tx2"/>
            </a:solidFill>
            <a:prstDash val="solid"/>
          </a:ln>
        </p:spPr>
      </p:sp>
      <p:sp>
        <p:nvSpPr>
          <p:cNvPr id="13" name="Text 11"/>
          <p:cNvSpPr txBox="1"/>
          <p:nvPr/>
        </p:nvSpPr>
        <p:spPr>
          <a:xfrm>
            <a:off x="548640" y="5120640"/>
            <a:ext cx="914400" cy="914400"/>
          </a:xfrm>
          <a:prstGeom prst="rect">
            <a:avLst/>
          </a:prstGeom>
          <a:noFill/>
          <a:ln/>
        </p:spPr>
        <p:txBody>
          <a:bodyPr wrap="square" lIns="0" tIns="0" rIns="0" bIns="0" rtlCol="0" anchor="ctr"/>
          <a:lstStyle/>
          <a:p>
            <a:pPr indent="0" marL="0">
              <a:buNone/>
            </a:pPr>
            <a:r>
              <a:rPr lang="en-US" sz="3600" b="1" dirty="0">
                <a:solidFill>
                  <a:schemeClr val="accent1"/>
                </a:solidFill>
                <a:latin typeface="+mj-lt" pitchFamily="34" charset="0"/>
                <a:ea typeface="+mj-lt" pitchFamily="34" charset="-122"/>
                <a:cs typeface="+mj-lt" pitchFamily="34" charset="-120"/>
              </a:rPr>
              <a:t>04</a:t>
            </a:r>
            <a:endParaRPr lang="en-US" sz="3600" dirty="0"/>
          </a:p>
        </p:txBody>
      </p:sp>
      <p:sp>
        <p:nvSpPr>
          <p:cNvPr id="14" name="Text 12"/>
          <p:cNvSpPr txBox="1"/>
          <p:nvPr/>
        </p:nvSpPr>
        <p:spPr>
          <a:xfrm>
            <a:off x="1645920" y="5120640"/>
            <a:ext cx="5852160" cy="914400"/>
          </a:xfrm>
          <a:prstGeom prst="rect">
            <a:avLst/>
          </a:prstGeom>
          <a:noFill/>
          <a:ln/>
        </p:spPr>
        <p:txBody>
          <a:bodyPr wrap="square" lIns="0" tIns="0" rIns="0" bIns="0" rtlCol="0" anchor="ctr"/>
          <a:lstStyle/>
          <a:p>
            <a:pPr indent="0" marL="0">
              <a:buNone/>
            </a:pPr>
            <a:r>
              <a:rPr lang="en-US" sz="1900" dirty="0">
                <a:solidFill>
                  <a:schemeClr val="bg1"/>
                </a:solidFill>
              </a:rPr>
              <a:t>Next step: hash real file contents and keep persistent audit logs.</a:t>
            </a:r>
            <a:endParaRPr lang="en-US" sz="1900" dirty="0"/>
          </a:p>
        </p:txBody>
      </p:sp>
      <p:sp>
        <p:nvSpPr>
          <p:cNvPr id="15" name="Outer ring"/>
          <p:cNvSpPr/>
          <p:nvPr/>
        </p:nvSpPr>
        <p:spPr>
          <a:xfrm>
            <a:off x="8183880" y="1691640"/>
            <a:ext cx="3291840" cy="3291840"/>
          </a:xfrm>
          <a:prstGeom prst="ellipse">
            <a:avLst/>
          </a:prstGeom>
          <a:solidFill>
            <a:schemeClr val="tx2"/>
          </a:solidFill>
          <a:ln/>
        </p:spPr>
      </p:sp>
      <p:sp>
        <p:nvSpPr>
          <p:cNvPr id="16" name="Inner disc"/>
          <p:cNvSpPr/>
          <p:nvPr/>
        </p:nvSpPr>
        <p:spPr>
          <a:xfrm>
            <a:off x="8732520" y="2240280"/>
            <a:ext cx="2194560" cy="2194560"/>
          </a:xfrm>
          <a:prstGeom prst="ellipse">
            <a:avLst/>
          </a:prstGeom>
          <a:solidFill>
            <a:schemeClr val="tx1"/>
          </a:solidFill>
          <a:ln w="31750">
            <a:solidFill>
              <a:schemeClr val="accent1"/>
            </a:solidFill>
            <a:prstDash val="solid"/>
          </a:ln>
        </p:spPr>
      </p:sp>
      <p:pic>
        <p:nvPicPr>
          <p:cNvPr id="17" name="Shield icon" descr="Shield icon">    </p:cNvPr>
          <p:cNvPicPr>
            <a:picLocks noChangeAspect="1"/>
          </p:cNvPicPr>
          <p:nvPr/>
        </p:nvPicPr>
        <p:blipFill>
          <a:blip r:embed="rId1"/>
          <a:stretch>
            <a:fillRect/>
          </a:stretch>
        </p:blipFill>
        <p:spPr>
          <a:xfrm>
            <a:off x="9235440" y="2743200"/>
            <a:ext cx="1188720" cy="1188720"/>
          </a:xfrm>
          <a:prstGeom prst="rect">
            <a:avLst/>
          </a:prstGeom>
        </p:spPr>
      </p:pic>
      <p:sp>
        <p:nvSpPr>
          <p:cNvPr id="18" name="Text 15"/>
          <p:cNvSpPr txBox="1"/>
          <p:nvPr/>
        </p:nvSpPr>
        <p:spPr>
          <a:xfrm>
            <a:off x="7863840" y="5303520"/>
            <a:ext cx="3931920" cy="457200"/>
          </a:xfrm>
          <a:prstGeom prst="rect">
            <a:avLst/>
          </a:prstGeom>
          <a:noFill/>
          <a:ln/>
        </p:spPr>
        <p:txBody>
          <a:bodyPr wrap="square" lIns="0" tIns="0" rIns="0" bIns="0" rtlCol="0" anchor="t"/>
          <a:lstStyle/>
          <a:p>
            <a:pPr algn="ctr" indent="0" marL="0">
              <a:buNone/>
            </a:pPr>
            <a:r>
              <a:rPr lang="en-US" sz="2200" b="1" i="1" dirty="0">
                <a:solidFill>
                  <a:schemeClr val="accent1"/>
                </a:solidFill>
                <a:latin typeface="+mj-lt" pitchFamily="34" charset="0"/>
                <a:ea typeface="+mj-lt" pitchFamily="34" charset="-122"/>
                <a:cs typeface="+mj-lt" pitchFamily="34" charset="-120"/>
              </a:rPr>
              <a:t>Baseline. Compare. Verify.</a:t>
            </a:r>
            <a:endParaRPr lang="en-US" sz="2200" dirty="0"/>
          </a:p>
        </p:txBody>
      </p:sp>
      <p:sp>
        <p:nvSpPr>
          <p:cNvPr id="25" name="Slide Number Placeholder 0"/>
          <p:cNvSpPr>
            <a:spLocks noGrp="1"/>
          </p:cNvSpPr>
          <p:nvPr>
            <p:ph type="sldNum" sz="quarter" idx="4294967295"/>
          </p:nvPr>
        </p:nvSpPr>
        <p:spPr>
          <a:xfrm>
            <a:off x="10881360" y="6419088"/>
            <a:ext cx="75895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11091672" cy="1280160"/>
          </a:xfrm>
          <a:prstGeom prst="rect">
            <a:avLst/>
          </a:prstGeom>
          <a:noFill/>
          <a:ln/>
        </p:spPr>
        <p:txBody>
          <a:bodyPr wrap="square" lIns="0" tIns="0" rIns="0" bIns="0" rtlCol="0" anchor="ctr"/>
          <a:lstStyle/>
          <a:p>
            <a:pPr algn="ctr" indent="0" marL="0">
              <a:buNone/>
            </a:pPr>
            <a:r>
              <a:rPr lang="en-US" sz="6400" b="1" dirty="0">
                <a:solidFill>
                  <a:schemeClr val="bg1"/>
                </a:solidFill>
              </a:rPr>
              <a:t>Thank You</a:t>
            </a:r>
            <a:endParaRPr lang="en-US" sz="6400" dirty="0"/>
          </a:p>
        </p:txBody>
      </p:sp>
      <p:sp>
        <p:nvSpPr>
          <p:cNvPr id="3" name="Text 1"/>
          <p:cNvSpPr txBox="1"/>
          <p:nvPr/>
        </p:nvSpPr>
        <p:spPr>
          <a:xfrm>
            <a:off x="548640" y="2423160"/>
            <a:ext cx="11091672" cy="548640"/>
          </a:xfrm>
          <a:prstGeom prst="rect">
            <a:avLst/>
          </a:prstGeom>
          <a:noFill/>
          <a:ln/>
        </p:spPr>
        <p:txBody>
          <a:bodyPr wrap="square" lIns="0" tIns="0" rIns="0" bIns="0" rtlCol="0" anchor="t"/>
          <a:lstStyle/>
          <a:p>
            <a:pPr algn="ctr" indent="0" marL="0">
              <a:buNone/>
            </a:pPr>
            <a:r>
              <a:rPr lang="en-US" sz="2600" b="1" dirty="0">
                <a:solidFill>
                  <a:schemeClr val="accent1"/>
                </a:solidFill>
              </a:rPr>
              <a:t>Questions?</a:t>
            </a:r>
            <a:endParaRPr lang="en-US" sz="2600" dirty="0"/>
          </a:p>
        </p:txBody>
      </p:sp>
      <p:sp>
        <p:nvSpPr>
          <p:cNvPr id="4" name="Text 2"/>
          <p:cNvSpPr txBox="1"/>
          <p:nvPr/>
        </p:nvSpPr>
        <p:spPr>
          <a:xfrm>
            <a:off x="548640" y="3108960"/>
            <a:ext cx="11091672" cy="365760"/>
          </a:xfrm>
          <a:prstGeom prst="rect">
            <a:avLst/>
          </a:prstGeom>
          <a:noFill/>
          <a:ln/>
        </p:spPr>
        <p:txBody>
          <a:bodyPr wrap="square" lIns="0" tIns="0" rIns="0" bIns="0" rtlCol="0" anchor="t"/>
          <a:lstStyle/>
          <a:p>
            <a:pPr algn="ctr" indent="0" marL="0">
              <a:buNone/>
            </a:pPr>
            <a:r>
              <a:rPr lang="en-US" sz="1600" dirty="0">
                <a:solidFill>
                  <a:schemeClr val="accent6"/>
                </a:solidFill>
              </a:rPr>
              <a:t>Cyber-Forensic Integrity Suite  ·  C++ Object-Oriented Programming Project</a:t>
            </a:r>
            <a:endParaRPr lang="en-US" sz="1600" dirty="0"/>
          </a:p>
        </p:txBody>
      </p:sp>
      <p:sp>
        <p:nvSpPr>
          <p:cNvPr id="5" name="Team card Pranav Sahoo"/>
          <p:cNvSpPr/>
          <p:nvPr/>
        </p:nvSpPr>
        <p:spPr>
          <a:xfrm>
            <a:off x="640080" y="4434840"/>
            <a:ext cx="2606040" cy="1097280"/>
          </a:xfrm>
          <a:prstGeom prst="roundRect">
            <a:avLst>
              <a:gd name="adj" fmla="val 10000"/>
            </a:avLst>
          </a:prstGeom>
          <a:solidFill>
            <a:schemeClr val="tx2"/>
          </a:solidFill>
          <a:ln/>
        </p:spPr>
      </p:sp>
      <p:sp>
        <p:nvSpPr>
          <p:cNvPr id="6" name="Text 4"/>
          <p:cNvSpPr txBox="1"/>
          <p:nvPr/>
        </p:nvSpPr>
        <p:spPr>
          <a:xfrm>
            <a:off x="868680" y="4636008"/>
            <a:ext cx="2194560" cy="292608"/>
          </a:xfrm>
          <a:prstGeom prst="rect">
            <a:avLst/>
          </a:prstGeom>
          <a:noFill/>
          <a:ln/>
        </p:spPr>
        <p:txBody>
          <a:bodyPr wrap="square" lIns="0" tIns="0" rIns="0" bIns="0" rtlCol="0" anchor="t"/>
          <a:lstStyle/>
          <a:p>
            <a:pPr indent="0" marL="0">
              <a:buNone/>
            </a:pPr>
            <a:r>
              <a:rPr lang="en-US" sz="1800" b="1" dirty="0">
                <a:solidFill>
                  <a:schemeClr val="bg1"/>
                </a:solidFill>
              </a:rPr>
              <a:t>Pranav Sahoo</a:t>
            </a:r>
            <a:endParaRPr lang="en-US" sz="1800" dirty="0"/>
          </a:p>
        </p:txBody>
      </p:sp>
      <p:sp>
        <p:nvSpPr>
          <p:cNvPr id="7" name="Text 5"/>
          <p:cNvSpPr txBox="1"/>
          <p:nvPr/>
        </p:nvSpPr>
        <p:spPr>
          <a:xfrm>
            <a:off x="868680" y="5029200"/>
            <a:ext cx="2194560" cy="256032"/>
          </a:xfrm>
          <a:prstGeom prst="rect">
            <a:avLst/>
          </a:prstGeom>
          <a:noFill/>
          <a:ln/>
        </p:spPr>
        <p:txBody>
          <a:bodyPr wrap="square" lIns="0" tIns="0" rIns="0" bIns="0" rtlCol="0" anchor="t"/>
          <a:lstStyle/>
          <a:p>
            <a:pPr indent="0" marL="0">
              <a:buNone/>
            </a:pPr>
            <a:r>
              <a:rPr lang="en-US" sz="1400" dirty="0">
                <a:solidFill>
                  <a:schemeClr val="accent6"/>
                </a:solidFill>
              </a:rPr>
              <a:t>1262250194</a:t>
            </a:r>
            <a:endParaRPr lang="en-US" sz="1400" dirty="0"/>
          </a:p>
        </p:txBody>
      </p:sp>
      <p:sp>
        <p:nvSpPr>
          <p:cNvPr id="8" name="Team card Tanushree Bali"/>
          <p:cNvSpPr/>
          <p:nvPr/>
        </p:nvSpPr>
        <p:spPr>
          <a:xfrm>
            <a:off x="3429000" y="4434840"/>
            <a:ext cx="2606040" cy="1097280"/>
          </a:xfrm>
          <a:prstGeom prst="roundRect">
            <a:avLst>
              <a:gd name="adj" fmla="val 10000"/>
            </a:avLst>
          </a:prstGeom>
          <a:solidFill>
            <a:schemeClr val="tx2"/>
          </a:solidFill>
          <a:ln/>
        </p:spPr>
      </p:sp>
      <p:sp>
        <p:nvSpPr>
          <p:cNvPr id="9" name="Text 7"/>
          <p:cNvSpPr txBox="1"/>
          <p:nvPr/>
        </p:nvSpPr>
        <p:spPr>
          <a:xfrm>
            <a:off x="3657600" y="4636008"/>
            <a:ext cx="2194560" cy="292608"/>
          </a:xfrm>
          <a:prstGeom prst="rect">
            <a:avLst/>
          </a:prstGeom>
          <a:noFill/>
          <a:ln/>
        </p:spPr>
        <p:txBody>
          <a:bodyPr wrap="square" lIns="0" tIns="0" rIns="0" bIns="0" rtlCol="0" anchor="t"/>
          <a:lstStyle/>
          <a:p>
            <a:pPr indent="0" marL="0">
              <a:buNone/>
            </a:pPr>
            <a:r>
              <a:rPr lang="en-US" sz="1800" b="1" dirty="0">
                <a:solidFill>
                  <a:schemeClr val="bg1"/>
                </a:solidFill>
              </a:rPr>
              <a:t>Tanushree Bali</a:t>
            </a:r>
            <a:endParaRPr lang="en-US" sz="1800" dirty="0"/>
          </a:p>
        </p:txBody>
      </p:sp>
      <p:sp>
        <p:nvSpPr>
          <p:cNvPr id="10" name="Text 8"/>
          <p:cNvSpPr txBox="1"/>
          <p:nvPr/>
        </p:nvSpPr>
        <p:spPr>
          <a:xfrm>
            <a:off x="3657600" y="5029200"/>
            <a:ext cx="2194560" cy="256032"/>
          </a:xfrm>
          <a:prstGeom prst="rect">
            <a:avLst/>
          </a:prstGeom>
          <a:noFill/>
          <a:ln/>
        </p:spPr>
        <p:txBody>
          <a:bodyPr wrap="square" lIns="0" tIns="0" rIns="0" bIns="0" rtlCol="0" anchor="t"/>
          <a:lstStyle/>
          <a:p>
            <a:pPr indent="0" marL="0">
              <a:buNone/>
            </a:pPr>
            <a:r>
              <a:rPr lang="en-US" sz="1400" dirty="0">
                <a:solidFill>
                  <a:schemeClr val="accent6"/>
                </a:solidFill>
              </a:rPr>
              <a:t>1262251830</a:t>
            </a:r>
            <a:endParaRPr lang="en-US" sz="1400" dirty="0"/>
          </a:p>
        </p:txBody>
      </p:sp>
      <p:sp>
        <p:nvSpPr>
          <p:cNvPr id="11" name="Team card Arun S"/>
          <p:cNvSpPr/>
          <p:nvPr/>
        </p:nvSpPr>
        <p:spPr>
          <a:xfrm>
            <a:off x="6217920" y="4434840"/>
            <a:ext cx="2606040" cy="1097280"/>
          </a:xfrm>
          <a:prstGeom prst="roundRect">
            <a:avLst>
              <a:gd name="adj" fmla="val 10000"/>
            </a:avLst>
          </a:prstGeom>
          <a:solidFill>
            <a:schemeClr val="tx2"/>
          </a:solidFill>
          <a:ln/>
        </p:spPr>
      </p:sp>
      <p:sp>
        <p:nvSpPr>
          <p:cNvPr id="12" name="Text 10"/>
          <p:cNvSpPr txBox="1"/>
          <p:nvPr/>
        </p:nvSpPr>
        <p:spPr>
          <a:xfrm>
            <a:off x="6446520" y="4636008"/>
            <a:ext cx="2194560" cy="292608"/>
          </a:xfrm>
          <a:prstGeom prst="rect">
            <a:avLst/>
          </a:prstGeom>
          <a:noFill/>
          <a:ln/>
        </p:spPr>
        <p:txBody>
          <a:bodyPr wrap="square" lIns="0" tIns="0" rIns="0" bIns="0" rtlCol="0" anchor="t"/>
          <a:lstStyle/>
          <a:p>
            <a:pPr indent="0" marL="0">
              <a:buNone/>
            </a:pPr>
            <a:r>
              <a:rPr lang="en-US" sz="1800" b="1" dirty="0">
                <a:solidFill>
                  <a:schemeClr val="bg1"/>
                </a:solidFill>
              </a:rPr>
              <a:t>Arun S</a:t>
            </a:r>
            <a:endParaRPr lang="en-US" sz="1800" dirty="0"/>
          </a:p>
        </p:txBody>
      </p:sp>
      <p:sp>
        <p:nvSpPr>
          <p:cNvPr id="13" name="Text 11"/>
          <p:cNvSpPr txBox="1"/>
          <p:nvPr/>
        </p:nvSpPr>
        <p:spPr>
          <a:xfrm>
            <a:off x="6446520" y="5029200"/>
            <a:ext cx="2194560" cy="256032"/>
          </a:xfrm>
          <a:prstGeom prst="rect">
            <a:avLst/>
          </a:prstGeom>
          <a:noFill/>
          <a:ln/>
        </p:spPr>
        <p:txBody>
          <a:bodyPr wrap="square" lIns="0" tIns="0" rIns="0" bIns="0" rtlCol="0" anchor="t"/>
          <a:lstStyle/>
          <a:p>
            <a:pPr indent="0" marL="0">
              <a:buNone/>
            </a:pPr>
            <a:r>
              <a:rPr lang="en-US" sz="1400" dirty="0">
                <a:solidFill>
                  <a:schemeClr val="accent6"/>
                </a:solidFill>
              </a:rPr>
              <a:t>1262250907</a:t>
            </a:r>
            <a:endParaRPr lang="en-US" sz="1400" dirty="0"/>
          </a:p>
        </p:txBody>
      </p:sp>
      <p:sp>
        <p:nvSpPr>
          <p:cNvPr id="14" name="Team card Neel Mehta"/>
          <p:cNvSpPr/>
          <p:nvPr/>
        </p:nvSpPr>
        <p:spPr>
          <a:xfrm>
            <a:off x="9006840" y="4434840"/>
            <a:ext cx="2606040" cy="1097280"/>
          </a:xfrm>
          <a:prstGeom prst="roundRect">
            <a:avLst>
              <a:gd name="adj" fmla="val 10000"/>
            </a:avLst>
          </a:prstGeom>
          <a:solidFill>
            <a:schemeClr val="tx2"/>
          </a:solidFill>
          <a:ln/>
        </p:spPr>
      </p:sp>
      <p:sp>
        <p:nvSpPr>
          <p:cNvPr id="15" name="Text 13"/>
          <p:cNvSpPr txBox="1"/>
          <p:nvPr/>
        </p:nvSpPr>
        <p:spPr>
          <a:xfrm>
            <a:off x="9235440" y="4636008"/>
            <a:ext cx="2194560" cy="292608"/>
          </a:xfrm>
          <a:prstGeom prst="rect">
            <a:avLst/>
          </a:prstGeom>
          <a:noFill/>
          <a:ln/>
        </p:spPr>
        <p:txBody>
          <a:bodyPr wrap="square" lIns="0" tIns="0" rIns="0" bIns="0" rtlCol="0" anchor="t"/>
          <a:lstStyle/>
          <a:p>
            <a:pPr indent="0" marL="0">
              <a:buNone/>
            </a:pPr>
            <a:r>
              <a:rPr lang="en-US" sz="1800" b="1" dirty="0">
                <a:solidFill>
                  <a:schemeClr val="bg1"/>
                </a:solidFill>
              </a:rPr>
              <a:t>Neel Mehta</a:t>
            </a:r>
            <a:endParaRPr lang="en-US" sz="1800" dirty="0"/>
          </a:p>
        </p:txBody>
      </p:sp>
      <p:sp>
        <p:nvSpPr>
          <p:cNvPr id="16" name="Text 14"/>
          <p:cNvSpPr txBox="1"/>
          <p:nvPr/>
        </p:nvSpPr>
        <p:spPr>
          <a:xfrm>
            <a:off x="9235440" y="5029200"/>
            <a:ext cx="2194560" cy="256032"/>
          </a:xfrm>
          <a:prstGeom prst="rect">
            <a:avLst/>
          </a:prstGeom>
          <a:noFill/>
          <a:ln/>
        </p:spPr>
        <p:txBody>
          <a:bodyPr wrap="square" lIns="0" tIns="0" rIns="0" bIns="0" rtlCol="0" anchor="t"/>
          <a:lstStyle/>
          <a:p>
            <a:pPr indent="0" marL="0">
              <a:buNone/>
            </a:pPr>
            <a:r>
              <a:rPr lang="en-US" sz="1400" dirty="0">
                <a:solidFill>
                  <a:schemeClr val="accent6"/>
                </a:solidFill>
              </a:rPr>
              <a:t>1262251697</a:t>
            </a:r>
            <a:endParaRPr lang="en-US" sz="1400" dirty="0"/>
          </a:p>
        </p:txBody>
      </p:sp>
    </p:spTree>
  </p:cSld>
  <p:clrMapOvr>
    <a:masterClrMapping/>
  </p:clrMapOvr>
</p:sld>
</file>

<file path=ppt/theme/theme1.xml><?xml version="1.0" encoding="utf-8"?>
<a:theme xmlns:a="http://schemas.openxmlformats.org/drawingml/2006/main" name="Forensic Ink">
  <a:themeElements>
    <a:clrScheme name="Forensic Ink">
      <a:dk1>
        <a:srgbClr val="0B1320"/>
      </a:dk1>
      <a:lt1>
        <a:srgbClr val="FFFFFF"/>
      </a:lt1>
      <a:dk2>
        <a:srgbClr val="1B2A41"/>
      </a:dk2>
      <a:lt2>
        <a:srgbClr val="F2F5F9"/>
      </a:lt2>
      <a:accent1>
        <a:srgbClr val="2DD4BF"/>
      </a:accent1>
      <a:accent2>
        <a:srgbClr val="F5A524"/>
      </a:accent2>
      <a:accent3>
        <a:srgbClr val="E5484D"/>
      </a:accent3>
      <a:accent4>
        <a:srgbClr val="3FB97C"/>
      </a:accent4>
      <a:accent5>
        <a:srgbClr val="5B6B82"/>
      </a:accent5>
      <a:accent6>
        <a:srgbClr val="8FA6C4"/>
      </a:accent6>
      <a:hlink>
        <a:srgbClr val="2DD4BF"/>
      </a:hlink>
      <a:folHlink>
        <a:srgbClr val="8FA6C4"/>
      </a:folHlink>
    </a:clrScheme>
    <a:fontScheme name="Forensic In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Cyber-Forensic Integrity Suite</dc:title>
  <dc:subject>C++ Object-Oriented Programming Project</dc:subject>
  <dc:creator>Pranav Sahoo, Tanushree Bali, Arun S, Neel Mehta</dc:creator>
  <cp:lastModifiedBy>Pranav Sahoo, Tanushree Bali, Arun S, Neel Mehta</cp:lastModifiedBy>
  <cp:revision>1</cp:revision>
  <dcterms:created xsi:type="dcterms:W3CDTF">2026-10-23T02:55:02Z</dcterms:created>
  <dcterms:modified xsi:type="dcterms:W3CDTF">2026-10-23T02:55:02Z</dcterms:modified>
</cp:coreProperties>
</file>